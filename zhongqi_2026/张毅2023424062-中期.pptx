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vsdx" ContentType="application/vnd.ms-visio.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2.xml" ContentType="application/vnd.openxmlformats-officedocument.presentationml.tags+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bookmarkIdSeed="15">
  <p:sldMasterIdLst>
    <p:sldMasterId id="2147483648" r:id="rId1"/>
    <p:sldMasterId id="2147483660" r:id="rId2"/>
  </p:sldMasterIdLst>
  <p:notesMasterIdLst>
    <p:notesMasterId r:id="rId26"/>
  </p:notesMasterIdLst>
  <p:sldIdLst>
    <p:sldId id="260" r:id="rId3"/>
    <p:sldId id="257" r:id="rId4"/>
    <p:sldId id="294" r:id="rId5"/>
    <p:sldId id="389" r:id="rId6"/>
    <p:sldId id="421" r:id="rId7"/>
    <p:sldId id="422" r:id="rId8"/>
    <p:sldId id="293" r:id="rId9"/>
    <p:sldId id="431" r:id="rId10"/>
    <p:sldId id="432" r:id="rId11"/>
    <p:sldId id="292" r:id="rId12"/>
    <p:sldId id="433" r:id="rId13"/>
    <p:sldId id="435" r:id="rId14"/>
    <p:sldId id="291" r:id="rId15"/>
    <p:sldId id="436" r:id="rId16"/>
    <p:sldId id="437" r:id="rId17"/>
    <p:sldId id="438" r:id="rId18"/>
    <p:sldId id="439" r:id="rId19"/>
    <p:sldId id="430" r:id="rId20"/>
    <p:sldId id="388" r:id="rId21"/>
    <p:sldId id="416" r:id="rId22"/>
    <p:sldId id="418" r:id="rId23"/>
    <p:sldId id="419" r:id="rId24"/>
    <p:sldId id="288" r:id="rId25"/>
  </p:sldIdLst>
  <p:sldSz cx="12192000" cy="6858000"/>
  <p:notesSz cx="6858000" cy="9144000"/>
  <p:embeddedFontLst>
    <p:embeddedFont>
      <p:font typeface="楷体" panose="02010609060101010101" pitchFamily="49" charset="-122"/>
      <p:regular r:id="rId27"/>
    </p:embeddedFont>
    <p:embeddedFont>
      <p:font typeface="微软雅黑" panose="020B0503020204020204" pitchFamily="34" charset="-122"/>
      <p:regular r:id="rId28"/>
      <p:bold r:id="rId29"/>
    </p:embeddedFont>
  </p:embeddedFontLst>
  <p:custDataLst>
    <p:tags r:id="rId30"/>
  </p:custDataLst>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70" userDrawn="1">
          <p15:clr>
            <a:srgbClr val="A4A3A4"/>
          </p15:clr>
        </p15:guide>
        <p15:guide id="2" orient="horz" pos="2469" userDrawn="1">
          <p15:clr>
            <a:srgbClr val="A4A3A4"/>
          </p15:clr>
        </p15:guide>
        <p15:guide id="3" orient="horz" pos="3228" userDrawn="1">
          <p15:clr>
            <a:srgbClr val="A4A3A4"/>
          </p15:clr>
        </p15:guide>
        <p15:guide id="4" pos="6943" userDrawn="1">
          <p15:clr>
            <a:srgbClr val="A4A3A4"/>
          </p15:clr>
        </p15:guide>
        <p15:guide id="5" pos="195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hang yi" initials="zy" lastIdx="1" clrIdx="0"/>
  <p:cmAuthor id="2" name="毅 张" initials="毅"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B7B"/>
    <a:srgbClr val="0A2B7C"/>
    <a:srgbClr val="0D2971"/>
    <a:srgbClr val="062C82"/>
    <a:srgbClr val="0B2B78"/>
    <a:srgbClr val="666666"/>
    <a:srgbClr val="0A377B"/>
    <a:srgbClr val="0C2A73"/>
    <a:srgbClr val="0C2A75"/>
    <a:srgbClr val="92D1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76" autoAdjust="0"/>
    <p:restoredTop sz="95664" autoAdjust="0"/>
  </p:normalViewPr>
  <p:slideViewPr>
    <p:cSldViewPr snapToGrid="0" showGuides="1">
      <p:cViewPr>
        <p:scale>
          <a:sx n="75" d="100"/>
          <a:sy n="75" d="100"/>
        </p:scale>
        <p:origin x="1316" y="504"/>
      </p:cViewPr>
      <p:guideLst>
        <p:guide orient="horz" pos="270"/>
        <p:guide orient="horz" pos="2469"/>
        <p:guide orient="horz" pos="3228"/>
        <p:guide pos="6943"/>
        <p:guide pos="1952"/>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毅" userId="539964a5-df36-45b0-8f08-3354a4827624" providerId="ADAL" clId="{902B4148-96EF-4A5E-9C3D-A74608945E98}"/>
    <pc:docChg chg="undo custSel addSld delSld modSld sldOrd">
      <pc:chgData name="张毅" userId="539964a5-df36-45b0-8f08-3354a4827624" providerId="ADAL" clId="{902B4148-96EF-4A5E-9C3D-A74608945E98}" dt="2024-10-06T10:21:17.492" v="106" actId="2711"/>
      <pc:docMkLst>
        <pc:docMk/>
      </pc:docMkLst>
      <pc:sldChg chg="addSp delSp modSp add mod setBg modNotes">
        <pc:chgData name="张毅" userId="539964a5-df36-45b0-8f08-3354a4827624" providerId="ADAL" clId="{902B4148-96EF-4A5E-9C3D-A74608945E98}" dt="2024-10-06T10:18:12.735" v="72" actId="478"/>
        <pc:sldMkLst>
          <pc:docMk/>
          <pc:sldMk cId="0" sldId="257"/>
        </pc:sldMkLst>
      </pc:sldChg>
      <pc:sldChg chg="modSp mod">
        <pc:chgData name="张毅" userId="539964a5-df36-45b0-8f08-3354a4827624" providerId="ADAL" clId="{902B4148-96EF-4A5E-9C3D-A74608945E98}" dt="2024-10-06T10:09:25.573" v="14" actId="1076"/>
        <pc:sldMkLst>
          <pc:docMk/>
          <pc:sldMk cId="0" sldId="260"/>
        </pc:sldMkLst>
      </pc:sldChg>
      <pc:sldChg chg="addSp delSp modSp mod">
        <pc:chgData name="张毅" userId="539964a5-df36-45b0-8f08-3354a4827624" providerId="ADAL" clId="{902B4148-96EF-4A5E-9C3D-A74608945E98}" dt="2024-10-06T10:10:04.642" v="21" actId="1076"/>
        <pc:sldMkLst>
          <pc:docMk/>
          <pc:sldMk cId="0" sldId="288"/>
        </pc:sldMkLst>
      </pc:sldChg>
      <pc:sldChg chg="addSp modSp">
        <pc:chgData name="张毅" userId="539964a5-df36-45b0-8f08-3354a4827624" providerId="ADAL" clId="{902B4148-96EF-4A5E-9C3D-A74608945E98}" dt="2024-10-06T10:15:35.491" v="38"/>
        <pc:sldMkLst>
          <pc:docMk/>
          <pc:sldMk cId="0" sldId="294"/>
        </pc:sldMkLst>
      </pc:sldChg>
      <pc:sldChg chg="addSp modSp del">
        <pc:chgData name="张毅" userId="539964a5-df36-45b0-8f08-3354a4827624" providerId="ADAL" clId="{902B4148-96EF-4A5E-9C3D-A74608945E98}" dt="2024-10-06T10:16:00.974" v="42" actId="47"/>
        <pc:sldMkLst>
          <pc:docMk/>
          <pc:sldMk cId="0" sldId="358"/>
        </pc:sldMkLst>
      </pc:sldChg>
      <pc:sldChg chg="ord">
        <pc:chgData name="张毅" userId="539964a5-df36-45b0-8f08-3354a4827624" providerId="ADAL" clId="{902B4148-96EF-4A5E-9C3D-A74608945E98}" dt="2024-10-06T10:19:09.663" v="81"/>
        <pc:sldMkLst>
          <pc:docMk/>
          <pc:sldMk cId="0" sldId="386"/>
        </pc:sldMkLst>
      </pc:sldChg>
      <pc:sldChg chg="delSp new del mod modClrScheme chgLayout">
        <pc:chgData name="张毅" userId="539964a5-df36-45b0-8f08-3354a4827624" providerId="ADAL" clId="{902B4148-96EF-4A5E-9C3D-A74608945E98}" dt="2024-10-06T10:14:58.713" v="27" actId="47"/>
        <pc:sldMkLst>
          <pc:docMk/>
          <pc:sldMk cId="2986209520" sldId="415"/>
        </pc:sldMkLst>
      </pc:sldChg>
      <pc:sldChg chg="addSp delSp modSp add del mod setBg">
        <pc:chgData name="张毅" userId="539964a5-df36-45b0-8f08-3354a4827624" providerId="ADAL" clId="{902B4148-96EF-4A5E-9C3D-A74608945E98}" dt="2024-10-06T10:15:34.385" v="37" actId="47"/>
        <pc:sldMkLst>
          <pc:docMk/>
          <pc:sldMk cId="4272449342" sldId="415"/>
        </pc:sldMkLst>
      </pc:sldChg>
      <pc:sldChg chg="add">
        <pc:chgData name="张毅" userId="539964a5-df36-45b0-8f08-3354a4827624" providerId="ADAL" clId="{902B4148-96EF-4A5E-9C3D-A74608945E98}" dt="2024-10-06T10:18:50.915" v="73"/>
        <pc:sldMkLst>
          <pc:docMk/>
          <pc:sldMk cId="4274048392" sldId="415"/>
        </pc:sldMkLst>
      </pc:sldChg>
      <pc:sldChg chg="add ord">
        <pc:chgData name="张毅" userId="539964a5-df36-45b0-8f08-3354a4827624" providerId="ADAL" clId="{902B4148-96EF-4A5E-9C3D-A74608945E98}" dt="2024-10-06T10:18:59.036" v="76"/>
        <pc:sldMkLst>
          <pc:docMk/>
          <pc:sldMk cId="4206428679" sldId="416"/>
        </pc:sldMkLst>
      </pc:sldChg>
      <pc:sldChg chg="delSp modSp new del mod ord modClrScheme chgLayout">
        <pc:chgData name="张毅" userId="539964a5-df36-45b0-8f08-3354a4827624" providerId="ADAL" clId="{902B4148-96EF-4A5E-9C3D-A74608945E98}" dt="2024-10-06T10:20:44.758" v="100" actId="47"/>
        <pc:sldMkLst>
          <pc:docMk/>
          <pc:sldMk cId="1922159430" sldId="417"/>
        </pc:sldMkLst>
      </pc:sldChg>
      <pc:sldChg chg="new del">
        <pc:chgData name="张毅" userId="539964a5-df36-45b0-8f08-3354a4827624" providerId="ADAL" clId="{902B4148-96EF-4A5E-9C3D-A74608945E98}" dt="2024-10-06T10:19:13.916" v="83" actId="680"/>
        <pc:sldMkLst>
          <pc:docMk/>
          <pc:sldMk cId="3651619159" sldId="418"/>
        </pc:sldMkLst>
      </pc:sldChg>
      <pc:sldChg chg="modSp add mod ord">
        <pc:chgData name="张毅" userId="539964a5-df36-45b0-8f08-3354a4827624" providerId="ADAL" clId="{902B4148-96EF-4A5E-9C3D-A74608945E98}" dt="2024-10-06T10:19:46.694" v="93" actId="1076"/>
        <pc:sldMkLst>
          <pc:docMk/>
          <pc:sldMk cId="3992255507" sldId="418"/>
        </pc:sldMkLst>
      </pc:sldChg>
      <pc:sldChg chg="addSp delSp modSp add mod ord">
        <pc:chgData name="张毅" userId="539964a5-df36-45b0-8f08-3354a4827624" providerId="ADAL" clId="{902B4148-96EF-4A5E-9C3D-A74608945E98}" dt="2024-10-06T10:21:17.492" v="106" actId="2711"/>
        <pc:sldMkLst>
          <pc:docMk/>
          <pc:sldMk cId="1172850378" sldId="419"/>
        </pc:sldMkLst>
      </pc:sldChg>
    </pc:docChg>
  </pc:docChgLst>
  <pc:docChgLst>
    <pc:chgData name="毅 张" userId="be8211fc-84c4-45de-9048-aad7380c219f" providerId="ADAL" clId="{964A2025-C917-4A0A-B633-8664B1B42571}"/>
    <pc:docChg chg="undo redo custSel delSld modSld">
      <pc:chgData name="毅 张" userId="be8211fc-84c4-45de-9048-aad7380c219f" providerId="ADAL" clId="{964A2025-C917-4A0A-B633-8664B1B42571}" dt="2024-05-17T02:57:10.070" v="428" actId="1076"/>
      <pc:docMkLst>
        <pc:docMk/>
      </pc:docMkLst>
      <pc:sldChg chg="modSp mod">
        <pc:chgData name="毅 张" userId="be8211fc-84c4-45de-9048-aad7380c219f" providerId="ADAL" clId="{964A2025-C917-4A0A-B633-8664B1B42571}" dt="2024-05-17T02:19:46.200" v="64" actId="207"/>
        <pc:sldMkLst>
          <pc:docMk/>
          <pc:sldMk cId="0" sldId="379"/>
        </pc:sldMkLst>
      </pc:sldChg>
      <pc:sldChg chg="modSp mod">
        <pc:chgData name="毅 张" userId="be8211fc-84c4-45de-9048-aad7380c219f" providerId="ADAL" clId="{964A2025-C917-4A0A-B633-8664B1B42571}" dt="2024-05-17T02:52:47.125" v="326" actId="14100"/>
        <pc:sldMkLst>
          <pc:docMk/>
          <pc:sldMk cId="0" sldId="380"/>
        </pc:sldMkLst>
      </pc:sldChg>
      <pc:sldChg chg="addSp delSp modSp mod">
        <pc:chgData name="毅 张" userId="be8211fc-84c4-45de-9048-aad7380c219f" providerId="ADAL" clId="{964A2025-C917-4A0A-B633-8664B1B42571}" dt="2024-05-17T02:53:46.870" v="347" actId="1076"/>
        <pc:sldMkLst>
          <pc:docMk/>
          <pc:sldMk cId="0" sldId="382"/>
        </pc:sldMkLst>
      </pc:sldChg>
      <pc:sldChg chg="addSp modSp mod">
        <pc:chgData name="毅 张" userId="be8211fc-84c4-45de-9048-aad7380c219f" providerId="ADAL" clId="{964A2025-C917-4A0A-B633-8664B1B42571}" dt="2024-05-17T02:57:10.070" v="428" actId="1076"/>
        <pc:sldMkLst>
          <pc:docMk/>
          <pc:sldMk cId="0" sldId="386"/>
        </pc:sldMkLst>
      </pc:sldChg>
      <pc:sldChg chg="del">
        <pc:chgData name="毅 张" userId="be8211fc-84c4-45de-9048-aad7380c219f" providerId="ADAL" clId="{964A2025-C917-4A0A-B633-8664B1B42571}" dt="2024-05-17T02:54:35.588" v="363" actId="47"/>
        <pc:sldMkLst>
          <pc:docMk/>
          <pc:sldMk cId="0" sldId="387"/>
        </pc:sldMkLst>
      </pc:sldChg>
      <pc:sldChg chg="modSp mod">
        <pc:chgData name="毅 张" userId="be8211fc-84c4-45de-9048-aad7380c219f" providerId="ADAL" clId="{964A2025-C917-4A0A-B633-8664B1B42571}" dt="2024-05-17T02:21:55.821" v="73" actId="1076"/>
        <pc:sldMkLst>
          <pc:docMk/>
          <pc:sldMk cId="0" sldId="392"/>
        </pc:sldMkLst>
      </pc:sldChg>
      <pc:sldChg chg="modSp mod">
        <pc:chgData name="毅 张" userId="be8211fc-84c4-45de-9048-aad7380c219f" providerId="ADAL" clId="{964A2025-C917-4A0A-B633-8664B1B42571}" dt="2024-05-17T02:30:12.626" v="140" actId="108"/>
        <pc:sldMkLst>
          <pc:docMk/>
          <pc:sldMk cId="0" sldId="408"/>
        </pc:sldMkLst>
      </pc:sldChg>
      <pc:sldChg chg="modSp mod">
        <pc:chgData name="毅 张" userId="be8211fc-84c4-45de-9048-aad7380c219f" providerId="ADAL" clId="{964A2025-C917-4A0A-B633-8664B1B42571}" dt="2024-05-17T02:33:30.861" v="181" actId="108"/>
        <pc:sldMkLst>
          <pc:docMk/>
          <pc:sldMk cId="0" sldId="412"/>
        </pc:sldMkLst>
      </pc:sldChg>
      <pc:sldChg chg="modSp mod">
        <pc:chgData name="毅 张" userId="be8211fc-84c4-45de-9048-aad7380c219f" providerId="ADAL" clId="{964A2025-C917-4A0A-B633-8664B1B42571}" dt="2024-05-17T02:43:39.992" v="227" actId="108"/>
        <pc:sldMkLst>
          <pc:docMk/>
          <pc:sldMk cId="0" sldId="413"/>
        </pc:sldMkLst>
      </pc:sldChg>
      <pc:sldChg chg="modSp mod">
        <pc:chgData name="毅 张" userId="be8211fc-84c4-45de-9048-aad7380c219f" providerId="ADAL" clId="{964A2025-C917-4A0A-B633-8664B1B42571}" dt="2024-05-17T02:47:05.507" v="283" actId="108"/>
        <pc:sldMkLst>
          <pc:docMk/>
          <pc:sldMk cId="0" sldId="414"/>
        </pc:sldMkLst>
      </pc:sldChg>
    </pc:docChg>
  </pc:docChgLst>
  <pc:docChgLst>
    <pc:chgData name="张毅" userId="be8211fc-84c4-45de-9048-aad7380c219f" providerId="ADAL" clId="{F8AF9390-4132-45DA-A7F1-3ABFE3880586}"/>
    <pc:docChg chg="undo redo custSel addSld delSld modSld sldOrd modMainMaster">
      <pc:chgData name="张毅" userId="be8211fc-84c4-45de-9048-aad7380c219f" providerId="ADAL" clId="{F8AF9390-4132-45DA-A7F1-3ABFE3880586}" dt="2024-10-14T12:20:45.476" v="1637" actId="20577"/>
      <pc:docMkLst>
        <pc:docMk/>
      </pc:docMkLst>
      <pc:sldChg chg="modSp mod modNotesTx">
        <pc:chgData name="张毅" userId="be8211fc-84c4-45de-9048-aad7380c219f" providerId="ADAL" clId="{F8AF9390-4132-45DA-A7F1-3ABFE3880586}" dt="2024-10-13T13:23:30.713" v="1325" actId="20577"/>
        <pc:sldMkLst>
          <pc:docMk/>
          <pc:sldMk cId="0" sldId="257"/>
        </pc:sldMkLst>
      </pc:sldChg>
      <pc:sldChg chg="modSp mod modNotesTx">
        <pc:chgData name="张毅" userId="be8211fc-84c4-45de-9048-aad7380c219f" providerId="ADAL" clId="{F8AF9390-4132-45DA-A7F1-3ABFE3880586}" dt="2024-10-13T13:23:11.720" v="1309" actId="20577"/>
        <pc:sldMkLst>
          <pc:docMk/>
          <pc:sldMk cId="0" sldId="260"/>
        </pc:sldMkLst>
      </pc:sldChg>
      <pc:sldChg chg="delSp modSp add del mod modTransition modClrScheme chgLayout">
        <pc:chgData name="张毅" userId="be8211fc-84c4-45de-9048-aad7380c219f" providerId="ADAL" clId="{F8AF9390-4132-45DA-A7F1-3ABFE3880586}" dt="2024-10-12T13:40:16.522" v="668" actId="47"/>
        <pc:sldMkLst>
          <pc:docMk/>
          <pc:sldMk cId="911598386" sldId="261"/>
        </pc:sldMkLst>
      </pc:sldChg>
      <pc:sldChg chg="add del modTransition">
        <pc:chgData name="张毅" userId="be8211fc-84c4-45de-9048-aad7380c219f" providerId="ADAL" clId="{F8AF9390-4132-45DA-A7F1-3ABFE3880586}" dt="2024-10-12T14:42:59.663" v="1047"/>
        <pc:sldMkLst>
          <pc:docMk/>
          <pc:sldMk cId="4099270291" sldId="283"/>
        </pc:sldMkLst>
      </pc:sldChg>
      <pc:sldChg chg="addSp modSp mod">
        <pc:chgData name="张毅" userId="be8211fc-84c4-45de-9048-aad7380c219f" providerId="ADAL" clId="{F8AF9390-4132-45DA-A7F1-3ABFE3880586}" dt="2024-10-12T10:32:12.654" v="550" actId="2711"/>
        <pc:sldMkLst>
          <pc:docMk/>
          <pc:sldMk cId="0" sldId="288"/>
        </pc:sldMkLst>
      </pc:sldChg>
      <pc:sldChg chg="addSp delSp modSp mod">
        <pc:chgData name="张毅" userId="be8211fc-84c4-45de-9048-aad7380c219f" providerId="ADAL" clId="{F8AF9390-4132-45DA-A7F1-3ABFE3880586}" dt="2024-10-12T08:21:48.857" v="395" actId="478"/>
        <pc:sldMkLst>
          <pc:docMk/>
          <pc:sldMk cId="0" sldId="291"/>
        </pc:sldMkLst>
      </pc:sldChg>
      <pc:sldChg chg="addSp delSp modSp mod">
        <pc:chgData name="张毅" userId="be8211fc-84c4-45de-9048-aad7380c219f" providerId="ADAL" clId="{F8AF9390-4132-45DA-A7F1-3ABFE3880586}" dt="2024-10-12T08:21:46.361" v="394" actId="478"/>
        <pc:sldMkLst>
          <pc:docMk/>
          <pc:sldMk cId="0" sldId="292"/>
        </pc:sldMkLst>
      </pc:sldChg>
      <pc:sldChg chg="addSp delSp modSp mod">
        <pc:chgData name="张毅" userId="be8211fc-84c4-45de-9048-aad7380c219f" providerId="ADAL" clId="{F8AF9390-4132-45DA-A7F1-3ABFE3880586}" dt="2024-10-12T08:21:39.409" v="393" actId="478"/>
        <pc:sldMkLst>
          <pc:docMk/>
          <pc:sldMk cId="0" sldId="293"/>
        </pc:sldMkLst>
      </pc:sldChg>
      <pc:sldChg chg="addSp delSp modSp mod modNotesTx">
        <pc:chgData name="张毅" userId="be8211fc-84c4-45de-9048-aad7380c219f" providerId="ADAL" clId="{F8AF9390-4132-45DA-A7F1-3ABFE3880586}" dt="2024-10-14T08:53:42.794" v="1633" actId="1076"/>
        <pc:sldMkLst>
          <pc:docMk/>
          <pc:sldMk cId="0" sldId="294"/>
        </pc:sldMkLst>
      </pc:sldChg>
      <pc:sldChg chg="delSp add del mod modTransition">
        <pc:chgData name="张毅" userId="be8211fc-84c4-45de-9048-aad7380c219f" providerId="ADAL" clId="{F8AF9390-4132-45DA-A7F1-3ABFE3880586}" dt="2024-10-12T13:23:46.429" v="561" actId="47"/>
        <pc:sldMkLst>
          <pc:docMk/>
          <pc:sldMk cId="3240047404" sldId="295"/>
        </pc:sldMkLst>
      </pc:sldChg>
      <pc:sldChg chg="del">
        <pc:chgData name="张毅" userId="be8211fc-84c4-45de-9048-aad7380c219f" providerId="ADAL" clId="{F8AF9390-4132-45DA-A7F1-3ABFE3880586}" dt="2024-10-12T14:38:26.112" v="957" actId="47"/>
        <pc:sldMkLst>
          <pc:docMk/>
          <pc:sldMk cId="0" sldId="379"/>
        </pc:sldMkLst>
      </pc:sldChg>
      <pc:sldChg chg="del">
        <pc:chgData name="张毅" userId="be8211fc-84c4-45de-9048-aad7380c219f" providerId="ADAL" clId="{F8AF9390-4132-45DA-A7F1-3ABFE3880586}" dt="2024-10-12T14:39:06.254" v="969" actId="47"/>
        <pc:sldMkLst>
          <pc:docMk/>
          <pc:sldMk cId="0" sldId="380"/>
        </pc:sldMkLst>
      </pc:sldChg>
      <pc:sldChg chg="add del">
        <pc:chgData name="张毅" userId="be8211fc-84c4-45de-9048-aad7380c219f" providerId="ADAL" clId="{F8AF9390-4132-45DA-A7F1-3ABFE3880586}" dt="2024-10-12T14:39:38.045" v="975" actId="47"/>
        <pc:sldMkLst>
          <pc:docMk/>
          <pc:sldMk cId="0" sldId="382"/>
        </pc:sldMkLst>
      </pc:sldChg>
      <pc:sldChg chg="del">
        <pc:chgData name="张毅" userId="be8211fc-84c4-45de-9048-aad7380c219f" providerId="ADAL" clId="{F8AF9390-4132-45DA-A7F1-3ABFE3880586}" dt="2024-10-12T08:15:51.295" v="353" actId="47"/>
        <pc:sldMkLst>
          <pc:docMk/>
          <pc:sldMk cId="0" sldId="386"/>
        </pc:sldMkLst>
      </pc:sldChg>
      <pc:sldChg chg="addSp delSp modSp mod">
        <pc:chgData name="张毅" userId="be8211fc-84c4-45de-9048-aad7380c219f" providerId="ADAL" clId="{F8AF9390-4132-45DA-A7F1-3ABFE3880586}" dt="2024-10-12T08:26:18.062" v="429" actId="1076"/>
        <pc:sldMkLst>
          <pc:docMk/>
          <pc:sldMk cId="0" sldId="388"/>
        </pc:sldMkLst>
      </pc:sldChg>
      <pc:sldChg chg="addSp delSp modSp mod modNotesTx">
        <pc:chgData name="张毅" userId="be8211fc-84c4-45de-9048-aad7380c219f" providerId="ADAL" clId="{F8AF9390-4132-45DA-A7F1-3ABFE3880586}" dt="2024-10-14T08:53:52.432" v="1635" actId="1076"/>
        <pc:sldMkLst>
          <pc:docMk/>
          <pc:sldMk cId="0" sldId="389"/>
        </pc:sldMkLst>
      </pc:sldChg>
      <pc:sldChg chg="addSp delSp modSp add del mod">
        <pc:chgData name="张毅" userId="be8211fc-84c4-45de-9048-aad7380c219f" providerId="ADAL" clId="{F8AF9390-4132-45DA-A7F1-3ABFE3880586}" dt="2024-10-12T13:54:08.640" v="776" actId="47"/>
        <pc:sldMkLst>
          <pc:docMk/>
          <pc:sldMk cId="0" sldId="390"/>
        </pc:sldMkLst>
      </pc:sldChg>
      <pc:sldChg chg="del">
        <pc:chgData name="张毅" userId="be8211fc-84c4-45de-9048-aad7380c219f" providerId="ADAL" clId="{F8AF9390-4132-45DA-A7F1-3ABFE3880586}" dt="2024-10-12T13:54:07.743" v="775" actId="47"/>
        <pc:sldMkLst>
          <pc:docMk/>
          <pc:sldMk cId="0" sldId="391"/>
        </pc:sldMkLst>
      </pc:sldChg>
      <pc:sldChg chg="del">
        <pc:chgData name="张毅" userId="be8211fc-84c4-45de-9048-aad7380c219f" providerId="ADAL" clId="{F8AF9390-4132-45DA-A7F1-3ABFE3880586}" dt="2024-10-12T14:38:26.650" v="958" actId="47"/>
        <pc:sldMkLst>
          <pc:docMk/>
          <pc:sldMk cId="0" sldId="392"/>
        </pc:sldMkLst>
      </pc:sldChg>
      <pc:sldChg chg="del">
        <pc:chgData name="张毅" userId="be8211fc-84c4-45de-9048-aad7380c219f" providerId="ADAL" clId="{F8AF9390-4132-45DA-A7F1-3ABFE3880586}" dt="2024-10-12T14:38:27.201" v="959" actId="47"/>
        <pc:sldMkLst>
          <pc:docMk/>
          <pc:sldMk cId="0" sldId="408"/>
        </pc:sldMkLst>
      </pc:sldChg>
      <pc:sldChg chg="del">
        <pc:chgData name="张毅" userId="be8211fc-84c4-45de-9048-aad7380c219f" providerId="ADAL" clId="{F8AF9390-4132-45DA-A7F1-3ABFE3880586}" dt="2024-10-12T14:38:27.769" v="960" actId="47"/>
        <pc:sldMkLst>
          <pc:docMk/>
          <pc:sldMk cId="0" sldId="412"/>
        </pc:sldMkLst>
      </pc:sldChg>
      <pc:sldChg chg="del">
        <pc:chgData name="张毅" userId="be8211fc-84c4-45de-9048-aad7380c219f" providerId="ADAL" clId="{F8AF9390-4132-45DA-A7F1-3ABFE3880586}" dt="2024-10-12T14:38:28.375" v="961" actId="47"/>
        <pc:sldMkLst>
          <pc:docMk/>
          <pc:sldMk cId="0" sldId="413"/>
        </pc:sldMkLst>
      </pc:sldChg>
      <pc:sldChg chg="del">
        <pc:chgData name="张毅" userId="be8211fc-84c4-45de-9048-aad7380c219f" providerId="ADAL" clId="{F8AF9390-4132-45DA-A7F1-3ABFE3880586}" dt="2024-10-12T14:38:30.487" v="963" actId="47"/>
        <pc:sldMkLst>
          <pc:docMk/>
          <pc:sldMk cId="0" sldId="414"/>
        </pc:sldMkLst>
      </pc:sldChg>
      <pc:sldChg chg="addSp delSp modSp del mod">
        <pc:chgData name="张毅" userId="be8211fc-84c4-45de-9048-aad7380c219f" providerId="ADAL" clId="{F8AF9390-4132-45DA-A7F1-3ABFE3880586}" dt="2024-10-12T08:15:50.218" v="352" actId="47"/>
        <pc:sldMkLst>
          <pc:docMk/>
          <pc:sldMk cId="4274048392" sldId="415"/>
        </pc:sldMkLst>
      </pc:sldChg>
      <pc:sldChg chg="addSp delSp modSp add del mod modClrScheme chgLayout modNotesTx">
        <pc:chgData name="张毅" userId="be8211fc-84c4-45de-9048-aad7380c219f" providerId="ADAL" clId="{F8AF9390-4132-45DA-A7F1-3ABFE3880586}" dt="2024-10-14T12:20:45.476" v="1637" actId="20577"/>
        <pc:sldMkLst>
          <pc:docMk/>
          <pc:sldMk cId="4206428679" sldId="416"/>
        </pc:sldMkLst>
      </pc:sldChg>
      <pc:sldChg chg="delSp modSp mod">
        <pc:chgData name="张毅" userId="be8211fc-84c4-45de-9048-aad7380c219f" providerId="ADAL" clId="{F8AF9390-4132-45DA-A7F1-3ABFE3880586}" dt="2024-10-12T08:21:53.633" v="397" actId="478"/>
        <pc:sldMkLst>
          <pc:docMk/>
          <pc:sldMk cId="3992255507" sldId="418"/>
        </pc:sldMkLst>
      </pc:sldChg>
      <pc:sldChg chg="addSp delSp modSp mod modClrScheme chgLayout">
        <pc:chgData name="张毅" userId="be8211fc-84c4-45de-9048-aad7380c219f" providerId="ADAL" clId="{F8AF9390-4132-45DA-A7F1-3ABFE3880586}" dt="2024-10-12T14:53:23.699" v="1201" actId="948"/>
        <pc:sldMkLst>
          <pc:docMk/>
          <pc:sldMk cId="1172850378" sldId="419"/>
        </pc:sldMkLst>
      </pc:sldChg>
      <pc:sldChg chg="addSp modSp new del mod">
        <pc:chgData name="张毅" userId="be8211fc-84c4-45de-9048-aad7380c219f" providerId="ADAL" clId="{F8AF9390-4132-45DA-A7F1-3ABFE3880586}" dt="2024-10-12T14:50:32.715" v="1154" actId="47"/>
        <pc:sldMkLst>
          <pc:docMk/>
          <pc:sldMk cId="3915195759" sldId="420"/>
        </pc:sldMkLst>
      </pc:sldChg>
      <pc:sldChg chg="addSp delSp modSp new mod ord modNotesTx">
        <pc:chgData name="张毅" userId="be8211fc-84c4-45de-9048-aad7380c219f" providerId="ADAL" clId="{F8AF9390-4132-45DA-A7F1-3ABFE3880586}" dt="2024-10-13T13:27:13.593" v="1353" actId="20577"/>
        <pc:sldMkLst>
          <pc:docMk/>
          <pc:sldMk cId="2697568164" sldId="421"/>
        </pc:sldMkLst>
      </pc:sldChg>
      <pc:sldChg chg="addSp delSp modSp new mod modAnim modNotesTx">
        <pc:chgData name="张毅" userId="be8211fc-84c4-45de-9048-aad7380c219f" providerId="ADAL" clId="{F8AF9390-4132-45DA-A7F1-3ABFE3880586}" dt="2024-10-14T08:30:42.846" v="1610" actId="113"/>
        <pc:sldMkLst>
          <pc:docMk/>
          <pc:sldMk cId="3697287723" sldId="422"/>
        </pc:sldMkLst>
      </pc:sldChg>
      <pc:sldChg chg="addSp modSp new">
        <pc:chgData name="张毅" userId="be8211fc-84c4-45de-9048-aad7380c219f" providerId="ADAL" clId="{F8AF9390-4132-45DA-A7F1-3ABFE3880586}" dt="2024-10-12T14:38:37.854" v="964"/>
        <pc:sldMkLst>
          <pc:docMk/>
          <pc:sldMk cId="79449365" sldId="423"/>
        </pc:sldMkLst>
      </pc:sldChg>
      <pc:sldChg chg="addSp modSp new">
        <pc:chgData name="张毅" userId="be8211fc-84c4-45de-9048-aad7380c219f" providerId="ADAL" clId="{F8AF9390-4132-45DA-A7F1-3ABFE3880586}" dt="2024-10-12T14:38:49.673" v="967"/>
        <pc:sldMkLst>
          <pc:docMk/>
          <pc:sldMk cId="2575366981" sldId="424"/>
        </pc:sldMkLst>
      </pc:sldChg>
      <pc:sldChg chg="addSp modSp new mod">
        <pc:chgData name="张毅" userId="be8211fc-84c4-45de-9048-aad7380c219f" providerId="ADAL" clId="{F8AF9390-4132-45DA-A7F1-3ABFE3880586}" dt="2024-10-12T14:39:18.149" v="971"/>
        <pc:sldMkLst>
          <pc:docMk/>
          <pc:sldMk cId="3710972526" sldId="425"/>
        </pc:sldMkLst>
      </pc:sldChg>
      <pc:sldChg chg="addSp delSp modSp new mod">
        <pc:chgData name="张毅" userId="be8211fc-84c4-45de-9048-aad7380c219f" providerId="ADAL" clId="{F8AF9390-4132-45DA-A7F1-3ABFE3880586}" dt="2024-10-12T14:40:42.477" v="993" actId="1076"/>
        <pc:sldMkLst>
          <pc:docMk/>
          <pc:sldMk cId="1987890813" sldId="426"/>
        </pc:sldMkLst>
      </pc:sldChg>
      <pc:sldChg chg="addSp delSp modSp new mod">
        <pc:chgData name="张毅" userId="be8211fc-84c4-45de-9048-aad7380c219f" providerId="ADAL" clId="{F8AF9390-4132-45DA-A7F1-3ABFE3880586}" dt="2024-10-12T14:41:08.306" v="1007" actId="1076"/>
        <pc:sldMkLst>
          <pc:docMk/>
          <pc:sldMk cId="2138430623" sldId="427"/>
        </pc:sldMkLst>
      </pc:sldChg>
      <pc:sldChg chg="addSp delSp modSp new mod">
        <pc:chgData name="张毅" userId="be8211fc-84c4-45de-9048-aad7380c219f" providerId="ADAL" clId="{F8AF9390-4132-45DA-A7F1-3ABFE3880586}" dt="2024-10-12T14:41:33.422" v="1018" actId="1076"/>
        <pc:sldMkLst>
          <pc:docMk/>
          <pc:sldMk cId="2514388127" sldId="428"/>
        </pc:sldMkLst>
      </pc:sldChg>
      <pc:sldChg chg="addSp delSp modSp new mod">
        <pc:chgData name="张毅" userId="be8211fc-84c4-45de-9048-aad7380c219f" providerId="ADAL" clId="{F8AF9390-4132-45DA-A7F1-3ABFE3880586}" dt="2024-10-12T14:42:21.222" v="1034" actId="478"/>
        <pc:sldMkLst>
          <pc:docMk/>
          <pc:sldMk cId="2054742467" sldId="429"/>
        </pc:sldMkLst>
      </pc:sldChg>
      <pc:sldChg chg="addSp delSp modSp new mod">
        <pc:chgData name="张毅" userId="be8211fc-84c4-45de-9048-aad7380c219f" providerId="ADAL" clId="{F8AF9390-4132-45DA-A7F1-3ABFE3880586}" dt="2024-10-13T13:44:24.606" v="1523" actId="1076"/>
        <pc:sldMkLst>
          <pc:docMk/>
          <pc:sldMk cId="3043386979" sldId="430"/>
        </pc:sldMkLst>
      </pc:sldChg>
      <pc:sldChg chg="modNotes modNotesTx">
        <pc:chgData name="张毅" userId="be8211fc-84c4-45de-9048-aad7380c219f" providerId="ADAL" clId="{F8AF9390-4132-45DA-A7F1-3ABFE3880586}" dt="2024-10-13T13:37:19.463" v="1466" actId="20577"/>
        <pc:sldMkLst>
          <pc:docMk/>
          <pc:sldMk cId="4093501747" sldId="431"/>
        </pc:sldMkLst>
      </pc:sldChg>
      <pc:sldChg chg="modSp mod modNotesTx">
        <pc:chgData name="张毅" userId="be8211fc-84c4-45de-9048-aad7380c219f" providerId="ADAL" clId="{F8AF9390-4132-45DA-A7F1-3ABFE3880586}" dt="2024-10-14T08:35:13.590" v="1620"/>
        <pc:sldMkLst>
          <pc:docMk/>
          <pc:sldMk cId="2699842241" sldId="432"/>
        </pc:sldMkLst>
      </pc:sldChg>
      <pc:sldChg chg="modSp mod modNotesTx">
        <pc:chgData name="张毅" userId="be8211fc-84c4-45de-9048-aad7380c219f" providerId="ADAL" clId="{F8AF9390-4132-45DA-A7F1-3ABFE3880586}" dt="2024-10-13T14:08:46.565" v="1566" actId="20577"/>
        <pc:sldMkLst>
          <pc:docMk/>
          <pc:sldMk cId="528262655" sldId="433"/>
        </pc:sldMkLst>
      </pc:sldChg>
      <pc:sldChg chg="modSp mod modNotesTx">
        <pc:chgData name="张毅" userId="be8211fc-84c4-45de-9048-aad7380c219f" providerId="ADAL" clId="{F8AF9390-4132-45DA-A7F1-3ABFE3880586}" dt="2024-10-13T14:09:04.278" v="1567" actId="20577"/>
        <pc:sldMkLst>
          <pc:docMk/>
          <pc:sldMk cId="905923339" sldId="435"/>
        </pc:sldMkLst>
      </pc:sldChg>
      <pc:sldChg chg="modSp mod">
        <pc:chgData name="张毅" userId="be8211fc-84c4-45de-9048-aad7380c219f" providerId="ADAL" clId="{F8AF9390-4132-45DA-A7F1-3ABFE3880586}" dt="2024-10-13T13:50:28.445" v="1541" actId="1076"/>
        <pc:sldMkLst>
          <pc:docMk/>
          <pc:sldMk cId="56252174" sldId="437"/>
        </pc:sldMkLst>
      </pc:sldChg>
      <pc:sldChg chg="addSp delSp modSp mod">
        <pc:chgData name="张毅" userId="be8211fc-84c4-45de-9048-aad7380c219f" providerId="ADAL" clId="{F8AF9390-4132-45DA-A7F1-3ABFE3880586}" dt="2024-10-13T13:50:18.139" v="1540" actId="1076"/>
        <pc:sldMkLst>
          <pc:docMk/>
          <pc:sldMk cId="3484009535" sldId="438"/>
        </pc:sldMkLst>
      </pc:sldChg>
      <pc:sldChg chg="modSp mod">
        <pc:chgData name="张毅" userId="be8211fc-84c4-45de-9048-aad7380c219f" providerId="ADAL" clId="{F8AF9390-4132-45DA-A7F1-3ABFE3880586}" dt="2024-10-14T08:44:06.120" v="1622" actId="123"/>
        <pc:sldMkLst>
          <pc:docMk/>
          <pc:sldMk cId="2021362712" sldId="439"/>
        </pc:sldMkLst>
      </pc:sldChg>
      <pc:sldMasterChg chg="modSldLayout">
        <pc:chgData name="张毅" userId="be8211fc-84c4-45de-9048-aad7380c219f" providerId="ADAL" clId="{F8AF9390-4132-45DA-A7F1-3ABFE3880586}" dt="2024-10-12T08:31:45.716" v="526"/>
        <pc:sldMasterMkLst>
          <pc:docMk/>
          <pc:sldMasterMk cId="0" sldId="2147483660"/>
        </pc:sldMasterMkLst>
        <pc:sldLayoutChg chg="modSp mod">
          <pc:chgData name="张毅" userId="be8211fc-84c4-45de-9048-aad7380c219f" providerId="ADAL" clId="{F8AF9390-4132-45DA-A7F1-3ABFE3880586}" dt="2024-10-12T07:49:28.254" v="6"/>
          <pc:sldLayoutMkLst>
            <pc:docMk/>
            <pc:sldMasterMk cId="0" sldId="2147483660"/>
            <pc:sldLayoutMk cId="0" sldId="2147483667"/>
          </pc:sldLayoutMkLst>
        </pc:sldLayoutChg>
        <pc:sldLayoutChg chg="modSp mod">
          <pc:chgData name="张毅" userId="be8211fc-84c4-45de-9048-aad7380c219f" providerId="ADAL" clId="{F8AF9390-4132-45DA-A7F1-3ABFE3880586}" dt="2024-10-12T07:49:37.238" v="13"/>
          <pc:sldLayoutMkLst>
            <pc:docMk/>
            <pc:sldMasterMk cId="0" sldId="2147483660"/>
            <pc:sldLayoutMk cId="0" sldId="2147483668"/>
          </pc:sldLayoutMkLst>
        </pc:sldLayoutChg>
        <pc:sldLayoutChg chg="modSp mod">
          <pc:chgData name="张毅" userId="be8211fc-84c4-45de-9048-aad7380c219f" providerId="ADAL" clId="{F8AF9390-4132-45DA-A7F1-3ABFE3880586}" dt="2024-10-12T08:31:35.954" v="523" actId="20577"/>
          <pc:sldLayoutMkLst>
            <pc:docMk/>
            <pc:sldMasterMk cId="0" sldId="2147483660"/>
            <pc:sldLayoutMk cId="0" sldId="2147483669"/>
          </pc:sldLayoutMkLst>
        </pc:sldLayoutChg>
        <pc:sldLayoutChg chg="modSp mod">
          <pc:chgData name="张毅" userId="be8211fc-84c4-45de-9048-aad7380c219f" providerId="ADAL" clId="{F8AF9390-4132-45DA-A7F1-3ABFE3880586}" dt="2024-10-12T07:51:28.717" v="53"/>
          <pc:sldLayoutMkLst>
            <pc:docMk/>
            <pc:sldMasterMk cId="0" sldId="2147483660"/>
            <pc:sldLayoutMk cId="0" sldId="2147483670"/>
          </pc:sldLayoutMkLst>
        </pc:sldLayoutChg>
        <pc:sldLayoutChg chg="modSp mod">
          <pc:chgData name="张毅" userId="be8211fc-84c4-45de-9048-aad7380c219f" providerId="ADAL" clId="{F8AF9390-4132-45DA-A7F1-3ABFE3880586}" dt="2024-10-12T08:31:45.716" v="526"/>
          <pc:sldLayoutMkLst>
            <pc:docMk/>
            <pc:sldMasterMk cId="0" sldId="2147483660"/>
            <pc:sldLayoutMk cId="145804754" sldId="2147483677"/>
          </pc:sldLayoutMkLst>
        </pc:sldLayoutChg>
        <pc:sldLayoutChg chg="modSp mod">
          <pc:chgData name="张毅" userId="be8211fc-84c4-45de-9048-aad7380c219f" providerId="ADAL" clId="{F8AF9390-4132-45DA-A7F1-3ABFE3880586}" dt="2024-10-12T07:52:29.344" v="73"/>
          <pc:sldLayoutMkLst>
            <pc:docMk/>
            <pc:sldMasterMk cId="0" sldId="2147483660"/>
            <pc:sldLayoutMk cId="1759881592" sldId="2147483678"/>
          </pc:sldLayoutMkLst>
        </pc:sldLayoutChg>
      </pc:sldMasterChg>
    </pc:docChg>
  </pc:docChgLst>
  <pc:docChgLst>
    <pc:chgData name="张毅" userId="69cae116-6285-4673-9751-3d9922030ec4" providerId="ADAL" clId="{11B4EC6A-39CE-476B-8C2F-76630000AA77}"/>
    <pc:docChg chg="modSld">
      <pc:chgData name="张毅" userId="69cae116-6285-4673-9751-3d9922030ec4" providerId="ADAL" clId="{11B4EC6A-39CE-476B-8C2F-76630000AA77}" dt="2025-05-20T11:58:19.014" v="2"/>
      <pc:docMkLst>
        <pc:docMk/>
      </pc:docMkLst>
      <pc:sldChg chg="modSp mod">
        <pc:chgData name="张毅" userId="69cae116-6285-4673-9751-3d9922030ec4" providerId="ADAL" clId="{11B4EC6A-39CE-476B-8C2F-76630000AA77}" dt="2025-05-20T11:58:19.014" v="2"/>
        <pc:sldMkLst>
          <pc:docMk/>
          <pc:sldMk cId="0" sldId="260"/>
        </pc:sldMkLst>
        <pc:spChg chg="mod">
          <ac:chgData name="张毅" userId="69cae116-6285-4673-9751-3d9922030ec4" providerId="ADAL" clId="{11B4EC6A-39CE-476B-8C2F-76630000AA77}" dt="2025-05-20T11:58:19.014" v="2"/>
          <ac:spMkLst>
            <pc:docMk/>
            <pc:sldMk cId="0" sldId="260"/>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2025/5/31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各位评审老师，大家上午好，我是张毅，我拟定的题目基于高灵活性的分布式线控底盘车辆运动规划与控制研究 是在宗长富老师的指导下进行的</a:t>
            </a:r>
          </a:p>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t>接下来我将从以下</a:t>
            </a:r>
            <a:r>
              <a:rPr lang="en-US" altLang="zh-CN" dirty="0"/>
              <a:t>6</a:t>
            </a:r>
            <a:r>
              <a:rPr lang="zh-CN" altLang="en-US" dirty="0"/>
              <a:t>个方面来进行阐述</a:t>
            </a:r>
          </a:p>
        </p:txBody>
      </p:sp>
      <p:sp>
        <p:nvSpPr>
          <p:cNvPr id="4" name="灯片编号占位符 3"/>
          <p:cNvSpPr>
            <a:spLocks noGrp="1"/>
          </p:cNvSpPr>
          <p:nvPr>
            <p:ph type="sldNum" sz="quarter" idx="10"/>
          </p:nvPr>
        </p:nvSpPr>
        <p:spPr/>
        <p:txBody>
          <a:bodyPr/>
          <a:lstStyle/>
          <a:p>
            <a:fld id="{616D692C-C307-4C02-AC17-4596772F2DAD}"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首先是研究背景及意义</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t>3</a:t>
            </a:fld>
            <a:endParaRPr lang="zh-CN" altLang="en-US"/>
          </a:p>
        </p:txBody>
      </p:sp>
    </p:spTree>
    <p:extLst>
      <p:ext uri="{BB962C8B-B14F-4D97-AF65-F5344CB8AC3E}">
        <p14:creationId xmlns:p14="http://schemas.microsoft.com/office/powerpoint/2010/main" val="3695257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我国汽车保有量在不断增长，但是随之而来的是交通事故发生的数量也不断提高，因此，对汽车主动安全性提出了更高的要求。</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4</a:t>
            </a:fld>
            <a:endParaRPr lang="zh-CN" altLang="en-US"/>
          </a:p>
        </p:txBody>
      </p:sp>
    </p:spTree>
    <p:extLst>
      <p:ext uri="{BB962C8B-B14F-4D97-AF65-F5344CB8AC3E}">
        <p14:creationId xmlns:p14="http://schemas.microsoft.com/office/powerpoint/2010/main" val="4099934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而且随着电动化和智能化的发展，对汽车底盘也提出了更高的要求，</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同时目前阶段的智能电动汽车在高速行驶、紧急避撞等交通场景下，暴露出</a:t>
            </a:r>
            <a:r>
              <a:rPr lang="zh-CN" altLang="en-US" sz="1200" b="1" dirty="0">
                <a:latin typeface="微软雅黑" panose="020B0503020204020204" pitchFamily="34" charset="-122"/>
                <a:ea typeface="微软雅黑" panose="020B0503020204020204" pitchFamily="34" charset="-122"/>
                <a:sym typeface="字魂105号-简雅黑" panose="00000500000000000000" pitchFamily="2" charset="-122"/>
              </a:rPr>
              <a:t>安全性欠佳以及策略过于保守</a:t>
            </a:r>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等问题。</a:t>
            </a:r>
            <a:endParaRPr lang="en-US" altLang="zh-CN" sz="1200" dirty="0">
              <a:latin typeface="微软雅黑" panose="020B0503020204020204" pitchFamily="34" charset="-122"/>
              <a:ea typeface="微软雅黑" panose="020B0503020204020204" pitchFamily="34" charset="-122"/>
              <a:sym typeface="字魂105号-简雅黑" panose="00000500000000000000"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dirty="0">
                <a:solidFill>
                  <a:schemeClr val="accent1"/>
                </a:solidFill>
                <a:effectLst/>
                <a:latin typeface="微软雅黑" panose="020B0503020204020204" pitchFamily="34" charset="-122"/>
                <a:ea typeface="微软雅黑" panose="020B0503020204020204" pitchFamily="34" charset="-122"/>
              </a:rPr>
              <a:t>分布式底盘电动汽车</a:t>
            </a:r>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凭借自身更为出色的动力学特性，</a:t>
            </a:r>
            <a:r>
              <a:rPr lang="zh-CN" altLang="en-US" sz="1200" b="1" dirty="0">
                <a:latin typeface="微软雅黑" panose="020B0503020204020204" pitchFamily="34" charset="-122"/>
                <a:ea typeface="微软雅黑" panose="020B0503020204020204" pitchFamily="34" charset="-122"/>
                <a:sym typeface="字魂105号-简雅黑" panose="00000500000000000000" pitchFamily="2" charset="-122"/>
              </a:rPr>
              <a:t>扩大了其稳定性边界，能够打破结构上固有的运动学约束</a:t>
            </a:r>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a:t>
            </a:r>
            <a:endParaRPr lang="en-US" altLang="zh-CN" sz="1200" dirty="0">
              <a:latin typeface="微软雅黑" panose="020B0503020204020204" pitchFamily="34" charset="-122"/>
              <a:ea typeface="微软雅黑" panose="020B0503020204020204" pitchFamily="34" charset="-122"/>
              <a:sym typeface="字魂105号-简雅黑" panose="00000500000000000000"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因此，它被广泛公认为</a:t>
            </a:r>
            <a:r>
              <a:rPr lang="zh-CN" altLang="en-US" sz="1200" b="1" dirty="0">
                <a:latin typeface="微软雅黑" panose="020B0503020204020204" pitchFamily="34" charset="-122"/>
                <a:ea typeface="微软雅黑" panose="020B0503020204020204" pitchFamily="34" charset="-122"/>
                <a:sym typeface="字魂105号-简雅黑" panose="00000500000000000000" pitchFamily="2" charset="-122"/>
              </a:rPr>
              <a:t>智能电动汽车的专用底盘以及智能驾驶的最佳载体。</a:t>
            </a:r>
            <a:endParaRPr lang="en-US" altLang="zh-CN" sz="1200" dirty="0">
              <a:latin typeface="微软雅黑" panose="020B0503020204020204" pitchFamily="34" charset="-122"/>
              <a:ea typeface="微软雅黑" panose="020B0503020204020204" pitchFamily="34" charset="-122"/>
              <a:sym typeface="字魂105号-简雅黑" panose="00000500000000000000" pitchFamily="2" charset="-122"/>
            </a:endParaRPr>
          </a:p>
        </p:txBody>
      </p:sp>
      <p:sp>
        <p:nvSpPr>
          <p:cNvPr id="4" name="灯片编号占位符 3"/>
          <p:cNvSpPr>
            <a:spLocks noGrp="1"/>
          </p:cNvSpPr>
          <p:nvPr>
            <p:ph type="sldNum" sz="quarter" idx="5"/>
          </p:nvPr>
        </p:nvSpPr>
        <p:spPr/>
        <p:txBody>
          <a:bodyPr/>
          <a:lstStyle/>
          <a:p>
            <a:fld id="{A6837353-30EB-4A48-80EB-173D804AEFBD}" type="slidenum">
              <a:rPr lang="zh-CN" altLang="en-US" smtClean="0"/>
              <a:t>5</a:t>
            </a:fld>
            <a:endParaRPr lang="zh-CN" altLang="en-US"/>
          </a:p>
        </p:txBody>
      </p:sp>
    </p:spTree>
    <p:extLst>
      <p:ext uri="{BB962C8B-B14F-4D97-AF65-F5344CB8AC3E}">
        <p14:creationId xmlns:p14="http://schemas.microsoft.com/office/powerpoint/2010/main" val="32363327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dirty="0">
                <a:latin typeface="微软雅黑" panose="020B0503020204020204" pitchFamily="34" charset="-122"/>
                <a:ea typeface="微软雅黑" panose="020B0503020204020204" pitchFamily="34" charset="-122"/>
                <a:sym typeface="字魂105号-简雅黑" panose="00000500000000000000" pitchFamily="2" charset="-122"/>
              </a:rPr>
              <a:t>本课题以分布式架构的线控底盘车辆为基本研究对象，</a:t>
            </a:r>
            <a:r>
              <a:rPr lang="zh-CN" altLang="en-US" sz="1200" b="1" dirty="0">
                <a:latin typeface="微软雅黑" panose="020B0503020204020204" pitchFamily="34" charset="-122"/>
                <a:ea typeface="微软雅黑" panose="020B0503020204020204" pitchFamily="34" charset="-122"/>
              </a:rPr>
              <a:t>因其具有超高可靠性和执行能力，为车辆智能化的实现提供了更便利的载体。</a:t>
            </a:r>
            <a:endParaRPr lang="en-US" altLang="zh-CN" sz="1200" b="1" dirty="0">
              <a:latin typeface="微软雅黑" panose="020B0503020204020204" pitchFamily="34" charset="-122"/>
              <a:ea typeface="微软雅黑" panose="020B0503020204020204"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latin typeface="微软雅黑" panose="020B0503020204020204" pitchFamily="34" charset="-122"/>
                <a:ea typeface="微软雅黑" panose="020B0503020204020204" pitchFamily="34" charset="-122"/>
              </a:rPr>
              <a:t>凭借更优秀的动力学特性，</a:t>
            </a:r>
            <a:r>
              <a:rPr lang="zh-CN" altLang="en-US" sz="1200" b="1" dirty="0">
                <a:latin typeface="微软雅黑" panose="020B0503020204020204" pitchFamily="34" charset="-122"/>
                <a:ea typeface="微软雅黑" panose="020B0503020204020204" pitchFamily="34" charset="-122"/>
              </a:rPr>
              <a:t>扩大了稳定性边界，</a:t>
            </a:r>
            <a:r>
              <a:rPr lang="zh-CN" altLang="en-US" sz="1200" dirty="0">
                <a:latin typeface="微软雅黑" panose="020B0503020204020204" pitchFamily="34" charset="-122"/>
                <a:ea typeface="微软雅黑" panose="020B0503020204020204" pitchFamily="34" charset="-122"/>
              </a:rPr>
              <a:t>但其控制维度的增高也给智能驾驶架构的设计带来新挑战，</a:t>
            </a:r>
            <a:r>
              <a:rPr lang="zh-CN" altLang="en-US" sz="1200" b="1" dirty="0">
                <a:latin typeface="微软雅黑" panose="020B0503020204020204" pitchFamily="34" charset="-122"/>
                <a:ea typeface="微软雅黑" panose="020B0503020204020204" pitchFamily="34" charset="-122"/>
              </a:rPr>
              <a:t>将新动力学特性充分融合于智能驾驶架构设计成为研究难点</a:t>
            </a:r>
            <a:r>
              <a:rPr lang="zh-CN" altLang="en-US" sz="1200" dirty="0">
                <a:latin typeface="微软雅黑" panose="020B0503020204020204" pitchFamily="34" charset="-122"/>
                <a:ea typeface="微软雅黑" panose="020B0503020204020204" pitchFamily="34" charset="-122"/>
              </a:rPr>
              <a:t>。</a:t>
            </a:r>
            <a:endParaRPr lang="en-US" altLang="zh-CN" sz="1200" dirty="0">
              <a:latin typeface="微软雅黑" panose="020B0503020204020204" pitchFamily="34" charset="-122"/>
              <a:ea typeface="微软雅黑" panose="020B0503020204020204" pitchFamily="34" charset="-122"/>
            </a:endParaRPr>
          </a:p>
          <a:p>
            <a:r>
              <a:rPr lang="zh-CN" altLang="en-US" sz="1200" dirty="0">
                <a:latin typeface="微软雅黑" panose="020B0503020204020204" pitchFamily="34" charset="-122"/>
                <a:ea typeface="微软雅黑" panose="020B0503020204020204" pitchFamily="34" charset="-122"/>
              </a:rPr>
              <a:t>充分利用分布式驱动电动汽车的稳定域对</a:t>
            </a:r>
            <a:r>
              <a:rPr lang="zh-CN" altLang="en-US" sz="1200" b="1" dirty="0">
                <a:latin typeface="微软雅黑" panose="020B0503020204020204" pitchFamily="34" charset="-122"/>
                <a:ea typeface="微软雅黑" panose="020B0503020204020204" pitchFamily="34" charset="-122"/>
              </a:rPr>
              <a:t>智能驾驶层进行顶层设计</a:t>
            </a:r>
            <a:r>
              <a:rPr lang="zh-CN" altLang="en-US" sz="1200" dirty="0">
                <a:latin typeface="微软雅黑" panose="020B0503020204020204" pitchFamily="34" charset="-122"/>
                <a:ea typeface="微软雅黑" panose="020B0503020204020204" pitchFamily="34" charset="-122"/>
              </a:rPr>
              <a:t>至关重要，这也是亟需探究和解决的关键研究问题。</a:t>
            </a:r>
            <a:endParaRPr lang="en-US" altLang="zh-CN" sz="1200" dirty="0">
              <a:latin typeface="微软雅黑" panose="020B0503020204020204" pitchFamily="34" charset="-122"/>
              <a:ea typeface="微软雅黑" panose="020B0503020204020204" pitchFamily="34" charset="-122"/>
            </a:endParaRPr>
          </a:p>
          <a:p>
            <a:r>
              <a:rPr lang="zh-CN" altLang="en-US" sz="1200" dirty="0">
                <a:latin typeface="微软雅黑" panose="020B0503020204020204" pitchFamily="34" charset="-122"/>
                <a:ea typeface="微软雅黑" panose="020B0503020204020204" pitchFamily="34" charset="-122"/>
              </a:rPr>
              <a:t>基于上述分析，充分调研了国内外的研究现状，接下来将对国内外研究现状进行阐述</a:t>
            </a:r>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6</a:t>
            </a:fld>
            <a:endParaRPr lang="zh-CN" altLang="en-US"/>
          </a:p>
        </p:txBody>
      </p:sp>
    </p:spTree>
    <p:extLst>
      <p:ext uri="{BB962C8B-B14F-4D97-AF65-F5344CB8AC3E}">
        <p14:creationId xmlns:p14="http://schemas.microsoft.com/office/powerpoint/2010/main" val="36471511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b="0" i="0" dirty="0">
                <a:effectLst/>
                <a:latin typeface="微软雅黑" panose="020B0503020204020204" pitchFamily="34" charset="-122"/>
                <a:ea typeface="微软雅黑" panose="020B0503020204020204" pitchFamily="34" charset="-122"/>
              </a:rPr>
              <a:t>常用轨迹规划方法主要有</a:t>
            </a:r>
            <a:r>
              <a:rPr lang="zh-CN" altLang="en-US" b="1" i="0" dirty="0">
                <a:effectLst/>
                <a:latin typeface="微软雅黑" panose="020B0503020204020204" pitchFamily="34" charset="-122"/>
                <a:ea typeface="微软雅黑" panose="020B0503020204020204" pitchFamily="34" charset="-122"/>
              </a:rPr>
              <a:t>图搜索算法、曲线插值算法、采样方法和数值优化方法</a:t>
            </a:r>
            <a:r>
              <a:rPr lang="en-US" altLang="zh-CN" b="0" i="0" dirty="0">
                <a:effectLst/>
                <a:latin typeface="微软雅黑" panose="020B0503020204020204" pitchFamily="34" charset="-122"/>
                <a:ea typeface="微软雅黑" panose="020B0503020204020204" pitchFamily="34" charset="-122"/>
              </a:rPr>
              <a:t>,</a:t>
            </a:r>
            <a:r>
              <a:rPr lang="zh-CN" altLang="en-US" b="0" i="0" dirty="0">
                <a:effectLst/>
                <a:latin typeface="微软雅黑" panose="020B0503020204020204" pitchFamily="34" charset="-122"/>
                <a:ea typeface="微软雅黑" panose="020B0503020204020204" pitchFamily="34" charset="-122"/>
              </a:rPr>
              <a:t>各有其优缺点。</a:t>
            </a:r>
            <a:endParaRPr lang="en-US" altLang="zh-CN" b="0" i="0" dirty="0">
              <a:effectLst/>
              <a:latin typeface="微软雅黑" panose="020B0503020204020204" pitchFamily="34" charset="-122"/>
              <a:ea typeface="微软雅黑" panose="020B0503020204020204"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800" dirty="0">
                <a:effectLst/>
                <a:latin typeface="Times New Roman" panose="02020603050405020304" pitchFamily="18" charset="0"/>
                <a:ea typeface="宋体" panose="02010600030101010101" pitchFamily="2" charset="-122"/>
              </a:rPr>
              <a:t>目前分布式线控底盘的运动控制方法根据横、纵向运动是否解耦可分为解耦式运动控制和耦合式运动控制。</a:t>
            </a:r>
            <a:endParaRPr lang="en-US" altLang="zh-CN" sz="1800" dirty="0">
              <a:effectLst/>
              <a:latin typeface="Times New Roman" panose="02020603050405020304" pitchFamily="18" charset="0"/>
              <a:ea typeface="宋体" panose="02010600030101010101"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根据控制器结构，耦合式运动控制方法可分为集中式控制器和分层式控制器。</a:t>
            </a:r>
            <a:r>
              <a:rPr lang="zh-CN" altLang="zh-CN" sz="1800" dirty="0">
                <a:effectLst/>
                <a:ea typeface="Times New Roman" panose="02020603050405020304" pitchFamily="18" charset="0"/>
              </a:rPr>
              <a:t> </a:t>
            </a:r>
            <a:endParaRPr lang="zh-CN" altLang="zh-CN" sz="1800" dirty="0">
              <a:effectLst/>
              <a:latin typeface="Times New Roman" panose="02020603050405020304" pitchFamily="18" charset="0"/>
              <a:ea typeface="宋体" panose="02010600030101010101" pitchFamily="2" charset="-122"/>
            </a:endParaRPr>
          </a:p>
        </p:txBody>
      </p:sp>
      <p:sp>
        <p:nvSpPr>
          <p:cNvPr id="4" name="灯片编号占位符 3"/>
          <p:cNvSpPr>
            <a:spLocks noGrp="1"/>
          </p:cNvSpPr>
          <p:nvPr>
            <p:ph type="sldNum" sz="quarter" idx="5"/>
          </p:nvPr>
        </p:nvSpPr>
        <p:spPr/>
        <p:txBody>
          <a:bodyPr/>
          <a:lstStyle/>
          <a:p>
            <a:fld id="{A6837353-30EB-4A48-80EB-173D804AEFBD}" type="slidenum">
              <a:rPr lang="zh-CN" altLang="en-US" smtClean="0"/>
              <a:t>8</a:t>
            </a:fld>
            <a:endParaRPr lang="zh-CN" altLang="en-US"/>
          </a:p>
        </p:txBody>
      </p:sp>
    </p:spTree>
    <p:extLst>
      <p:ext uri="{BB962C8B-B14F-4D97-AF65-F5344CB8AC3E}">
        <p14:creationId xmlns:p14="http://schemas.microsoft.com/office/powerpoint/2010/main" val="1951397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目前的研究也存在一些不足之处：</a:t>
            </a:r>
            <a:endParaRPr lang="en-US" altLang="zh-CN" dirty="0"/>
          </a:p>
          <a:p>
            <a:r>
              <a:rPr lang="en-US" altLang="zh-CN" dirty="0"/>
              <a:t>xx</a:t>
            </a:r>
          </a:p>
          <a:p>
            <a:r>
              <a:rPr lang="zh-CN" altLang="en-US" dirty="0"/>
              <a:t>基于上述的研究现状，拟定了本课题的研究目标与研究内容</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t>9</a:t>
            </a:fld>
            <a:endParaRPr lang="zh-CN" altLang="en-US"/>
          </a:p>
        </p:txBody>
      </p:sp>
    </p:spTree>
    <p:extLst>
      <p:ext uri="{BB962C8B-B14F-4D97-AF65-F5344CB8AC3E}">
        <p14:creationId xmlns:p14="http://schemas.microsoft.com/office/powerpoint/2010/main" val="12400486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10</a:t>
            </a:fld>
            <a:endParaRPr lang="zh-CN" altLang="en-US"/>
          </a:p>
        </p:txBody>
      </p:sp>
    </p:spTree>
    <p:extLst>
      <p:ext uri="{BB962C8B-B14F-4D97-AF65-F5344CB8AC3E}">
        <p14:creationId xmlns:p14="http://schemas.microsoft.com/office/powerpoint/2010/main" val="41384001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本文研究目标为：</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t>11</a:t>
            </a:fld>
            <a:endParaRPr lang="zh-CN" altLang="en-US"/>
          </a:p>
        </p:txBody>
      </p:sp>
    </p:spTree>
    <p:extLst>
      <p:ext uri="{BB962C8B-B14F-4D97-AF65-F5344CB8AC3E}">
        <p14:creationId xmlns:p14="http://schemas.microsoft.com/office/powerpoint/2010/main" val="2952867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研究内容主要包括以下四个部分</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t>12</a:t>
            </a:fld>
            <a:endParaRPr lang="zh-CN" altLang="en-US"/>
          </a:p>
        </p:txBody>
      </p:sp>
    </p:spTree>
    <p:extLst>
      <p:ext uri="{BB962C8B-B14F-4D97-AF65-F5344CB8AC3E}">
        <p14:creationId xmlns:p14="http://schemas.microsoft.com/office/powerpoint/2010/main" val="14917484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17</a:t>
            </a:fld>
            <a:endParaRPr lang="zh-CN" altLang="en-US"/>
          </a:p>
        </p:txBody>
      </p:sp>
    </p:spTree>
    <p:extLst>
      <p:ext uri="{BB962C8B-B14F-4D97-AF65-F5344CB8AC3E}">
        <p14:creationId xmlns:p14="http://schemas.microsoft.com/office/powerpoint/2010/main" val="11892613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前期公开了相关的发明专利</a:t>
            </a:r>
            <a:r>
              <a:rPr lang="en-US" altLang="zh-CN" dirty="0"/>
              <a:t>4</a:t>
            </a:r>
            <a:r>
              <a:rPr lang="zh-CN" altLang="en-US" dirty="0"/>
              <a:t>项，登记了相关的软件著作权</a:t>
            </a:r>
            <a:r>
              <a:rPr lang="en-US" altLang="zh-CN" dirty="0"/>
              <a:t>2</a:t>
            </a:r>
            <a:r>
              <a:rPr lang="zh-CN" altLang="en-US" dirty="0"/>
              <a:t>项。</a:t>
            </a:r>
            <a:endParaRPr lang="en-US" altLang="zh-CN" dirty="0"/>
          </a:p>
          <a:p>
            <a:r>
              <a:rPr lang="zh-CN" altLang="en-US" dirty="0"/>
              <a:t>搭建了</a:t>
            </a:r>
            <a:r>
              <a:rPr lang="zh-CN" altLang="en-US" dirty="0">
                <a:latin typeface="字魂105号-简雅黑" panose="00000500000000000000" pitchFamily="2" charset="-122"/>
                <a:ea typeface="字魂105号-简雅黑" panose="00000500000000000000" pitchFamily="2" charset="-122"/>
                <a:sym typeface="字魂105号-简雅黑" panose="00000500000000000000" pitchFamily="2" charset="-122"/>
              </a:rPr>
              <a:t>四轮独立驱动</a:t>
            </a:r>
            <a:r>
              <a:rPr lang="en-US" altLang="zh-CN" dirty="0">
                <a:latin typeface="字魂105号-简雅黑" panose="00000500000000000000" pitchFamily="2" charset="-122"/>
                <a:ea typeface="字魂105号-简雅黑" panose="00000500000000000000" pitchFamily="2" charset="-122"/>
                <a:sym typeface="字魂105号-简雅黑" panose="00000500000000000000" pitchFamily="2" charset="-122"/>
              </a:rPr>
              <a:t>/</a:t>
            </a:r>
            <a:r>
              <a:rPr lang="zh-CN" altLang="en-US" dirty="0">
                <a:latin typeface="字魂105号-简雅黑" panose="00000500000000000000" pitchFamily="2" charset="-122"/>
                <a:ea typeface="字魂105号-简雅黑" panose="00000500000000000000" pitchFamily="2" charset="-122"/>
                <a:sym typeface="字魂105号-简雅黑" panose="00000500000000000000" pitchFamily="2" charset="-122"/>
              </a:rPr>
              <a:t>转向</a:t>
            </a:r>
            <a:r>
              <a:rPr lang="en-US" altLang="zh-CN" dirty="0">
                <a:latin typeface="字魂105号-简雅黑" panose="00000500000000000000" pitchFamily="2" charset="-122"/>
                <a:ea typeface="字魂105号-简雅黑" panose="00000500000000000000" pitchFamily="2" charset="-122"/>
                <a:sym typeface="字魂105号-简雅黑" panose="00000500000000000000" pitchFamily="2" charset="-122"/>
              </a:rPr>
              <a:t>/</a:t>
            </a:r>
            <a:r>
              <a:rPr lang="zh-CN" altLang="en-US" dirty="0">
                <a:latin typeface="字魂105号-简雅黑" panose="00000500000000000000" pitchFamily="2" charset="-122"/>
                <a:ea typeface="字魂105号-简雅黑" panose="00000500000000000000" pitchFamily="2" charset="-122"/>
                <a:sym typeface="字魂105号-简雅黑" panose="00000500000000000000" pitchFamily="2" charset="-122"/>
              </a:rPr>
              <a:t>制动的智能底盘电动汽车模型。</a:t>
            </a:r>
            <a:endParaRPr lang="en-US" altLang="zh-CN" dirty="0">
              <a:latin typeface="字魂105号-简雅黑" panose="00000500000000000000" pitchFamily="2" charset="-122"/>
              <a:ea typeface="字魂105号-简雅黑" panose="00000500000000000000" pitchFamily="2" charset="-122"/>
              <a:sym typeface="字魂105号-简雅黑" panose="00000500000000000000" pitchFamily="2" charset="-122"/>
            </a:endParaRPr>
          </a:p>
          <a:p>
            <a:r>
              <a:rPr lang="zh-CN" altLang="en-US" dirty="0">
                <a:ea typeface="字魂105号-简雅黑" panose="00000500000000000000" pitchFamily="2" charset="-122"/>
                <a:sym typeface="字魂105号-简雅黑" panose="00000500000000000000" pitchFamily="2" charset="-122"/>
              </a:rPr>
              <a:t>并学习了一些规划控制算法。</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20</a:t>
            </a:fld>
            <a:endParaRPr lang="zh-CN" altLang="en-US"/>
          </a:p>
        </p:txBody>
      </p:sp>
    </p:spTree>
    <p:extLst>
      <p:ext uri="{BB962C8B-B14F-4D97-AF65-F5344CB8AC3E}">
        <p14:creationId xmlns:p14="http://schemas.microsoft.com/office/powerpoint/2010/main" val="6956703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这是计划的研究进展</a:t>
            </a:r>
          </a:p>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t>22</a:t>
            </a:fld>
            <a:endParaRPr lang="zh-CN" altLang="en-US"/>
          </a:p>
        </p:txBody>
      </p:sp>
    </p:spTree>
    <p:extLst>
      <p:ext uri="{BB962C8B-B14F-4D97-AF65-F5344CB8AC3E}">
        <p14:creationId xmlns:p14="http://schemas.microsoft.com/office/powerpoint/2010/main" val="757969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11"/>
          </p:nvPr>
        </p:nvSpPr>
        <p:spPr/>
        <p:txBody>
          <a:bodyPr/>
          <a:lstStyle/>
          <a:p>
            <a:endParaRPr lang="zh-HK" altLang="en-US"/>
          </a:p>
        </p:txBody>
      </p:sp>
      <p:sp>
        <p:nvSpPr>
          <p:cNvPr id="6" name="Slide Number Placeholder 5"/>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11"/>
          </p:nvPr>
        </p:nvSpPr>
        <p:spPr/>
        <p:txBody>
          <a:bodyPr/>
          <a:lstStyle/>
          <a:p>
            <a:endParaRPr lang="zh-HK" altLang="en-US"/>
          </a:p>
        </p:txBody>
      </p:sp>
      <p:sp>
        <p:nvSpPr>
          <p:cNvPr id="6" name="Slide Number Placeholder 5"/>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11"/>
          </p:nvPr>
        </p:nvSpPr>
        <p:spPr/>
        <p:txBody>
          <a:bodyPr/>
          <a:lstStyle/>
          <a:p>
            <a:endParaRPr lang="zh-HK" altLang="en-US"/>
          </a:p>
        </p:txBody>
      </p:sp>
      <p:sp>
        <p:nvSpPr>
          <p:cNvPr id="6" name="Slide Number Placeholder 5"/>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6" name="Footer Placeholder 5"/>
          <p:cNvSpPr>
            <a:spLocks noGrp="1"/>
          </p:cNvSpPr>
          <p:nvPr>
            <p:ph type="ftr" sz="quarter" idx="11"/>
          </p:nvPr>
        </p:nvSpPr>
        <p:spPr/>
        <p:txBody>
          <a:bodyPr/>
          <a:lstStyle/>
          <a:p>
            <a:endParaRPr lang="zh-HK" altLang="en-US"/>
          </a:p>
        </p:txBody>
      </p:sp>
      <p:sp>
        <p:nvSpPr>
          <p:cNvPr id="7" name="Slide Number Placeholder 6"/>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8" name="Footer Placeholder 7"/>
          <p:cNvSpPr>
            <a:spLocks noGrp="1"/>
          </p:cNvSpPr>
          <p:nvPr>
            <p:ph type="ftr" sz="quarter" idx="11"/>
          </p:nvPr>
        </p:nvSpPr>
        <p:spPr/>
        <p:txBody>
          <a:bodyPr/>
          <a:lstStyle/>
          <a:p>
            <a:endParaRPr lang="zh-HK" altLang="en-US"/>
          </a:p>
        </p:txBody>
      </p:sp>
      <p:sp>
        <p:nvSpPr>
          <p:cNvPr id="9" name="Slide Number Placeholder 8"/>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4" name="Footer Placeholder 3"/>
          <p:cNvSpPr>
            <a:spLocks noGrp="1"/>
          </p:cNvSpPr>
          <p:nvPr>
            <p:ph type="ftr" sz="quarter" idx="11"/>
          </p:nvPr>
        </p:nvSpPr>
        <p:spPr/>
        <p:txBody>
          <a:bodyPr/>
          <a:lstStyle/>
          <a:p>
            <a:endParaRPr lang="zh-HK" altLang="en-US"/>
          </a:p>
        </p:txBody>
      </p:sp>
      <p:sp>
        <p:nvSpPr>
          <p:cNvPr id="5" name="Slide Number Placeholder 4"/>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3" name="Footer Placeholder 2"/>
          <p:cNvSpPr>
            <a:spLocks noGrp="1"/>
          </p:cNvSpPr>
          <p:nvPr>
            <p:ph type="ftr" sz="quarter" idx="11"/>
          </p:nvPr>
        </p:nvSpPr>
        <p:spPr/>
        <p:txBody>
          <a:bodyPr/>
          <a:lstStyle/>
          <a:p>
            <a:endParaRPr lang="zh-HK" altLang="en-US"/>
          </a:p>
        </p:txBody>
      </p:sp>
      <p:sp>
        <p:nvSpPr>
          <p:cNvPr id="4" name="Slide Number Placeholder 3"/>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6" name="Footer Placeholder 5"/>
          <p:cNvSpPr>
            <a:spLocks noGrp="1"/>
          </p:cNvSpPr>
          <p:nvPr>
            <p:ph type="ftr" sz="quarter" idx="11"/>
          </p:nvPr>
        </p:nvSpPr>
        <p:spPr/>
        <p:txBody>
          <a:bodyPr/>
          <a:lstStyle/>
          <a:p>
            <a:endParaRPr lang="zh-HK" altLang="en-US"/>
          </a:p>
        </p:txBody>
      </p:sp>
      <p:sp>
        <p:nvSpPr>
          <p:cNvPr id="7" name="Slide Number Placeholder 6"/>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6" name="Footer Placeholder 5"/>
          <p:cNvSpPr>
            <a:spLocks noGrp="1"/>
          </p:cNvSpPr>
          <p:nvPr>
            <p:ph type="ftr" sz="quarter" idx="11"/>
          </p:nvPr>
        </p:nvSpPr>
        <p:spPr/>
        <p:txBody>
          <a:bodyPr/>
          <a:lstStyle/>
          <a:p>
            <a:endParaRPr lang="zh-HK" altLang="en-US"/>
          </a:p>
        </p:txBody>
      </p:sp>
      <p:sp>
        <p:nvSpPr>
          <p:cNvPr id="7" name="Slide Number Placeholder 6"/>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11"/>
          </p:nvPr>
        </p:nvSpPr>
        <p:spPr/>
        <p:txBody>
          <a:bodyPr/>
          <a:lstStyle/>
          <a:p>
            <a:endParaRPr lang="zh-HK" altLang="en-US"/>
          </a:p>
        </p:txBody>
      </p:sp>
      <p:sp>
        <p:nvSpPr>
          <p:cNvPr id="6" name="Slide Number Placeholder 5"/>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11"/>
          </p:nvPr>
        </p:nvSpPr>
        <p:spPr/>
        <p:txBody>
          <a:bodyPr/>
          <a:lstStyle/>
          <a:p>
            <a:endParaRPr lang="zh-HK" altLang="en-US"/>
          </a:p>
        </p:txBody>
      </p:sp>
      <p:sp>
        <p:nvSpPr>
          <p:cNvPr id="6" name="Slide Number Placeholder 5"/>
          <p:cNvSpPr>
            <a:spLocks noGrp="1"/>
          </p:cNvSpPr>
          <p:nvPr>
            <p:ph type="sldNum" sz="quarter" idx="12"/>
          </p:nvPr>
        </p:nvSpPr>
        <p:spPr/>
        <p:txBody>
          <a:bodyPr/>
          <a:lstStyle/>
          <a:p>
            <a:fld id="{9E45C72C-05F9-42DA-A32C-E89F323A6F21}" type="slidenum">
              <a:rPr lang="zh-HK" altLang="en-US" smtClean="0"/>
              <a:t>‹#›</a:t>
            </a:fld>
            <a:endParaRPr lang="zh-HK"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zh-HK" alt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zh-HK" alt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zh-HK" alt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zh-HK" alt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zh-HK" alt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zh-HK" alt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bg>
      <p:bgPr>
        <a:solidFill>
          <a:schemeClr val="bg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08C867-0001-4419-B27E-C2CFA0B1F96F}" type="datetime1">
              <a:rPr lang="zh-CN" altLang="en-US" smtClean="0">
                <a:solidFill>
                  <a:prstClr val="black">
                    <a:tint val="75000"/>
                  </a:prstClr>
                </a:solidFill>
              </a:rPr>
              <a:t>2025/5/31</a:t>
            </a:fld>
            <a:endParaRPr lang="zh-HK" altLang="en-US" dirty="0">
              <a:solidFill>
                <a:prstClr val="black">
                  <a:tint val="75000"/>
                </a:prstClr>
              </a:solidFill>
            </a:endParaRPr>
          </a:p>
        </p:txBody>
      </p:sp>
      <p:sp>
        <p:nvSpPr>
          <p:cNvPr id="3" name="Footer Placeholder 2"/>
          <p:cNvSpPr>
            <a:spLocks noGrp="1"/>
          </p:cNvSpPr>
          <p:nvPr>
            <p:ph type="ftr" sz="quarter" idx="11"/>
          </p:nvPr>
        </p:nvSpPr>
        <p:spPr/>
        <p:txBody>
          <a:bodyPr/>
          <a:lstStyle/>
          <a:p>
            <a:endParaRPr lang="zh-HK" altLang="en-US" dirty="0">
              <a:solidFill>
                <a:prstClr val="black">
                  <a:tint val="75000"/>
                </a:prstClr>
              </a:solidFill>
            </a:endParaRPr>
          </a:p>
        </p:txBody>
      </p:sp>
      <p:sp>
        <p:nvSpPr>
          <p:cNvPr id="6"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5" name="文本框 14"/>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研究背景及意义</a:t>
            </a:r>
            <a:endParaRPr lang="zh-CN" altLang="zh-CN" sz="2800" spc="0" dirty="0">
              <a:solidFill>
                <a:schemeClr val="tx1"/>
              </a:solidFill>
              <a:effectLst/>
            </a:endParaRPr>
          </a:p>
        </p:txBody>
      </p:sp>
      <p:sp>
        <p:nvSpPr>
          <p:cNvPr id="5" name="灯片编号占位符 4"/>
          <p:cNvSpPr>
            <a:spLocks noGrp="1"/>
          </p:cNvSpPr>
          <p:nvPr>
            <p:ph type="sldNum" sz="quarter" idx="12"/>
          </p:nvPr>
        </p:nvSpPr>
        <p:spPr>
          <a:xfrm>
            <a:off x="8610600" y="6356350"/>
            <a:ext cx="2743200" cy="365125"/>
          </a:xfrm>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hf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B2AC89A5-2FB1-4AFC-9A03-29D629408DB2}" type="datetime5">
              <a:rPr lang="zh-HK" altLang="en-US" smtClean="0">
                <a:solidFill>
                  <a:prstClr val="black">
                    <a:tint val="75000"/>
                  </a:prstClr>
                </a:solidFill>
              </a:rPr>
              <a:t>2025/5/31</a:t>
            </a:fld>
            <a:endParaRPr lang="zh-HK" altLang="en-US">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
        <p:nvSpPr>
          <p:cNvPr id="7"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文本框 16"/>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国内外研究现状</a:t>
            </a:r>
            <a:endParaRPr lang="zh-CN" altLang="zh-CN" sz="2800" spc="0" dirty="0">
              <a:solidFill>
                <a:schemeClr val="tx1"/>
              </a:solidFill>
              <a:effectLst/>
            </a:endParaRPr>
          </a:p>
        </p:txBody>
      </p:sp>
    </p:spTree>
  </p:cSld>
  <p:clrMapOvr>
    <a:masterClrMapping/>
  </p:clrMapOvr>
  <p:transition>
    <p:wipe/>
  </p:transition>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6CDE2781-097C-4828-9A3F-D1DE5338A6F5}" type="datetime5">
              <a:rPr lang="zh-HK" altLang="en-US" smtClean="0">
                <a:solidFill>
                  <a:prstClr val="black">
                    <a:tint val="75000"/>
                  </a:prstClr>
                </a:solidFill>
              </a:rPr>
              <a:t>2025/5/31</a:t>
            </a:fld>
            <a:endParaRPr lang="zh-HK" altLang="en-US" dirty="0">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
        <p:nvSpPr>
          <p:cNvPr id="7"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文本框 13"/>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研究目标及内容</a:t>
            </a:r>
          </a:p>
        </p:txBody>
      </p:sp>
    </p:spTree>
  </p:cSld>
  <p:clrMapOvr>
    <a:masterClrMapping/>
  </p:clrMapOvr>
  <p:transition>
    <p:wipe/>
  </p:transition>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EC88C198-59B6-4128-B4D6-56732DD9FD2F}" type="datetime5">
              <a:rPr lang="zh-HK" altLang="en-US" smtClean="0">
                <a:solidFill>
                  <a:prstClr val="black">
                    <a:tint val="75000"/>
                  </a:prstClr>
                </a:solidFill>
              </a:rPr>
              <a:t>2025/5/31</a:t>
            </a:fld>
            <a:endParaRPr lang="zh-HK" altLang="en-US" dirty="0">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
        <p:nvSpPr>
          <p:cNvPr id="7"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文本框 13"/>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研究方法与技术路线</a:t>
            </a:r>
          </a:p>
        </p:txBody>
      </p:sp>
    </p:spTree>
  </p:cSld>
  <p:clrMapOvr>
    <a:masterClrMapping/>
  </p:clrMapOvr>
  <p:transition>
    <p:wipe/>
  </p:transition>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_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EC88C198-59B6-4128-B4D6-56732DD9FD2F}" type="datetime5">
              <a:rPr lang="zh-HK" altLang="en-US" smtClean="0">
                <a:solidFill>
                  <a:prstClr val="black">
                    <a:tint val="75000"/>
                  </a:prstClr>
                </a:solidFill>
              </a:rPr>
              <a:t>2025/5/31</a:t>
            </a:fld>
            <a:endParaRPr lang="zh-HK" altLang="en-US" dirty="0">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
        <p:nvSpPr>
          <p:cNvPr id="7"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文本框 13"/>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阶段性研究成果</a:t>
            </a:r>
          </a:p>
        </p:txBody>
      </p:sp>
    </p:spTree>
    <p:extLst>
      <p:ext uri="{BB962C8B-B14F-4D97-AF65-F5344CB8AC3E}">
        <p14:creationId xmlns:p14="http://schemas.microsoft.com/office/powerpoint/2010/main" val="145804754"/>
      </p:ext>
    </p:extLst>
  </p:cSld>
  <p:clrMapOvr>
    <a:masterClrMapping/>
  </p:clrMapOvr>
  <p:transition>
    <p:wipe/>
  </p:transition>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6_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EC88C198-59B6-4128-B4D6-56732DD9FD2F}" type="datetime5">
              <a:rPr lang="zh-HK" altLang="en-US" smtClean="0">
                <a:solidFill>
                  <a:prstClr val="black">
                    <a:tint val="75000"/>
                  </a:prstClr>
                </a:solidFill>
              </a:rPr>
              <a:t>2025/5/31</a:t>
            </a:fld>
            <a:endParaRPr lang="zh-HK" altLang="en-US" dirty="0">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
        <p:nvSpPr>
          <p:cNvPr id="7" name="Rectangle 322"/>
          <p:cNvSpPr>
            <a:spLocks noChangeArrowheads="1"/>
          </p:cNvSpPr>
          <p:nvPr userDrawn="1"/>
        </p:nvSpPr>
        <p:spPr bwMode="auto">
          <a:xfrm>
            <a:off x="1260748" y="310834"/>
            <a:ext cx="95690" cy="561834"/>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Freeform 325"/>
          <p:cNvSpPr/>
          <p:nvPr userDrawn="1"/>
        </p:nvSpPr>
        <p:spPr bwMode="auto">
          <a:xfrm>
            <a:off x="441919" y="439333"/>
            <a:ext cx="492118" cy="295271"/>
          </a:xfrm>
          <a:custGeom>
            <a:avLst/>
            <a:gdLst>
              <a:gd name="T0" fmla="*/ 360 w 360"/>
              <a:gd name="T1" fmla="*/ 0 h 216"/>
              <a:gd name="T2" fmla="*/ 308 w 360"/>
              <a:gd name="T3" fmla="*/ 216 h 216"/>
              <a:gd name="T4" fmla="*/ 0 w 360"/>
              <a:gd name="T5" fmla="*/ 216 h 216"/>
              <a:gd name="T6" fmla="*/ 142 w 360"/>
              <a:gd name="T7" fmla="*/ 0 h 216"/>
              <a:gd name="T8" fmla="*/ 360 w 360"/>
              <a:gd name="T9" fmla="*/ 0 h 216"/>
            </a:gdLst>
            <a:ahLst/>
            <a:cxnLst>
              <a:cxn ang="0">
                <a:pos x="T0" y="T1"/>
              </a:cxn>
              <a:cxn ang="0">
                <a:pos x="T2" y="T3"/>
              </a:cxn>
              <a:cxn ang="0">
                <a:pos x="T4" y="T5"/>
              </a:cxn>
              <a:cxn ang="0">
                <a:pos x="T6" y="T7"/>
              </a:cxn>
              <a:cxn ang="0">
                <a:pos x="T8" y="T9"/>
              </a:cxn>
            </a:cxnLst>
            <a:rect l="0" t="0" r="r" b="b"/>
            <a:pathLst>
              <a:path w="360" h="216">
                <a:moveTo>
                  <a:pt x="360" y="0"/>
                </a:moveTo>
                <a:lnTo>
                  <a:pt x="308" y="216"/>
                </a:lnTo>
                <a:lnTo>
                  <a:pt x="0" y="216"/>
                </a:lnTo>
                <a:lnTo>
                  <a:pt x="142" y="0"/>
                </a:lnTo>
                <a:lnTo>
                  <a:pt x="360"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 name="Freeform 323"/>
          <p:cNvSpPr/>
          <p:nvPr userDrawn="1"/>
        </p:nvSpPr>
        <p:spPr bwMode="auto">
          <a:xfrm>
            <a:off x="953809" y="310834"/>
            <a:ext cx="277500" cy="561834"/>
          </a:xfrm>
          <a:custGeom>
            <a:avLst/>
            <a:gdLst>
              <a:gd name="T0" fmla="*/ 203 w 203"/>
              <a:gd name="T1" fmla="*/ 0 h 411"/>
              <a:gd name="T2" fmla="*/ 203 w 203"/>
              <a:gd name="T3" fmla="*/ 411 h 411"/>
              <a:gd name="T4" fmla="*/ 0 w 203"/>
              <a:gd name="T5" fmla="*/ 411 h 411"/>
              <a:gd name="T6" fmla="*/ 0 w 203"/>
              <a:gd name="T7" fmla="*/ 0 h 411"/>
              <a:gd name="T8" fmla="*/ 47 w 203"/>
              <a:gd name="T9" fmla="*/ 0 h 411"/>
              <a:gd name="T10" fmla="*/ 47 w 203"/>
              <a:gd name="T11" fmla="*/ 99 h 411"/>
              <a:gd name="T12" fmla="*/ 85 w 203"/>
              <a:gd name="T13" fmla="*/ 63 h 411"/>
              <a:gd name="T14" fmla="*/ 132 w 203"/>
              <a:gd name="T15" fmla="*/ 99 h 411"/>
              <a:gd name="T16" fmla="*/ 132 w 203"/>
              <a:gd name="T17" fmla="*/ 0 h 411"/>
              <a:gd name="T18" fmla="*/ 203 w 203"/>
              <a:gd name="T19" fmla="*/ 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3" h="411">
                <a:moveTo>
                  <a:pt x="203" y="0"/>
                </a:moveTo>
                <a:lnTo>
                  <a:pt x="203" y="411"/>
                </a:lnTo>
                <a:lnTo>
                  <a:pt x="0" y="411"/>
                </a:lnTo>
                <a:lnTo>
                  <a:pt x="0" y="0"/>
                </a:lnTo>
                <a:lnTo>
                  <a:pt x="47" y="0"/>
                </a:lnTo>
                <a:lnTo>
                  <a:pt x="47" y="99"/>
                </a:lnTo>
                <a:lnTo>
                  <a:pt x="85" y="63"/>
                </a:lnTo>
                <a:lnTo>
                  <a:pt x="132" y="99"/>
                </a:lnTo>
                <a:lnTo>
                  <a:pt x="132" y="0"/>
                </a:lnTo>
                <a:lnTo>
                  <a:pt x="203"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 name="Freeform 326"/>
          <p:cNvSpPr/>
          <p:nvPr userDrawn="1"/>
        </p:nvSpPr>
        <p:spPr bwMode="auto">
          <a:xfrm>
            <a:off x="427518" y="753740"/>
            <a:ext cx="436071" cy="118928"/>
          </a:xfrm>
          <a:custGeom>
            <a:avLst/>
            <a:gdLst>
              <a:gd name="T0" fmla="*/ 135 w 135"/>
              <a:gd name="T1" fmla="*/ 32 h 37"/>
              <a:gd name="T2" fmla="*/ 135 w 135"/>
              <a:gd name="T3" fmla="*/ 37 h 37"/>
              <a:gd name="T4" fmla="*/ 14 w 135"/>
              <a:gd name="T5" fmla="*/ 37 h 37"/>
              <a:gd name="T6" fmla="*/ 0 w 135"/>
              <a:gd name="T7" fmla="*/ 23 h 37"/>
              <a:gd name="T8" fmla="*/ 0 w 135"/>
              <a:gd name="T9" fmla="*/ 14 h 37"/>
              <a:gd name="T10" fmla="*/ 14 w 135"/>
              <a:gd name="T11" fmla="*/ 0 h 37"/>
              <a:gd name="T12" fmla="*/ 135 w 135"/>
              <a:gd name="T13" fmla="*/ 0 h 37"/>
              <a:gd name="T14" fmla="*/ 135 w 135"/>
              <a:gd name="T15" fmla="*/ 5 h 37"/>
              <a:gd name="T16" fmla="*/ 18 w 135"/>
              <a:gd name="T17" fmla="*/ 5 h 37"/>
              <a:gd name="T18" fmla="*/ 5 w 135"/>
              <a:gd name="T19" fmla="*/ 15 h 37"/>
              <a:gd name="T20" fmla="*/ 5 w 135"/>
              <a:gd name="T21" fmla="*/ 21 h 37"/>
              <a:gd name="T22" fmla="*/ 18 w 135"/>
              <a:gd name="T23" fmla="*/ 32 h 37"/>
              <a:gd name="T24" fmla="*/ 135 w 135"/>
              <a:gd name="T25" fmla="*/ 32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5" h="37">
                <a:moveTo>
                  <a:pt x="135" y="32"/>
                </a:moveTo>
                <a:cubicBezTo>
                  <a:pt x="135" y="37"/>
                  <a:pt x="135" y="37"/>
                  <a:pt x="135" y="37"/>
                </a:cubicBezTo>
                <a:cubicBezTo>
                  <a:pt x="14" y="37"/>
                  <a:pt x="14" y="37"/>
                  <a:pt x="14" y="37"/>
                </a:cubicBezTo>
                <a:cubicBezTo>
                  <a:pt x="6" y="37"/>
                  <a:pt x="0" y="30"/>
                  <a:pt x="0" y="23"/>
                </a:cubicBezTo>
                <a:cubicBezTo>
                  <a:pt x="0" y="14"/>
                  <a:pt x="0" y="14"/>
                  <a:pt x="0" y="14"/>
                </a:cubicBezTo>
                <a:cubicBezTo>
                  <a:pt x="0" y="6"/>
                  <a:pt x="6" y="0"/>
                  <a:pt x="14" y="0"/>
                </a:cubicBezTo>
                <a:cubicBezTo>
                  <a:pt x="135" y="0"/>
                  <a:pt x="135" y="0"/>
                  <a:pt x="135" y="0"/>
                </a:cubicBezTo>
                <a:cubicBezTo>
                  <a:pt x="135" y="5"/>
                  <a:pt x="135" y="5"/>
                  <a:pt x="135" y="5"/>
                </a:cubicBezTo>
                <a:cubicBezTo>
                  <a:pt x="18" y="5"/>
                  <a:pt x="18" y="5"/>
                  <a:pt x="18" y="5"/>
                </a:cubicBezTo>
                <a:cubicBezTo>
                  <a:pt x="11" y="5"/>
                  <a:pt x="5" y="9"/>
                  <a:pt x="5" y="15"/>
                </a:cubicBezTo>
                <a:cubicBezTo>
                  <a:pt x="5" y="21"/>
                  <a:pt x="5" y="21"/>
                  <a:pt x="5" y="21"/>
                </a:cubicBezTo>
                <a:cubicBezTo>
                  <a:pt x="5" y="27"/>
                  <a:pt x="11" y="32"/>
                  <a:pt x="18" y="32"/>
                </a:cubicBezTo>
                <a:lnTo>
                  <a:pt x="135" y="32"/>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 name="Rectangle 328"/>
          <p:cNvSpPr>
            <a:spLocks noChangeArrowheads="1"/>
          </p:cNvSpPr>
          <p:nvPr userDrawn="1"/>
        </p:nvSpPr>
        <p:spPr bwMode="auto">
          <a:xfrm>
            <a:off x="491765" y="78928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328"/>
          <p:cNvSpPr>
            <a:spLocks noChangeArrowheads="1"/>
          </p:cNvSpPr>
          <p:nvPr userDrawn="1"/>
        </p:nvSpPr>
        <p:spPr bwMode="auto">
          <a:xfrm>
            <a:off x="491765" y="821032"/>
            <a:ext cx="371822" cy="19138"/>
          </a:xfrm>
          <a:prstGeom prst="rect">
            <a:avLst/>
          </a:pr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Freeform 324"/>
          <p:cNvSpPr/>
          <p:nvPr userDrawn="1"/>
        </p:nvSpPr>
        <p:spPr bwMode="auto">
          <a:xfrm>
            <a:off x="1026358" y="288275"/>
            <a:ext cx="94323" cy="123029"/>
          </a:xfrm>
          <a:custGeom>
            <a:avLst/>
            <a:gdLst>
              <a:gd name="T0" fmla="*/ 29 w 29"/>
              <a:gd name="T1" fmla="*/ 0 h 38"/>
              <a:gd name="T2" fmla="*/ 29 w 29"/>
              <a:gd name="T3" fmla="*/ 38 h 38"/>
              <a:gd name="T4" fmla="*/ 12 w 29"/>
              <a:gd name="T5" fmla="*/ 26 h 38"/>
              <a:gd name="T6" fmla="*/ 1 w 29"/>
              <a:gd name="T7" fmla="*/ 37 h 38"/>
              <a:gd name="T8" fmla="*/ 1 w 29"/>
              <a:gd name="T9" fmla="*/ 0 h 38"/>
              <a:gd name="T10" fmla="*/ 29 w 29"/>
              <a:gd name="T11" fmla="*/ 0 h 38"/>
            </a:gdLst>
            <a:ahLst/>
            <a:cxnLst>
              <a:cxn ang="0">
                <a:pos x="T0" y="T1"/>
              </a:cxn>
              <a:cxn ang="0">
                <a:pos x="T2" y="T3"/>
              </a:cxn>
              <a:cxn ang="0">
                <a:pos x="T4" y="T5"/>
              </a:cxn>
              <a:cxn ang="0">
                <a:pos x="T6" y="T7"/>
              </a:cxn>
              <a:cxn ang="0">
                <a:pos x="T8" y="T9"/>
              </a:cxn>
              <a:cxn ang="0">
                <a:pos x="T10" y="T11"/>
              </a:cxn>
            </a:cxnLst>
            <a:rect l="0" t="0" r="r" b="b"/>
            <a:pathLst>
              <a:path w="29" h="38">
                <a:moveTo>
                  <a:pt x="29" y="0"/>
                </a:moveTo>
                <a:cubicBezTo>
                  <a:pt x="29" y="38"/>
                  <a:pt x="29" y="38"/>
                  <a:pt x="29" y="38"/>
                </a:cubicBezTo>
                <a:cubicBezTo>
                  <a:pt x="12" y="26"/>
                  <a:pt x="12" y="26"/>
                  <a:pt x="12" y="26"/>
                </a:cubicBezTo>
                <a:cubicBezTo>
                  <a:pt x="12" y="26"/>
                  <a:pt x="1" y="37"/>
                  <a:pt x="1" y="37"/>
                </a:cubicBezTo>
                <a:cubicBezTo>
                  <a:pt x="0" y="38"/>
                  <a:pt x="1" y="0"/>
                  <a:pt x="1" y="0"/>
                </a:cubicBezTo>
                <a:lnTo>
                  <a:pt x="29" y="0"/>
                </a:lnTo>
                <a:close/>
              </a:path>
            </a:pathLst>
          </a:custGeom>
          <a:gradFill>
            <a:gsLst>
              <a:gs pos="0">
                <a:srgbClr val="012D86"/>
              </a:gs>
              <a:gs pos="100000">
                <a:srgbClr val="0E2557"/>
              </a:gs>
            </a:gsLst>
            <a:lin scaled="0"/>
          </a:gra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文本框 13"/>
          <p:cNvSpPr txBox="1"/>
          <p:nvPr userDrawn="1"/>
        </p:nvSpPr>
        <p:spPr>
          <a:xfrm>
            <a:off x="1588100" y="371061"/>
            <a:ext cx="6097464" cy="523220"/>
          </a:xfrm>
          <a:prstGeom prst="rect">
            <a:avLst/>
          </a:prstGeom>
          <a:noFill/>
        </p:spPr>
        <p:txBody>
          <a:bodyPr wrap="square">
            <a:spAutoFit/>
          </a:bodyPr>
          <a:lstStyle/>
          <a:p>
            <a:pPr marL="0" algn="l" rtl="0" eaLnBrk="1" latinLnBrk="0" hangingPunct="1">
              <a:spcBef>
                <a:spcPts val="0"/>
              </a:spcBef>
              <a:spcAft>
                <a:spcPts val="0"/>
              </a:spcAft>
            </a:pPr>
            <a:r>
              <a:rPr lang="zh-CN" altLang="en-US" sz="2800" b="1" kern="1200" spc="0" dirty="0">
                <a:solidFill>
                  <a:schemeClr val="tx1"/>
                </a:solidFill>
                <a:effectLst/>
                <a:latin typeface="微软雅黑" panose="020B0503020204020204" pitchFamily="34" charset="-122"/>
                <a:ea typeface="微软雅黑" panose="020B0503020204020204" pitchFamily="34" charset="-122"/>
                <a:cs typeface="+mn-cs"/>
              </a:rPr>
              <a:t>下一步工作计划</a:t>
            </a:r>
          </a:p>
        </p:txBody>
      </p:sp>
    </p:spTree>
    <p:extLst>
      <p:ext uri="{BB962C8B-B14F-4D97-AF65-F5344CB8AC3E}">
        <p14:creationId xmlns:p14="http://schemas.microsoft.com/office/powerpoint/2010/main" val="1759881592"/>
      </p:ext>
    </p:extLst>
  </p:cSld>
  <p:clrMapOvr>
    <a:masterClrMapping/>
  </p:clrMapOvr>
  <p:transition>
    <p:wipe/>
  </p:transition>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_自定义版式">
    <p:bg>
      <p:bgPr>
        <a:solidFill>
          <a:schemeClr val="bg1"/>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52E5F48D-8C14-4C74-B0DA-6DF5BD85EA04}" type="datetime5">
              <a:rPr lang="zh-HK" altLang="en-US" smtClean="0">
                <a:solidFill>
                  <a:prstClr val="black">
                    <a:tint val="75000"/>
                  </a:prstClr>
                </a:solidFill>
              </a:rPr>
              <a:t>2025/5/31</a:t>
            </a:fld>
            <a:endParaRPr lang="zh-HK" altLang="en-US" dirty="0">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hf sldNum="0"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4" name="页脚占位符 3"/>
          <p:cNvSpPr>
            <a:spLocks noGrp="1"/>
          </p:cNvSpPr>
          <p:nvPr>
            <p:ph type="ftr" sz="quarter" idx="11"/>
          </p:nvPr>
        </p:nvSpPr>
        <p:spPr/>
        <p:txBody>
          <a:bodyPr/>
          <a:lstStyle/>
          <a:p>
            <a:endParaRPr lang="zh-HK" altLang="en-US">
              <a:solidFill>
                <a:prstClr val="black">
                  <a:tint val="75000"/>
                </a:prstClr>
              </a:solidFill>
            </a:endParaRPr>
          </a:p>
        </p:txBody>
      </p:sp>
      <p:sp>
        <p:nvSpPr>
          <p:cNvPr id="5" name="灯片编号占位符 4"/>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zh-HK" alt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zh-HK" alt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zh-HK" alt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zh-HK" alt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Ovr>
    <a:masterClrMapping/>
  </p:clrMapOvr>
  <p:transition>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theme" Target="../theme/theme2.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012D86"/>
            </a:gs>
            <a:gs pos="100000">
              <a:srgbClr val="0E2557"/>
            </a:gs>
          </a:gsLst>
          <a:lin ang="5400000" scaled="0"/>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6EF31D4-1AA4-45E7-8F10-C007A9A6DDB0}" type="datetimeFigureOut">
              <a:rPr lang="zh-HK" altLang="en-US" smtClean="0"/>
              <a:t>31/5/2025</a:t>
            </a:fld>
            <a:endParaRPr lang="zh-HK"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HK"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E45C72C-05F9-42DA-A32C-E89F323A6F21}" type="slidenum">
              <a:rPr lang="zh-HK" altLang="en-US" smtClean="0"/>
              <a:t>‹#›</a:t>
            </a:fld>
            <a:endParaRPr lang="zh-HK"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012D86"/>
            </a:gs>
            <a:gs pos="100000">
              <a:srgbClr val="0E2557"/>
            </a:gs>
          </a:gsLst>
          <a:lin ang="5400000" scaled="0"/>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A18431-54C4-4585-82AD-D4BDE8FCC787}" type="datetimeFigureOut">
              <a:rPr lang="zh-HK" altLang="en-US" smtClean="0">
                <a:solidFill>
                  <a:prstClr val="black">
                    <a:tint val="75000"/>
                  </a:prstClr>
                </a:solidFill>
              </a:rPr>
              <a:t>31/5/2025</a:t>
            </a:fld>
            <a:endParaRPr lang="zh-HK" altLang="en-US">
              <a:solidFill>
                <a:prstClr val="black">
                  <a:tint val="75000"/>
                </a:prstClr>
              </a:solidFill>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HK" altLang="en-US">
              <a:solidFill>
                <a:prstClr val="black">
                  <a:tint val="75000"/>
                </a:prstClr>
              </a:solidFill>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592E714-8771-4256-B120-A1444CD7D5F3}" type="slidenum">
              <a:rPr lang="zh-HK" altLang="en-US" smtClean="0">
                <a:solidFill>
                  <a:prstClr val="black">
                    <a:tint val="75000"/>
                  </a:prstClr>
                </a:solidFill>
              </a:rPr>
              <a:t>‹#›</a:t>
            </a:fld>
            <a:endParaRPr lang="zh-HK" altLang="en-US">
              <a:solidFill>
                <a:prstClr val="black">
                  <a:tint val="75000"/>
                </a:prstClr>
              </a:solidFill>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7" r:id="rId11"/>
    <p:sldLayoutId id="2147483678" r:id="rId12"/>
    <p:sldLayoutId id="2147483671" r:id="rId13"/>
    <p:sldLayoutId id="2147483672" r:id="rId14"/>
    <p:sldLayoutId id="2147483673" r:id="rId15"/>
    <p:sldLayoutId id="2147483674" r:id="rId16"/>
    <p:sldLayoutId id="2147483675" r:id="rId17"/>
    <p:sldLayoutId id="2147483676" r:id="rId18"/>
  </p:sldLayoutIdLst>
  <p:transition>
    <p:wipe/>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8.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package" Target="../embeddings/Microsoft_Visio_Drawing.vsdx"/><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package" Target="../embeddings/Microsoft_Visio_Drawing1.vsdx"/><Relationship Id="rId2" Type="http://schemas.openxmlformats.org/officeDocument/2006/relationships/notesSlide" Target="../notesSlides/notesSlide12.xml"/><Relationship Id="rId1" Type="http://schemas.openxmlformats.org/officeDocument/2006/relationships/slideLayout" Target="../slideLayouts/slideLayout21.xml"/><Relationship Id="rId4" Type="http://schemas.openxmlformats.org/officeDocument/2006/relationships/image" Target="../media/image11.emf"/></Relationships>
</file>

<file path=ppt/slides/_rels/slide18.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3.xml"/><Relationship Id="rId1" Type="http://schemas.openxmlformats.org/officeDocument/2006/relationships/tags" Target="../tags/tag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文本框 6"/>
          <p:cNvSpPr txBox="1"/>
          <p:nvPr/>
        </p:nvSpPr>
        <p:spPr>
          <a:xfrm>
            <a:off x="3370276" y="2555866"/>
            <a:ext cx="5451475" cy="1446550"/>
          </a:xfrm>
          <a:prstGeom prst="rect">
            <a:avLst/>
          </a:prstGeom>
          <a:noFill/>
        </p:spPr>
        <p:txBody>
          <a:bodyPr wrap="square" rtlCol="0">
            <a:spAutoFit/>
          </a:bodyPr>
          <a:lstStyle/>
          <a:p>
            <a:pPr algn="ctr"/>
            <a:r>
              <a:rPr lang="zh-CN" altLang="en-US" sz="7200" b="1" spc="300" dirty="0">
                <a:solidFill>
                  <a:schemeClr val="bg1"/>
                </a:solidFill>
                <a:latin typeface="微软雅黑" panose="020B0503020204020204" pitchFamily="34" charset="-122"/>
                <a:ea typeface="微软雅黑" panose="020B0503020204020204" pitchFamily="34" charset="-122"/>
              </a:rPr>
              <a:t>我们毕业啦</a:t>
            </a:r>
            <a:endParaRPr lang="en-US" altLang="zh-CN" sz="7200" b="1" spc="300" dirty="0">
              <a:solidFill>
                <a:schemeClr val="bg1"/>
              </a:solidFill>
              <a:latin typeface="微软雅黑" panose="020B0503020204020204" pitchFamily="34" charset="-122"/>
              <a:ea typeface="微软雅黑" panose="020B0503020204020204" pitchFamily="34" charset="-122"/>
            </a:endParaRPr>
          </a:p>
          <a:p>
            <a:pPr algn="ctr"/>
            <a:r>
              <a:rPr lang="zh-CN" altLang="en-US" sz="1600" b="1" spc="300" dirty="0">
                <a:solidFill>
                  <a:schemeClr val="bg1"/>
                </a:solidFill>
                <a:latin typeface="微软雅黑" panose="020B0503020204020204" pitchFamily="34" charset="-122"/>
                <a:ea typeface="微软雅黑" panose="020B0503020204020204" pitchFamily="34" charset="-122"/>
              </a:rPr>
              <a:t>其实是答辩的标题地方</a:t>
            </a:r>
            <a:endParaRPr lang="en-US" altLang="zh-CN" sz="1600" b="1" spc="300" dirty="0">
              <a:solidFill>
                <a:schemeClr val="bg1"/>
              </a:solidFill>
              <a:latin typeface="微软雅黑" panose="020B0503020204020204" pitchFamily="34" charset="-122"/>
              <a:ea typeface="微软雅黑" panose="020B0503020204020204" pitchFamily="34" charset="-122"/>
            </a:endParaRPr>
          </a:p>
        </p:txBody>
      </p:sp>
      <p:sp>
        <p:nvSpPr>
          <p:cNvPr id="17" name="矩形 16"/>
          <p:cNvSpPr/>
          <p:nvPr/>
        </p:nvSpPr>
        <p:spPr>
          <a:xfrm>
            <a:off x="0" y="2012315"/>
            <a:ext cx="12192000" cy="2833370"/>
          </a:xfrm>
          <a:prstGeom prst="rect">
            <a:avLst/>
          </a:prstGeom>
          <a:gradFill>
            <a:gsLst>
              <a:gs pos="0">
                <a:srgbClr val="012D86"/>
              </a:gs>
              <a:gs pos="100000">
                <a:srgbClr val="0E2557"/>
              </a:gs>
            </a:gsLst>
            <a:lin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文本框 17"/>
          <p:cNvSpPr txBox="1"/>
          <p:nvPr/>
        </p:nvSpPr>
        <p:spPr>
          <a:xfrm>
            <a:off x="651164" y="2314936"/>
            <a:ext cx="10889671" cy="2123658"/>
          </a:xfrm>
          <a:prstGeom prst="rect">
            <a:avLst/>
          </a:prstGeom>
          <a:noFill/>
        </p:spPr>
        <p:txBody>
          <a:bodyPr wrap="square" rtlCol="0">
            <a:spAutoFit/>
          </a:bodyPr>
          <a:lstStyle/>
          <a:p>
            <a:pPr algn="ctr"/>
            <a:r>
              <a:rPr lang="zh-CN" altLang="en-US" sz="6600" b="1" spc="300" dirty="0">
                <a:solidFill>
                  <a:schemeClr val="bg1"/>
                </a:solidFill>
                <a:latin typeface="楷体" panose="02010609060101010101" pitchFamily="49" charset="-122"/>
                <a:ea typeface="楷体" panose="02010609060101010101" pitchFamily="49" charset="-122"/>
                <a:cs typeface="Times New Roman" panose="02020603050405020304" pitchFamily="18" charset="0"/>
                <a:sym typeface="+mn-ea"/>
              </a:rPr>
              <a:t>分布式线控底盘车辆底盘域</a:t>
            </a:r>
            <a:endParaRPr lang="en-US" altLang="zh-CN" sz="6600" b="1" spc="300" dirty="0">
              <a:solidFill>
                <a:schemeClr val="bg1"/>
              </a:solidFill>
              <a:latin typeface="楷体" panose="02010609060101010101" pitchFamily="49" charset="-122"/>
              <a:ea typeface="楷体" panose="02010609060101010101" pitchFamily="49" charset="-122"/>
              <a:cs typeface="Times New Roman" panose="02020603050405020304" pitchFamily="18" charset="0"/>
              <a:sym typeface="+mn-ea"/>
            </a:endParaRPr>
          </a:p>
          <a:p>
            <a:pPr algn="ctr"/>
            <a:r>
              <a:rPr lang="zh-CN" altLang="en-US" sz="6600" b="1" spc="300" dirty="0">
                <a:solidFill>
                  <a:schemeClr val="bg1"/>
                </a:solidFill>
                <a:latin typeface="楷体" panose="02010609060101010101" pitchFamily="49" charset="-122"/>
                <a:ea typeface="楷体" panose="02010609060101010101" pitchFamily="49" charset="-122"/>
                <a:cs typeface="Times New Roman" panose="02020603050405020304" pitchFamily="18" charset="0"/>
                <a:sym typeface="+mn-ea"/>
              </a:rPr>
              <a:t>运动控制算法研究</a:t>
            </a:r>
          </a:p>
        </p:txBody>
      </p:sp>
      <p:sp>
        <p:nvSpPr>
          <p:cNvPr id="23" name="矩形 22"/>
          <p:cNvSpPr/>
          <p:nvPr/>
        </p:nvSpPr>
        <p:spPr>
          <a:xfrm>
            <a:off x="6619759" y="5187046"/>
            <a:ext cx="3312000"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rPr>
              <a:t>汇报人：张毅</a:t>
            </a:r>
          </a:p>
        </p:txBody>
      </p:sp>
      <p:sp>
        <p:nvSpPr>
          <p:cNvPr id="4" name="矩形 3"/>
          <p:cNvSpPr/>
          <p:nvPr/>
        </p:nvSpPr>
        <p:spPr>
          <a:xfrm>
            <a:off x="1989736" y="5170292"/>
            <a:ext cx="3313786"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sym typeface="字魂105号-简雅黑" panose="00000500000000000000" pitchFamily="2" charset="-122"/>
              </a:rPr>
              <a:t>硕士论文中期答辩</a:t>
            </a:r>
          </a:p>
        </p:txBody>
      </p:sp>
      <p:sp>
        <p:nvSpPr>
          <p:cNvPr id="6" name="矩形 5"/>
          <p:cNvSpPr/>
          <p:nvPr/>
        </p:nvSpPr>
        <p:spPr>
          <a:xfrm>
            <a:off x="6619760" y="6000422"/>
            <a:ext cx="3312000"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fld id="{E0C9D230-84E1-4F2B-990A-9E9CD7B7D2F6}" type="datetime2">
              <a:rPr lang="zh-CN" altLang="en-US" sz="2000" b="1">
                <a:solidFill>
                  <a:schemeClr val="bg1"/>
                </a:solidFill>
                <a:latin typeface="微软雅黑" panose="020B0503020204020204" pitchFamily="34" charset="-122"/>
                <a:ea typeface="微软雅黑" panose="020B0503020204020204" pitchFamily="34" charset="-122"/>
              </a:rPr>
              <a:t>2025年5月31日</a:t>
            </a:fld>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5" name="矩形 4"/>
          <p:cNvSpPr/>
          <p:nvPr/>
        </p:nvSpPr>
        <p:spPr>
          <a:xfrm>
            <a:off x="1989736" y="6000422"/>
            <a:ext cx="3313786"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rPr>
              <a:t>导师：宗长富 教授</a:t>
            </a:r>
          </a:p>
        </p:txBody>
      </p:sp>
      <p:pic>
        <p:nvPicPr>
          <p:cNvPr id="8"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36530" y="672048"/>
            <a:ext cx="4832839" cy="84918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AutoShape 55"/>
          <p:cNvSpPr>
            <a:spLocks noChangeArrowheads="1"/>
          </p:cNvSpPr>
          <p:nvPr/>
        </p:nvSpPr>
        <p:spPr bwMode="ltGray">
          <a:xfrm rot="5400000">
            <a:off x="-2700763" y="127714"/>
            <a:ext cx="5716722" cy="6834241"/>
          </a:xfrm>
          <a:custGeom>
            <a:avLst/>
            <a:gdLst>
              <a:gd name="T0" fmla="*/ 30 w 21600"/>
              <a:gd name="T1" fmla="*/ 0 h 21600"/>
              <a:gd name="T2" fmla="*/ 0 w 21600"/>
              <a:gd name="T3" fmla="*/ 29 h 21600"/>
              <a:gd name="T4" fmla="*/ 30 w 21600"/>
              <a:gd name="T5" fmla="*/ 1 h 21600"/>
              <a:gd name="T6" fmla="*/ 60 w 21600"/>
              <a:gd name="T7" fmla="*/ 29 h 21600"/>
              <a:gd name="T8" fmla="*/ 0 60000 65536"/>
              <a:gd name="T9" fmla="*/ 0 60000 65536"/>
              <a:gd name="T10" fmla="*/ 0 60000 65536"/>
              <a:gd name="T11" fmla="*/ 0 60000 65536"/>
              <a:gd name="T12" fmla="*/ 398 w 21600"/>
              <a:gd name="T13" fmla="*/ 0 h 21600"/>
              <a:gd name="T14" fmla="*/ 21202 w 21600"/>
              <a:gd name="T15" fmla="*/ 13628 h 21600"/>
            </a:gdLst>
            <a:ahLst/>
            <a:cxnLst>
              <a:cxn ang="T8">
                <a:pos x="T0" y="T1"/>
              </a:cxn>
              <a:cxn ang="T9">
                <a:pos x="T2" y="T3"/>
              </a:cxn>
              <a:cxn ang="T10">
                <a:pos x="T4" y="T5"/>
              </a:cxn>
              <a:cxn ang="T11">
                <a:pos x="T6" y="T7"/>
              </a:cxn>
            </a:cxnLst>
            <a:rect l="T12" t="T13" r="T14" b="T15"/>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1">
            <a:gsLst>
              <a:gs pos="0">
                <a:srgbClr val="E2E2E2"/>
              </a:gs>
              <a:gs pos="50000">
                <a:srgbClr val="C0C0C0"/>
              </a:gs>
              <a:gs pos="100000">
                <a:srgbClr val="E2E2E2"/>
              </a:gs>
            </a:gsLst>
            <a:lin ang="0" scaled="1"/>
          </a:gradFill>
          <a:ln w="9525" algn="ctr">
            <a:noFill/>
            <a:miter lim="800000"/>
          </a:ln>
        </p:spPr>
        <p:txBody>
          <a:bodyPr wrap="none" anchor="ctr"/>
          <a:lstStyle/>
          <a:p>
            <a:endParaRPr lang="zh-CN" altLang="en-US" sz="2449" dirty="0">
              <a:latin typeface="微软雅黑" panose="020B0503020204020204" pitchFamily="34" charset="-122"/>
              <a:ea typeface="微软雅黑" panose="020B0503020204020204" pitchFamily="34" charset="-122"/>
            </a:endParaRPr>
          </a:p>
        </p:txBody>
      </p:sp>
      <p:sp>
        <p:nvSpPr>
          <p:cNvPr id="52" name="AutoShape 56"/>
          <p:cNvSpPr>
            <a:spLocks noChangeArrowheads="1"/>
          </p:cNvSpPr>
          <p:nvPr/>
        </p:nvSpPr>
        <p:spPr bwMode="ltGray">
          <a:xfrm rot="5400000" flipH="1">
            <a:off x="-2216640" y="747330"/>
            <a:ext cx="4778043" cy="5628867"/>
          </a:xfrm>
          <a:custGeom>
            <a:avLst/>
            <a:gdLst>
              <a:gd name="T0" fmla="*/ 18 w 21600"/>
              <a:gd name="T1" fmla="*/ 0 h 21600"/>
              <a:gd name="T2" fmla="*/ 9 w 21600"/>
              <a:gd name="T3" fmla="*/ 16 h 21600"/>
              <a:gd name="T4" fmla="*/ 18 w 21600"/>
              <a:gd name="T5" fmla="*/ 16 h 21600"/>
              <a:gd name="T6" fmla="*/ 26 w 21600"/>
              <a:gd name="T7" fmla="*/ 16 h 21600"/>
              <a:gd name="T8" fmla="*/ 0 60000 65536"/>
              <a:gd name="T9" fmla="*/ 0 60000 65536"/>
              <a:gd name="T10" fmla="*/ 0 60000 65536"/>
              <a:gd name="T11" fmla="*/ 0 60000 65536"/>
              <a:gd name="T12" fmla="*/ 0 w 21600"/>
              <a:gd name="T13" fmla="*/ 0 h 21600"/>
              <a:gd name="T14" fmla="*/ 21600 w 21600"/>
              <a:gd name="T15" fmla="*/ 7715 h 21600"/>
            </a:gdLst>
            <a:ahLst/>
            <a:cxnLst>
              <a:cxn ang="T8">
                <a:pos x="T0" y="T1"/>
              </a:cxn>
              <a:cxn ang="T9">
                <a:pos x="T2" y="T3"/>
              </a:cxn>
              <a:cxn ang="T10">
                <a:pos x="T4" y="T5"/>
              </a:cxn>
              <a:cxn ang="T11">
                <a:pos x="T6" y="T7"/>
              </a:cxn>
            </a:cxnLst>
            <a:rect l="T12" t="T13" r="T14" b="T15"/>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1">
            <a:gsLst>
              <a:gs pos="0">
                <a:srgbClr val="6699FF">
                  <a:alpha val="56000"/>
                </a:srgbClr>
              </a:gs>
              <a:gs pos="100000">
                <a:srgbClr val="FFFFFF">
                  <a:alpha val="48000"/>
                </a:srgbClr>
              </a:gs>
            </a:gsLst>
            <a:lin ang="5400000" scaled="1"/>
          </a:gradFill>
          <a:ln w="0" algn="ctr">
            <a:noFill/>
            <a:miter lim="800000"/>
          </a:ln>
        </p:spPr>
        <p:txBody>
          <a:bodyPr wrap="none" anchor="ctr"/>
          <a:lstStyle/>
          <a:p>
            <a:endParaRPr lang="zh-CN" altLang="en-US" sz="2449" dirty="0">
              <a:latin typeface="微软雅黑" panose="020B0503020204020204" pitchFamily="34" charset="-122"/>
              <a:ea typeface="微软雅黑" panose="020B0503020204020204" pitchFamily="34" charset="-122"/>
            </a:endParaRPr>
          </a:p>
        </p:txBody>
      </p:sp>
      <p:sp>
        <p:nvSpPr>
          <p:cNvPr id="222" name="TextBox 78"/>
          <p:cNvSpPr txBox="1"/>
          <p:nvPr/>
        </p:nvSpPr>
        <p:spPr>
          <a:xfrm>
            <a:off x="91137" y="3962699"/>
            <a:ext cx="2786596" cy="650306"/>
          </a:xfrm>
          <a:prstGeom prst="rect">
            <a:avLst/>
          </a:prstGeom>
          <a:noFill/>
        </p:spPr>
        <p:txBody>
          <a:bodyPr wrap="none" rtlCol="0">
            <a:spAutoFit/>
          </a:bodyPr>
          <a:lstStyle/>
          <a:p>
            <a:pPr algn="ctr"/>
            <a:r>
              <a:rPr lang="en-US" altLang="zh-CN" sz="3626" b="1" dirty="0">
                <a:solidFill>
                  <a:srgbClr val="0A2B7B"/>
                </a:solidFill>
                <a:latin typeface="微软雅黑" panose="020B0503020204020204" pitchFamily="34" charset="-122"/>
                <a:ea typeface="微软雅黑" panose="020B0503020204020204" pitchFamily="34" charset="-122"/>
                <a:sym typeface="字魂105号-简雅黑" panose="00000500000000000000" pitchFamily="2" charset="-122"/>
              </a:rPr>
              <a:t>CONTENTS</a:t>
            </a:r>
            <a:endParaRPr lang="zh-CN" altLang="en-US" sz="3626" b="1" dirty="0">
              <a:solidFill>
                <a:srgbClr val="0A2B7B"/>
              </a:solidFill>
              <a:latin typeface="微软雅黑" panose="020B0503020204020204" pitchFamily="34" charset="-122"/>
              <a:ea typeface="微软雅黑" panose="020B0503020204020204" pitchFamily="34" charset="-122"/>
              <a:sym typeface="字魂105号-简雅黑" panose="00000500000000000000" pitchFamily="2" charset="-122"/>
            </a:endParaRPr>
          </a:p>
        </p:txBody>
      </p:sp>
      <p:sp>
        <p:nvSpPr>
          <p:cNvPr id="223" name="TextBox 79"/>
          <p:cNvSpPr txBox="1"/>
          <p:nvPr/>
        </p:nvSpPr>
        <p:spPr>
          <a:xfrm>
            <a:off x="217103" y="2525716"/>
            <a:ext cx="2534668" cy="1320361"/>
          </a:xfrm>
          <a:prstGeom prst="rect">
            <a:avLst/>
          </a:prstGeom>
          <a:noFill/>
        </p:spPr>
        <p:txBody>
          <a:bodyPr wrap="none" rtlCol="0">
            <a:spAutoFit/>
          </a:bodyPr>
          <a:lstStyle/>
          <a:p>
            <a:pPr algn="ctr"/>
            <a:r>
              <a:rPr lang="zh-CN" altLang="en-US" sz="7980" b="1" dirty="0">
                <a:solidFill>
                  <a:srgbClr val="0A2B7B"/>
                </a:solidFill>
                <a:latin typeface="微软雅黑" panose="020B0503020204020204" pitchFamily="34" charset="-122"/>
                <a:ea typeface="微软雅黑" panose="020B0503020204020204" pitchFamily="34" charset="-122"/>
                <a:sym typeface="字魂105号-简雅黑" panose="00000500000000000000" pitchFamily="2" charset="-122"/>
              </a:rPr>
              <a:t>目 录</a:t>
            </a:r>
          </a:p>
        </p:txBody>
      </p:sp>
      <p:grpSp>
        <p:nvGrpSpPr>
          <p:cNvPr id="219" name="组合 218">
            <a:extLst>
              <a:ext uri="{FF2B5EF4-FFF2-40B4-BE49-F238E27FC236}">
                <a16:creationId xmlns:a16="http://schemas.microsoft.com/office/drawing/2014/main" id="{A81A9025-B6B4-828F-6C4C-C8DD51214646}"/>
              </a:ext>
            </a:extLst>
          </p:cNvPr>
          <p:cNvGrpSpPr/>
          <p:nvPr/>
        </p:nvGrpSpPr>
        <p:grpSpPr>
          <a:xfrm>
            <a:off x="1623224" y="793225"/>
            <a:ext cx="8967804" cy="5557864"/>
            <a:chOff x="1623224" y="793225"/>
            <a:chExt cx="8967804" cy="5557864"/>
          </a:xfrm>
        </p:grpSpPr>
        <p:sp>
          <p:nvSpPr>
            <p:cNvPr id="54" name="AutoShape 60"/>
            <p:cNvSpPr>
              <a:spLocks noChangeArrowheads="1"/>
            </p:cNvSpPr>
            <p:nvPr/>
          </p:nvSpPr>
          <p:spPr bwMode="gray">
            <a:xfrm>
              <a:off x="2202400" y="832907"/>
              <a:ext cx="7071369" cy="611854"/>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a:solidFill>
                    <a:srgbClr val="0A2B7B"/>
                  </a:solidFill>
                  <a:latin typeface="微软雅黑" panose="020B0503020204020204" pitchFamily="34" charset="-122"/>
                  <a:ea typeface="微软雅黑" panose="020B0503020204020204" pitchFamily="34" charset="-122"/>
                </a:rPr>
                <a:t>1</a:t>
              </a:r>
              <a:r>
                <a:rPr lang="zh-CN" altLang="en-US" sz="3265" b="1" spc="300">
                  <a:solidFill>
                    <a:srgbClr val="0A2B7B"/>
                  </a:solidFill>
                  <a:latin typeface="微软雅黑" panose="020B0503020204020204" pitchFamily="34" charset="-122"/>
                  <a:ea typeface="微软雅黑" panose="020B0503020204020204" pitchFamily="34" charset="-122"/>
                </a:rPr>
                <a:t>、</a:t>
              </a:r>
              <a:r>
                <a:rPr lang="zh-CN" altLang="en-US" sz="3265" b="1" spc="300" dirty="0">
                  <a:solidFill>
                    <a:srgbClr val="0A2B7B"/>
                  </a:solidFill>
                  <a:latin typeface="微软雅黑" panose="020B0503020204020204" pitchFamily="34" charset="-122"/>
                  <a:ea typeface="微软雅黑" panose="020B0503020204020204" pitchFamily="34" charset="-122"/>
                </a:rPr>
                <a:t>研究背景及意义 </a:t>
              </a:r>
            </a:p>
          </p:txBody>
        </p:sp>
        <p:sp>
          <p:nvSpPr>
            <p:cNvPr id="63" name="AutoShape 59"/>
            <p:cNvSpPr>
              <a:spLocks noChangeArrowheads="1"/>
            </p:cNvSpPr>
            <p:nvPr/>
          </p:nvSpPr>
          <p:spPr bwMode="gray">
            <a:xfrm>
              <a:off x="3257612" y="1808777"/>
              <a:ext cx="6858909" cy="611854"/>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dirty="0">
                  <a:solidFill>
                    <a:srgbClr val="0A2B7B"/>
                  </a:solidFill>
                  <a:latin typeface="微软雅黑" panose="020B0503020204020204" pitchFamily="34" charset="-122"/>
                  <a:ea typeface="微软雅黑" panose="020B0503020204020204" pitchFamily="34" charset="-122"/>
                </a:rPr>
                <a:t>2</a:t>
              </a:r>
              <a:r>
                <a:rPr lang="zh-CN" altLang="en-US" sz="3265" b="1" spc="300" dirty="0">
                  <a:solidFill>
                    <a:srgbClr val="0A2B7B"/>
                  </a:solidFill>
                  <a:latin typeface="微软雅黑" panose="020B0503020204020204" pitchFamily="34" charset="-122"/>
                  <a:ea typeface="微软雅黑" panose="020B0503020204020204" pitchFamily="34" charset="-122"/>
                </a:rPr>
                <a:t>、国内外研究现状 </a:t>
              </a:r>
            </a:p>
          </p:txBody>
        </p:sp>
        <p:sp>
          <p:nvSpPr>
            <p:cNvPr id="72" name="AutoShape 58"/>
            <p:cNvSpPr>
              <a:spLocks noChangeArrowheads="1"/>
            </p:cNvSpPr>
            <p:nvPr/>
          </p:nvSpPr>
          <p:spPr bwMode="gray">
            <a:xfrm>
              <a:off x="3722152" y="2792150"/>
              <a:ext cx="6855556" cy="656234"/>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dirty="0">
                  <a:solidFill>
                    <a:srgbClr val="0A2B7B"/>
                  </a:solidFill>
                  <a:latin typeface="微软雅黑" panose="020B0503020204020204" pitchFamily="34" charset="-122"/>
                  <a:ea typeface="微软雅黑" panose="020B0503020204020204" pitchFamily="34" charset="-122"/>
                </a:rPr>
                <a:t>3</a:t>
              </a:r>
              <a:r>
                <a:rPr lang="zh-CN" altLang="en-US" sz="3265" b="1" spc="300" dirty="0">
                  <a:solidFill>
                    <a:srgbClr val="0A2B7B"/>
                  </a:solidFill>
                  <a:latin typeface="微软雅黑" panose="020B0503020204020204" pitchFamily="34" charset="-122"/>
                  <a:ea typeface="微软雅黑" panose="020B0503020204020204" pitchFamily="34" charset="-122"/>
                </a:rPr>
                <a:t>、研究目标及内容</a:t>
              </a:r>
              <a:endParaRPr lang="en-US" altLang="zh-CN" sz="3265" b="1" spc="300" dirty="0">
                <a:solidFill>
                  <a:srgbClr val="0A2B7B"/>
                </a:solidFill>
                <a:latin typeface="微软雅黑" panose="020B0503020204020204" pitchFamily="34" charset="-122"/>
                <a:ea typeface="微软雅黑" panose="020B0503020204020204" pitchFamily="34" charset="-122"/>
              </a:endParaRPr>
            </a:p>
          </p:txBody>
        </p:sp>
        <p:sp>
          <p:nvSpPr>
            <p:cNvPr id="80" name="AutoShape 57"/>
            <p:cNvSpPr>
              <a:spLocks noChangeArrowheads="1"/>
            </p:cNvSpPr>
            <p:nvPr/>
          </p:nvSpPr>
          <p:spPr bwMode="gray">
            <a:xfrm>
              <a:off x="3735472" y="3790615"/>
              <a:ext cx="6855556" cy="656236"/>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dirty="0">
                  <a:solidFill>
                    <a:srgbClr val="0A2B7B"/>
                  </a:solidFill>
                  <a:latin typeface="微软雅黑" panose="020B0503020204020204" pitchFamily="34" charset="-122"/>
                  <a:ea typeface="微软雅黑" panose="020B0503020204020204" pitchFamily="34" charset="-122"/>
                </a:rPr>
                <a:t>4</a:t>
              </a:r>
              <a:r>
                <a:rPr lang="zh-CN" altLang="en-US" sz="3265" b="1" spc="300" dirty="0">
                  <a:solidFill>
                    <a:srgbClr val="0A2B7B"/>
                  </a:solidFill>
                  <a:latin typeface="微软雅黑" panose="020B0503020204020204" pitchFamily="34" charset="-122"/>
                  <a:ea typeface="微软雅黑" panose="020B0503020204020204" pitchFamily="34" charset="-122"/>
                </a:rPr>
                <a:t>、研究方法与技术路线</a:t>
              </a:r>
              <a:endParaRPr lang="en-US" altLang="zh-CN" sz="3265" b="1" spc="300" dirty="0">
                <a:solidFill>
                  <a:srgbClr val="0A2B7B"/>
                </a:solidFill>
                <a:latin typeface="微软雅黑" panose="020B0503020204020204" pitchFamily="34" charset="-122"/>
                <a:ea typeface="微软雅黑" panose="020B0503020204020204" pitchFamily="34" charset="-122"/>
              </a:endParaRPr>
            </a:p>
          </p:txBody>
        </p:sp>
        <p:sp>
          <p:nvSpPr>
            <p:cNvPr id="89" name="AutoShape 89"/>
            <p:cNvSpPr>
              <a:spLocks noChangeArrowheads="1"/>
            </p:cNvSpPr>
            <p:nvPr/>
          </p:nvSpPr>
          <p:spPr bwMode="gray">
            <a:xfrm>
              <a:off x="2234754" y="5677146"/>
              <a:ext cx="7039014" cy="643659"/>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dirty="0">
                  <a:solidFill>
                    <a:srgbClr val="0A2B7B"/>
                  </a:solidFill>
                  <a:latin typeface="微软雅黑" panose="020B0503020204020204" pitchFamily="34" charset="-122"/>
                  <a:ea typeface="微软雅黑" panose="020B0503020204020204" pitchFamily="34" charset="-122"/>
                </a:rPr>
                <a:t>6</a:t>
              </a:r>
              <a:r>
                <a:rPr lang="zh-CN" altLang="en-US" sz="3265" b="1" spc="300" dirty="0">
                  <a:solidFill>
                    <a:srgbClr val="0A2B7B"/>
                  </a:solidFill>
                  <a:latin typeface="微软雅黑" panose="020B0503020204020204" pitchFamily="34" charset="-122"/>
                  <a:ea typeface="微软雅黑" panose="020B0503020204020204" pitchFamily="34" charset="-122"/>
                </a:rPr>
                <a:t>、下一步工作计划</a:t>
              </a:r>
            </a:p>
          </p:txBody>
        </p:sp>
        <p:sp>
          <p:nvSpPr>
            <p:cNvPr id="98" name="AutoShape 105"/>
            <p:cNvSpPr>
              <a:spLocks noChangeArrowheads="1"/>
            </p:cNvSpPr>
            <p:nvPr/>
          </p:nvSpPr>
          <p:spPr bwMode="gray">
            <a:xfrm>
              <a:off x="3308926" y="4806938"/>
              <a:ext cx="6794271" cy="656236"/>
            </a:xfrm>
            <a:prstGeom prst="roundRect">
              <a:avLst>
                <a:gd name="adj" fmla="val 50000"/>
              </a:avLst>
            </a:prstGeom>
            <a:noFill/>
            <a:ln w="28575" algn="ctr">
              <a:solidFill>
                <a:srgbClr val="C0C0C0"/>
              </a:solidFill>
              <a:round/>
            </a:ln>
          </p:spPr>
          <p:txBody>
            <a:bodyPr wrap="none" anchor="ctr"/>
            <a:lstStyle/>
            <a:p>
              <a:pPr eaLnBrk="0" hangingPunct="0"/>
              <a:r>
                <a:rPr lang="en-US" altLang="zh-CN" sz="3265" b="1" spc="300" dirty="0">
                  <a:solidFill>
                    <a:srgbClr val="0A2B7B"/>
                  </a:solidFill>
                  <a:latin typeface="微软雅黑" panose="020B0503020204020204" pitchFamily="34" charset="-122"/>
                  <a:ea typeface="微软雅黑" panose="020B0503020204020204" pitchFamily="34" charset="-122"/>
                </a:rPr>
                <a:t>5</a:t>
              </a:r>
              <a:r>
                <a:rPr lang="zh-CN" altLang="en-US" sz="3265" b="1" spc="300" dirty="0">
                  <a:solidFill>
                    <a:srgbClr val="0A2B7B"/>
                  </a:solidFill>
                  <a:latin typeface="微软雅黑" panose="020B0503020204020204" pitchFamily="34" charset="-122"/>
                  <a:ea typeface="微软雅黑" panose="020B0503020204020204" pitchFamily="34" charset="-122"/>
                </a:rPr>
                <a:t>、阶段性研究成果</a:t>
              </a:r>
              <a:endParaRPr lang="en-US" altLang="zh-CN" sz="3265" b="1" spc="300" dirty="0">
                <a:solidFill>
                  <a:srgbClr val="0A2B7B"/>
                </a:solidFill>
                <a:latin typeface="微软雅黑" panose="020B0503020204020204" pitchFamily="34" charset="-122"/>
                <a:ea typeface="微软雅黑" panose="020B0503020204020204" pitchFamily="34" charset="-122"/>
              </a:endParaRPr>
            </a:p>
          </p:txBody>
        </p:sp>
        <p:grpSp>
          <p:nvGrpSpPr>
            <p:cNvPr id="38" name="组合 37">
              <a:extLst>
                <a:ext uri="{FF2B5EF4-FFF2-40B4-BE49-F238E27FC236}">
                  <a16:creationId xmlns:a16="http://schemas.microsoft.com/office/drawing/2014/main" id="{35829208-B4BE-F02C-94E0-F6FF2824E22D}"/>
                </a:ext>
              </a:extLst>
            </p:cNvPr>
            <p:cNvGrpSpPr/>
            <p:nvPr/>
          </p:nvGrpSpPr>
          <p:grpSpPr>
            <a:xfrm>
              <a:off x="1623224" y="793225"/>
              <a:ext cx="754594" cy="703789"/>
              <a:chOff x="1002056" y="622589"/>
              <a:chExt cx="949366" cy="913433"/>
            </a:xfrm>
          </p:grpSpPr>
          <p:sp>
            <p:nvSpPr>
              <p:cNvPr id="39" name="Oval 62">
                <a:extLst>
                  <a:ext uri="{FF2B5EF4-FFF2-40B4-BE49-F238E27FC236}">
                    <a16:creationId xmlns:a16="http://schemas.microsoft.com/office/drawing/2014/main" id="{70163E8C-FD37-7F7E-7404-CA46E3F28B14}"/>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40" name="Oval 63">
                <a:extLst>
                  <a:ext uri="{FF2B5EF4-FFF2-40B4-BE49-F238E27FC236}">
                    <a16:creationId xmlns:a16="http://schemas.microsoft.com/office/drawing/2014/main" id="{1EE2606B-2E96-9DB2-B667-8F152296E933}"/>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41" name="Oval 65">
                <a:extLst>
                  <a:ext uri="{FF2B5EF4-FFF2-40B4-BE49-F238E27FC236}">
                    <a16:creationId xmlns:a16="http://schemas.microsoft.com/office/drawing/2014/main" id="{058CBECE-511C-FBA6-00CF-84DAECE484A0}"/>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42" name="Oval 67">
                <a:extLst>
                  <a:ext uri="{FF2B5EF4-FFF2-40B4-BE49-F238E27FC236}">
                    <a16:creationId xmlns:a16="http://schemas.microsoft.com/office/drawing/2014/main" id="{554C0586-0081-8652-627D-0B32CC85FF17}"/>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nvGrpSpPr>
            <p:cNvPr id="114" name="组合 113">
              <a:extLst>
                <a:ext uri="{FF2B5EF4-FFF2-40B4-BE49-F238E27FC236}">
                  <a16:creationId xmlns:a16="http://schemas.microsoft.com/office/drawing/2014/main" id="{797D1306-EA8E-8DC7-FCD7-46E27D46193D}"/>
                </a:ext>
              </a:extLst>
            </p:cNvPr>
            <p:cNvGrpSpPr/>
            <p:nvPr/>
          </p:nvGrpSpPr>
          <p:grpSpPr>
            <a:xfrm>
              <a:off x="2683235" y="1761756"/>
              <a:ext cx="754594" cy="703789"/>
              <a:chOff x="1002056" y="622589"/>
              <a:chExt cx="949366" cy="913433"/>
            </a:xfrm>
          </p:grpSpPr>
          <p:sp>
            <p:nvSpPr>
              <p:cNvPr id="115" name="Oval 62">
                <a:extLst>
                  <a:ext uri="{FF2B5EF4-FFF2-40B4-BE49-F238E27FC236}">
                    <a16:creationId xmlns:a16="http://schemas.microsoft.com/office/drawing/2014/main" id="{9C9D8639-0C87-82F9-D37D-0201F7415150}"/>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116" name="Oval 63">
                <a:extLst>
                  <a:ext uri="{FF2B5EF4-FFF2-40B4-BE49-F238E27FC236}">
                    <a16:creationId xmlns:a16="http://schemas.microsoft.com/office/drawing/2014/main" id="{E0F5159B-B9DE-B441-D001-127BF3BF9F30}"/>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117" name="Oval 65">
                <a:extLst>
                  <a:ext uri="{FF2B5EF4-FFF2-40B4-BE49-F238E27FC236}">
                    <a16:creationId xmlns:a16="http://schemas.microsoft.com/office/drawing/2014/main" id="{D9258FBD-039C-4B6C-1E4C-2EC10B4360D1}"/>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118" name="Oval 67">
                <a:extLst>
                  <a:ext uri="{FF2B5EF4-FFF2-40B4-BE49-F238E27FC236}">
                    <a16:creationId xmlns:a16="http://schemas.microsoft.com/office/drawing/2014/main" id="{7C6B2968-D949-956F-B9E0-953C3959B92A}"/>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nvGrpSpPr>
            <p:cNvPr id="119" name="组合 118">
              <a:extLst>
                <a:ext uri="{FF2B5EF4-FFF2-40B4-BE49-F238E27FC236}">
                  <a16:creationId xmlns:a16="http://schemas.microsoft.com/office/drawing/2014/main" id="{E2AA5E97-5F69-8BF1-B50B-B1B443920195}"/>
                </a:ext>
              </a:extLst>
            </p:cNvPr>
            <p:cNvGrpSpPr/>
            <p:nvPr/>
          </p:nvGrpSpPr>
          <p:grpSpPr>
            <a:xfrm>
              <a:off x="2683235" y="4797215"/>
              <a:ext cx="754594" cy="703789"/>
              <a:chOff x="1002056" y="622589"/>
              <a:chExt cx="949366" cy="913433"/>
            </a:xfrm>
          </p:grpSpPr>
          <p:sp>
            <p:nvSpPr>
              <p:cNvPr id="120" name="Oval 62">
                <a:extLst>
                  <a:ext uri="{FF2B5EF4-FFF2-40B4-BE49-F238E27FC236}">
                    <a16:creationId xmlns:a16="http://schemas.microsoft.com/office/drawing/2014/main" id="{9B1CB045-0C0C-77BC-F61E-8A8B5F7B173B}"/>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121" name="Oval 63">
                <a:extLst>
                  <a:ext uri="{FF2B5EF4-FFF2-40B4-BE49-F238E27FC236}">
                    <a16:creationId xmlns:a16="http://schemas.microsoft.com/office/drawing/2014/main" id="{CF635108-361E-4C02-05E8-6FBBA635306E}"/>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122" name="Oval 65">
                <a:extLst>
                  <a:ext uri="{FF2B5EF4-FFF2-40B4-BE49-F238E27FC236}">
                    <a16:creationId xmlns:a16="http://schemas.microsoft.com/office/drawing/2014/main" id="{5C46E509-3D28-811E-AB07-5F09FF077CFB}"/>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123" name="Oval 67">
                <a:extLst>
                  <a:ext uri="{FF2B5EF4-FFF2-40B4-BE49-F238E27FC236}">
                    <a16:creationId xmlns:a16="http://schemas.microsoft.com/office/drawing/2014/main" id="{73ABFB6C-303A-DC13-DF3A-80025BB7EAAD}"/>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nvGrpSpPr>
            <p:cNvPr id="124" name="组合 123">
              <a:extLst>
                <a:ext uri="{FF2B5EF4-FFF2-40B4-BE49-F238E27FC236}">
                  <a16:creationId xmlns:a16="http://schemas.microsoft.com/office/drawing/2014/main" id="{8C53A5E0-5CA8-BEA3-823C-11E37E433D18}"/>
                </a:ext>
              </a:extLst>
            </p:cNvPr>
            <p:cNvGrpSpPr/>
            <p:nvPr/>
          </p:nvGrpSpPr>
          <p:grpSpPr>
            <a:xfrm>
              <a:off x="3127558" y="2768412"/>
              <a:ext cx="754594" cy="703789"/>
              <a:chOff x="1002056" y="622589"/>
              <a:chExt cx="949366" cy="913433"/>
            </a:xfrm>
          </p:grpSpPr>
          <p:sp>
            <p:nvSpPr>
              <p:cNvPr id="125" name="Oval 62">
                <a:extLst>
                  <a:ext uri="{FF2B5EF4-FFF2-40B4-BE49-F238E27FC236}">
                    <a16:creationId xmlns:a16="http://schemas.microsoft.com/office/drawing/2014/main" id="{036504E7-0CC8-6F3F-5C20-12C2BCE581CF}"/>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126" name="Oval 63">
                <a:extLst>
                  <a:ext uri="{FF2B5EF4-FFF2-40B4-BE49-F238E27FC236}">
                    <a16:creationId xmlns:a16="http://schemas.microsoft.com/office/drawing/2014/main" id="{6A98C6C4-63A8-1699-92A3-99633BC4F2C3}"/>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127" name="Oval 65">
                <a:extLst>
                  <a:ext uri="{FF2B5EF4-FFF2-40B4-BE49-F238E27FC236}">
                    <a16:creationId xmlns:a16="http://schemas.microsoft.com/office/drawing/2014/main" id="{5DC3B7B0-41C8-B93E-3BBD-84A56EA07132}"/>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192" name="Oval 67">
                <a:extLst>
                  <a:ext uri="{FF2B5EF4-FFF2-40B4-BE49-F238E27FC236}">
                    <a16:creationId xmlns:a16="http://schemas.microsoft.com/office/drawing/2014/main" id="{B65DADA8-33FB-707E-DF61-9A97B379E825}"/>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nvGrpSpPr>
            <p:cNvPr id="209" name="组合 208">
              <a:extLst>
                <a:ext uri="{FF2B5EF4-FFF2-40B4-BE49-F238E27FC236}">
                  <a16:creationId xmlns:a16="http://schemas.microsoft.com/office/drawing/2014/main" id="{6BD4097E-7C6B-3AAC-8ED1-1DE34D2CB3C2}"/>
                </a:ext>
              </a:extLst>
            </p:cNvPr>
            <p:cNvGrpSpPr/>
            <p:nvPr/>
          </p:nvGrpSpPr>
          <p:grpSpPr>
            <a:xfrm>
              <a:off x="1623224" y="5647300"/>
              <a:ext cx="754594" cy="703789"/>
              <a:chOff x="1002056" y="622589"/>
              <a:chExt cx="949366" cy="913433"/>
            </a:xfrm>
          </p:grpSpPr>
          <p:sp>
            <p:nvSpPr>
              <p:cNvPr id="210" name="Oval 62">
                <a:extLst>
                  <a:ext uri="{FF2B5EF4-FFF2-40B4-BE49-F238E27FC236}">
                    <a16:creationId xmlns:a16="http://schemas.microsoft.com/office/drawing/2014/main" id="{122051E7-C769-1A94-A9D1-1E11E4C7473B}"/>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211" name="Oval 63">
                <a:extLst>
                  <a:ext uri="{FF2B5EF4-FFF2-40B4-BE49-F238E27FC236}">
                    <a16:creationId xmlns:a16="http://schemas.microsoft.com/office/drawing/2014/main" id="{50D5A8B5-57E8-E255-C49B-1EBB15EEC1AD}"/>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212" name="Oval 65">
                <a:extLst>
                  <a:ext uri="{FF2B5EF4-FFF2-40B4-BE49-F238E27FC236}">
                    <a16:creationId xmlns:a16="http://schemas.microsoft.com/office/drawing/2014/main" id="{4410A565-7AEF-882C-7290-D2EEB662F2A4}"/>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213" name="Oval 67">
                <a:extLst>
                  <a:ext uri="{FF2B5EF4-FFF2-40B4-BE49-F238E27FC236}">
                    <a16:creationId xmlns:a16="http://schemas.microsoft.com/office/drawing/2014/main" id="{97F1402C-2D15-7184-8226-170A152F4FCF}"/>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nvGrpSpPr>
            <p:cNvPr id="214" name="组合 213">
              <a:extLst>
                <a:ext uri="{FF2B5EF4-FFF2-40B4-BE49-F238E27FC236}">
                  <a16:creationId xmlns:a16="http://schemas.microsoft.com/office/drawing/2014/main" id="{1809FB20-0066-1986-58B6-8AD95672DAA5}"/>
                </a:ext>
              </a:extLst>
            </p:cNvPr>
            <p:cNvGrpSpPr/>
            <p:nvPr/>
          </p:nvGrpSpPr>
          <p:grpSpPr>
            <a:xfrm>
              <a:off x="3131347" y="3788397"/>
              <a:ext cx="754594" cy="703789"/>
              <a:chOff x="1002056" y="622589"/>
              <a:chExt cx="949366" cy="913433"/>
            </a:xfrm>
          </p:grpSpPr>
          <p:sp>
            <p:nvSpPr>
              <p:cNvPr id="215" name="Oval 62">
                <a:extLst>
                  <a:ext uri="{FF2B5EF4-FFF2-40B4-BE49-F238E27FC236}">
                    <a16:creationId xmlns:a16="http://schemas.microsoft.com/office/drawing/2014/main" id="{4EC3ACEA-3839-1BF6-CB7F-9C4332A690F5}"/>
                  </a:ext>
                </a:extLst>
              </p:cNvPr>
              <p:cNvSpPr>
                <a:spLocks noChangeArrowheads="1"/>
              </p:cNvSpPr>
              <p:nvPr/>
            </p:nvSpPr>
            <p:spPr bwMode="gray">
              <a:xfrm>
                <a:off x="1002056" y="622589"/>
                <a:ext cx="949366" cy="913433"/>
              </a:xfrm>
              <a:prstGeom prst="ellipse">
                <a:avLst/>
              </a:prstGeom>
              <a:gradFill rotWithShape="1">
                <a:gsLst>
                  <a:gs pos="0">
                    <a:srgbClr val="767676"/>
                  </a:gs>
                  <a:gs pos="50000">
                    <a:srgbClr val="FFFFFF"/>
                  </a:gs>
                  <a:gs pos="100000">
                    <a:srgbClr val="767676"/>
                  </a:gs>
                </a:gsLst>
                <a:lin ang="5400000" scaled="1"/>
              </a:gradFill>
              <a:ln w="57150" algn="ctr">
                <a:noFill/>
                <a:round/>
              </a:ln>
            </p:spPr>
            <p:txBody>
              <a:bodyPr wrap="none" anchor="ctr"/>
              <a:lstStyle/>
              <a:p>
                <a:endParaRPr lang="zh-CN" altLang="en-US"/>
              </a:p>
            </p:txBody>
          </p:sp>
          <p:sp>
            <p:nvSpPr>
              <p:cNvPr id="216" name="Oval 63">
                <a:extLst>
                  <a:ext uri="{FF2B5EF4-FFF2-40B4-BE49-F238E27FC236}">
                    <a16:creationId xmlns:a16="http://schemas.microsoft.com/office/drawing/2014/main" id="{961491ED-D3DD-0B4A-FEE8-356BE3615E61}"/>
                  </a:ext>
                </a:extLst>
              </p:cNvPr>
              <p:cNvSpPr>
                <a:spLocks noChangeArrowheads="1"/>
              </p:cNvSpPr>
              <p:nvPr/>
            </p:nvSpPr>
            <p:spPr bwMode="gray">
              <a:xfrm>
                <a:off x="1054652" y="677463"/>
                <a:ext cx="840614" cy="808797"/>
              </a:xfrm>
              <a:prstGeom prst="ellipse">
                <a:avLst/>
              </a:prstGeom>
              <a:gradFill rotWithShape="1">
                <a:gsLst>
                  <a:gs pos="0">
                    <a:srgbClr val="A2A2A2"/>
                  </a:gs>
                  <a:gs pos="50000">
                    <a:srgbClr val="FFFFFF"/>
                  </a:gs>
                  <a:gs pos="100000">
                    <a:srgbClr val="A2A2A2"/>
                  </a:gs>
                </a:gsLst>
                <a:lin ang="0" scaled="1"/>
              </a:gradFill>
              <a:ln w="9525" algn="ctr">
                <a:noFill/>
                <a:round/>
              </a:ln>
            </p:spPr>
            <p:txBody>
              <a:bodyPr wrap="none" anchor="ctr"/>
              <a:lstStyle/>
              <a:p>
                <a:endParaRPr lang="zh-CN" altLang="en-US"/>
              </a:p>
            </p:txBody>
          </p:sp>
          <p:sp>
            <p:nvSpPr>
              <p:cNvPr id="217" name="Oval 65">
                <a:extLst>
                  <a:ext uri="{FF2B5EF4-FFF2-40B4-BE49-F238E27FC236}">
                    <a16:creationId xmlns:a16="http://schemas.microsoft.com/office/drawing/2014/main" id="{7BEE938C-1F78-27F8-C5E4-041A251E5E94}"/>
                  </a:ext>
                </a:extLst>
              </p:cNvPr>
              <p:cNvSpPr>
                <a:spLocks noChangeArrowheads="1"/>
              </p:cNvSpPr>
              <p:nvPr/>
            </p:nvSpPr>
            <p:spPr bwMode="gray">
              <a:xfrm>
                <a:off x="1102528" y="727398"/>
                <a:ext cx="741857" cy="714910"/>
              </a:xfrm>
              <a:prstGeom prst="ellipse">
                <a:avLst/>
              </a:prstGeom>
              <a:solidFill>
                <a:schemeClr val="accent1">
                  <a:lumMod val="20000"/>
                  <a:lumOff val="80000"/>
                </a:schemeClr>
              </a:solidFill>
              <a:ln w="38100" algn="ctr">
                <a:noFill/>
                <a:round/>
              </a:ln>
            </p:spPr>
            <p:txBody>
              <a:bodyPr wrap="square" anchor="ctr">
                <a:spAutoFit/>
              </a:bodyPr>
              <a:lstStyle/>
              <a:p>
                <a:endParaRPr lang="zh-CN" altLang="en-US"/>
              </a:p>
            </p:txBody>
          </p:sp>
          <p:sp>
            <p:nvSpPr>
              <p:cNvPr id="218" name="Oval 67">
                <a:extLst>
                  <a:ext uri="{FF2B5EF4-FFF2-40B4-BE49-F238E27FC236}">
                    <a16:creationId xmlns:a16="http://schemas.microsoft.com/office/drawing/2014/main" id="{9C72B42A-3B0C-9920-EBBE-7324D6DC11F9}"/>
                  </a:ext>
                </a:extLst>
              </p:cNvPr>
              <p:cNvSpPr>
                <a:spLocks noChangeArrowheads="1"/>
              </p:cNvSpPr>
              <p:nvPr/>
            </p:nvSpPr>
            <p:spPr bwMode="gray">
              <a:xfrm>
                <a:off x="1149834" y="776917"/>
                <a:ext cx="644276" cy="621021"/>
              </a:xfrm>
              <a:prstGeom prst="ellipse">
                <a:avLst/>
              </a:prstGeom>
              <a:gradFill flip="none" rotWithShape="1">
                <a:gsLst>
                  <a:gs pos="15000">
                    <a:srgbClr val="0A2B7B"/>
                  </a:gs>
                  <a:gs pos="58000">
                    <a:schemeClr val="accent1">
                      <a:lumMod val="97000"/>
                      <a:lumOff val="3000"/>
                    </a:schemeClr>
                  </a:gs>
                  <a:gs pos="100000">
                    <a:schemeClr val="accent1">
                      <a:lumMod val="60000"/>
                      <a:lumOff val="40000"/>
                    </a:schemeClr>
                  </a:gs>
                </a:gsLst>
                <a:lin ang="10800000" scaled="1"/>
                <a:tileRect/>
              </a:gradFill>
              <a:ln w="38100" algn="ctr">
                <a:noFill/>
                <a:round/>
              </a:ln>
            </p:spPr>
            <p:txBody>
              <a:bodyPr wrap="square" anchor="ctr">
                <a:spAutoFit/>
              </a:bodyPr>
              <a:lstStyle/>
              <a:p>
                <a:endParaRPr lang="zh-CN" altLang="en-US" dirty="0"/>
              </a:p>
            </p:txBody>
          </p:sp>
        </p:grpSp>
      </p:gr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4B47C3DB-92F0-80FB-D195-DB3B52F09DC9}"/>
              </a:ext>
            </a:extLst>
          </p:cNvPr>
          <p:cNvGrpSpPr/>
          <p:nvPr/>
        </p:nvGrpSpPr>
        <p:grpSpPr>
          <a:xfrm>
            <a:off x="1823023" y="2568575"/>
            <a:ext cx="8823045" cy="1720850"/>
            <a:chOff x="1184275" y="2717410"/>
            <a:chExt cx="8822581" cy="1720986"/>
          </a:xfrm>
        </p:grpSpPr>
        <p:grpSp>
          <p:nvGrpSpPr>
            <p:cNvPr id="6" name="Group 4">
              <a:extLst>
                <a:ext uri="{FF2B5EF4-FFF2-40B4-BE49-F238E27FC236}">
                  <a16:creationId xmlns:a16="http://schemas.microsoft.com/office/drawing/2014/main" id="{26C074D1-C7C4-C511-39F8-E30510CFA70B}"/>
                </a:ext>
              </a:extLst>
            </p:cNvPr>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8" name="Freeform 6">
                <a:extLst>
                  <a:ext uri="{FF2B5EF4-FFF2-40B4-BE49-F238E27FC236}">
                    <a16:creationId xmlns:a16="http://schemas.microsoft.com/office/drawing/2014/main" id="{C9587680-2ABF-EDCB-3C27-9E391AF12675}"/>
                  </a:ext>
                </a:extLst>
              </p:cNvPr>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9" name="Freeform 7">
                <a:extLst>
                  <a:ext uri="{FF2B5EF4-FFF2-40B4-BE49-F238E27FC236}">
                    <a16:creationId xmlns:a16="http://schemas.microsoft.com/office/drawing/2014/main" id="{290EAC81-88DC-7EAB-6454-B7AE4ED72B36}"/>
                  </a:ext>
                </a:extLst>
              </p:cNvPr>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7" name="文本框 6">
              <a:extLst>
                <a:ext uri="{FF2B5EF4-FFF2-40B4-BE49-F238E27FC236}">
                  <a16:creationId xmlns:a16="http://schemas.microsoft.com/office/drawing/2014/main" id="{E97460E4-0FDA-CB4C-C26F-7C78B050278C}"/>
                </a:ext>
              </a:extLst>
            </p:cNvPr>
            <p:cNvSpPr txBox="1"/>
            <p:nvPr/>
          </p:nvSpPr>
          <p:spPr>
            <a:xfrm>
              <a:off x="3187699" y="2847430"/>
              <a:ext cx="6819157" cy="1108084"/>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研究背景及意义</a:t>
              </a:r>
            </a:p>
          </p:txBody>
        </p:sp>
      </p:gr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4</a:t>
            </a:fld>
            <a:endParaRPr lang="zh-HK" altLang="en-US">
              <a:solidFill>
                <a:prstClr val="black">
                  <a:tint val="75000"/>
                </a:prstClr>
              </a:solidFill>
            </a:endParaRPr>
          </a:p>
        </p:txBody>
      </p:sp>
      <p:grpSp>
        <p:nvGrpSpPr>
          <p:cNvPr id="26" name="组合 25"/>
          <p:cNvGrpSpPr/>
          <p:nvPr/>
        </p:nvGrpSpPr>
        <p:grpSpPr>
          <a:xfrm>
            <a:off x="1421810" y="459860"/>
            <a:ext cx="9978172" cy="3523272"/>
            <a:chOff x="1375628" y="805742"/>
            <a:chExt cx="9978172" cy="3523272"/>
          </a:xfrm>
        </p:grpSpPr>
        <p:sp>
          <p:nvSpPr>
            <p:cNvPr id="10" name="文本框 9"/>
            <p:cNvSpPr txBox="1"/>
            <p:nvPr/>
          </p:nvSpPr>
          <p:spPr>
            <a:xfrm>
              <a:off x="6233131" y="805742"/>
              <a:ext cx="5120669" cy="1761636"/>
            </a:xfrm>
            <a:prstGeom prst="rect">
              <a:avLst/>
            </a:prstGeom>
            <a:noFill/>
          </p:spPr>
          <p:txBody>
            <a:bodyPr wrap="square">
              <a:spAutoFit/>
            </a:bodyPr>
            <a:lstStyle/>
            <a:p>
              <a:pPr>
                <a:lnSpc>
                  <a:spcPct val="130000"/>
                </a:lnSpc>
              </a:pPr>
              <a:r>
                <a:rPr lang="zh-CN" altLang="en-US" sz="2100" b="1" dirty="0">
                  <a:solidFill>
                    <a:schemeClr val="accent1"/>
                  </a:solidFill>
                  <a:latin typeface="微软雅黑" panose="020B0503020204020204" pitchFamily="34" charset="-122"/>
                  <a:ea typeface="微软雅黑" panose="020B0503020204020204" pitchFamily="34" charset="-122"/>
                </a:rPr>
                <a:t>汽车市场现状</a:t>
              </a:r>
            </a:p>
            <a:p>
              <a:pPr algn="just">
                <a:lnSpc>
                  <a:spcPct val="130000"/>
                </a:lnSpc>
              </a:pP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截至</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2024</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年</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6</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月底</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4.4</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亿辆，其中汽车</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3.45</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亿辆</a:t>
              </a:r>
              <a:r>
                <a:rPr lang="zh-CN" altLang="en-US" sz="1600" dirty="0">
                  <a:solidFill>
                    <a:srgbClr val="05073B"/>
                  </a:solidFill>
                  <a:highlight>
                    <a:srgbClr val="FDFDFE"/>
                  </a:highlight>
                  <a:latin typeface="微软雅黑" panose="020B0503020204020204" pitchFamily="34" charset="-122"/>
                  <a:ea typeface="微软雅黑" panose="020B0503020204020204" pitchFamily="34" charset="-122"/>
                </a:rPr>
                <a:t>；</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驾驶员数量</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5.32</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亿人，其中汽车驾驶员</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4.96</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亿人</a:t>
              </a:r>
              <a:r>
                <a:rPr lang="zh-CN" altLang="en-US" sz="1600" dirty="0">
                  <a:solidFill>
                    <a:srgbClr val="05073B"/>
                  </a:solidFill>
                  <a:highlight>
                    <a:srgbClr val="FDFDFE"/>
                  </a:highlight>
                  <a:latin typeface="微软雅黑" panose="020B0503020204020204" pitchFamily="34" charset="-122"/>
                  <a:ea typeface="微软雅黑" panose="020B0503020204020204" pitchFamily="34" charset="-122"/>
                </a:rPr>
                <a:t>；</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近三年</a:t>
              </a:r>
              <a:r>
                <a:rPr lang="zh-CN" altLang="en-US" sz="1600" dirty="0">
                  <a:solidFill>
                    <a:srgbClr val="05073B"/>
                  </a:solidFill>
                  <a:highlight>
                    <a:srgbClr val="FDFDFE"/>
                  </a:highlight>
                  <a:latin typeface="微软雅黑" panose="020B0503020204020204" pitchFamily="34" charset="-122"/>
                  <a:ea typeface="微软雅黑" panose="020B0503020204020204" pitchFamily="34" charset="-122"/>
                </a:rPr>
                <a:t>全球销量</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达</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2.4</a:t>
              </a:r>
              <a:r>
                <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rPr>
                <a:t>亿辆，中国占</a:t>
              </a:r>
              <a:r>
                <a:rPr lang="en-US" altLang="zh-CN" sz="1600" i="0" dirty="0">
                  <a:solidFill>
                    <a:srgbClr val="05073B"/>
                  </a:solidFill>
                  <a:effectLst/>
                  <a:highlight>
                    <a:srgbClr val="FDFDFE"/>
                  </a:highlight>
                  <a:latin typeface="微软雅黑" panose="020B0503020204020204" pitchFamily="34" charset="-122"/>
                  <a:ea typeface="微软雅黑" panose="020B0503020204020204" pitchFamily="34" charset="-122"/>
                </a:rPr>
                <a:t>32.8%</a:t>
              </a:r>
              <a:r>
                <a:rPr lang="zh-CN" altLang="en-US" sz="1600" dirty="0">
                  <a:solidFill>
                    <a:srgbClr val="05073B"/>
                  </a:solidFill>
                  <a:highlight>
                    <a:srgbClr val="FDFDFE"/>
                  </a:highlight>
                  <a:latin typeface="微软雅黑" panose="020B0503020204020204" pitchFamily="34" charset="-122"/>
                  <a:ea typeface="微软雅黑" panose="020B0503020204020204" pitchFamily="34" charset="-122"/>
                </a:rPr>
                <a:t>，汽车产业依然是我国国民经济的重要支柱性产业。</a:t>
              </a:r>
              <a:endParaRPr lang="zh-CN" altLang="en-US" sz="1600" i="0" dirty="0">
                <a:solidFill>
                  <a:srgbClr val="05073B"/>
                </a:solidFill>
                <a:effectLst/>
                <a:highlight>
                  <a:srgbClr val="FDFDFE"/>
                </a:highlight>
                <a:latin typeface="微软雅黑" panose="020B0503020204020204" pitchFamily="34" charset="-122"/>
                <a:ea typeface="微软雅黑" panose="020B0503020204020204" pitchFamily="34" charset="-122"/>
              </a:endParaRPr>
            </a:p>
          </p:txBody>
        </p:sp>
        <p:grpSp>
          <p:nvGrpSpPr>
            <p:cNvPr id="3" name="组合 2"/>
            <p:cNvGrpSpPr/>
            <p:nvPr/>
          </p:nvGrpSpPr>
          <p:grpSpPr>
            <a:xfrm>
              <a:off x="1375628" y="863535"/>
              <a:ext cx="9978172" cy="3465479"/>
              <a:chOff x="1561632" y="927127"/>
              <a:chExt cx="9978172" cy="3465479"/>
            </a:xfrm>
          </p:grpSpPr>
          <p:sp>
            <p:nvSpPr>
              <p:cNvPr id="5" name="New shape"/>
              <p:cNvSpPr/>
              <p:nvPr/>
            </p:nvSpPr>
            <p:spPr>
              <a:xfrm>
                <a:off x="1561632" y="1643797"/>
                <a:ext cx="3907877" cy="11214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r">
                  <a:lnSpc>
                    <a:spcPct val="130000"/>
                  </a:lnSpc>
                </a:pPr>
                <a:r>
                  <a:rPr lang="zh-CN" altLang="en-US" sz="2100" b="1" dirty="0">
                    <a:solidFill>
                      <a:schemeClr val="accent1"/>
                    </a:solidFill>
                    <a:latin typeface="微软雅黑" panose="020B0503020204020204" pitchFamily="34" charset="-122"/>
                    <a:ea typeface="微软雅黑" panose="020B0503020204020204" pitchFamily="34" charset="-122"/>
                  </a:rPr>
                  <a:t>问题与挑战</a:t>
                </a:r>
              </a:p>
              <a:p>
                <a:pPr lvl="1" algn="just">
                  <a:lnSpc>
                    <a:spcPct val="130000"/>
                  </a:lnSpc>
                </a:pP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道路交通事故发生的数量不断提高、城市交通拥堵加剧、环境污染扩散</a:t>
                </a:r>
              </a:p>
            </p:txBody>
          </p:sp>
          <p:sp>
            <p:nvSpPr>
              <p:cNvPr id="6" name="New shape"/>
              <p:cNvSpPr/>
              <p:nvPr/>
            </p:nvSpPr>
            <p:spPr>
              <a:xfrm>
                <a:off x="6389655" y="2630970"/>
                <a:ext cx="5150149" cy="17616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nSpc>
                    <a:spcPct val="130000"/>
                  </a:lnSpc>
                </a:pPr>
                <a:r>
                  <a:rPr lang="zh-CN" altLang="en-US" sz="2100" b="1" dirty="0">
                    <a:solidFill>
                      <a:schemeClr val="accent1"/>
                    </a:solidFill>
                    <a:latin typeface="微软雅黑" panose="020B0503020204020204" pitchFamily="34" charset="-122"/>
                    <a:ea typeface="微软雅黑" panose="020B0503020204020204" pitchFamily="34" charset="-122"/>
                  </a:rPr>
                  <a:t>新能源汽车的崛起</a:t>
                </a:r>
              </a:p>
              <a:p>
                <a:pPr algn="just">
                  <a:lnSpc>
                    <a:spcPct val="130000"/>
                  </a:lnSpc>
                </a:pP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新能源汽车成为国家重大发展战略、</a:t>
                </a:r>
                <a:r>
                  <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rPr>
                  <a:t>《</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新能源汽车产业发展规划（</a:t>
                </a:r>
                <a:r>
                  <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rPr>
                  <a:t>2021-2035</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年）</a:t>
                </a:r>
                <a:r>
                  <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rPr>
                  <a:t>》</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推动核心技术突破、</a:t>
                </a:r>
                <a:r>
                  <a:rPr lang="en-US" altLang="zh-CN" sz="1600" dirty="0">
                    <a:solidFill>
                      <a:srgbClr val="05073B"/>
                    </a:solidFill>
                    <a:highlight>
                      <a:srgbClr val="FDFDFE"/>
                    </a:highlight>
                    <a:latin typeface="微软雅黑" panose="020B0503020204020204" pitchFamily="34" charset="-122"/>
                    <a:ea typeface="微软雅黑" panose="020B0503020204020204" pitchFamily="34" charset="-122"/>
                  </a:rPr>
                  <a:t>2023</a:t>
                </a:r>
                <a:r>
                  <a:rPr lang="zh-CN" altLang="en-US" sz="1600" dirty="0">
                    <a:solidFill>
                      <a:srgbClr val="05073B"/>
                    </a:solidFill>
                    <a:highlight>
                      <a:srgbClr val="FDFDFE"/>
                    </a:highlight>
                    <a:latin typeface="微软雅黑" panose="020B0503020204020204" pitchFamily="34" charset="-122"/>
                    <a:ea typeface="微软雅黑" panose="020B0503020204020204" pitchFamily="34" charset="-122"/>
                  </a:rPr>
                  <a:t>年</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我国新能源汽车产销量占全球比重超过</a:t>
                </a:r>
                <a:r>
                  <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rPr>
                  <a:t>60%</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、连续</a:t>
                </a:r>
                <a:r>
                  <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rPr>
                  <a:t>9</a:t>
                </a:r>
                <a:r>
                  <a:rPr lang="zh-CN" altLang="en-US" sz="1600" b="0" i="0" dirty="0">
                    <a:solidFill>
                      <a:srgbClr val="05073B"/>
                    </a:solidFill>
                    <a:effectLst/>
                    <a:highlight>
                      <a:srgbClr val="FDFDFE"/>
                    </a:highlight>
                    <a:latin typeface="微软雅黑" panose="020B0503020204020204" pitchFamily="34" charset="-122"/>
                    <a:ea typeface="微软雅黑" panose="020B0503020204020204" pitchFamily="34" charset="-122"/>
                  </a:rPr>
                  <a:t>年位居世界第一位；</a:t>
                </a:r>
                <a:endParaRPr lang="en-US" altLang="zh-CN" sz="1600" b="0" i="0" dirty="0">
                  <a:solidFill>
                    <a:srgbClr val="05073B"/>
                  </a:solidFill>
                  <a:effectLst/>
                  <a:highlight>
                    <a:srgbClr val="FDFDFE"/>
                  </a:highlight>
                  <a:latin typeface="微软雅黑" panose="020B0503020204020204" pitchFamily="34" charset="-122"/>
                  <a:ea typeface="微软雅黑" panose="020B0503020204020204" pitchFamily="34" charset="-122"/>
                </a:endParaRPr>
              </a:p>
            </p:txBody>
          </p:sp>
          <p:sp>
            <p:nvSpPr>
              <p:cNvPr id="7" name="New shape"/>
              <p:cNvSpPr/>
              <p:nvPr/>
            </p:nvSpPr>
            <p:spPr>
              <a:xfrm>
                <a:off x="5909782" y="1297927"/>
                <a:ext cx="39600" cy="464400"/>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New shape"/>
              <p:cNvSpPr/>
              <p:nvPr/>
            </p:nvSpPr>
            <p:spPr>
              <a:xfrm>
                <a:off x="6096982" y="1107667"/>
                <a:ext cx="309600" cy="39600"/>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New shape"/>
              <p:cNvSpPr/>
              <p:nvPr/>
            </p:nvSpPr>
            <p:spPr>
              <a:xfrm>
                <a:off x="5751382" y="927127"/>
                <a:ext cx="360000" cy="370800"/>
              </a:xfrm>
              <a:prstGeom prst="roundRect">
                <a:avLst>
                  <a:gd name="adj" fmla="val 8819"/>
                </a:avLst>
              </a:prstGeom>
              <a:solidFill>
                <a:srgbClr val="2025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FFFF"/>
                    </a:solidFill>
                  </a:rPr>
                  <a:t>1</a:t>
                </a:r>
              </a:p>
            </p:txBody>
          </p:sp>
          <p:sp>
            <p:nvSpPr>
              <p:cNvPr id="11" name="New shape"/>
              <p:cNvSpPr/>
              <p:nvPr/>
            </p:nvSpPr>
            <p:spPr>
              <a:xfrm>
                <a:off x="5909782" y="2133128"/>
                <a:ext cx="39600" cy="604606"/>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New shape"/>
              <p:cNvSpPr/>
              <p:nvPr/>
            </p:nvSpPr>
            <p:spPr>
              <a:xfrm>
                <a:off x="5459782" y="1942868"/>
                <a:ext cx="309600" cy="39600"/>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New shape"/>
              <p:cNvSpPr/>
              <p:nvPr/>
            </p:nvSpPr>
            <p:spPr>
              <a:xfrm>
                <a:off x="5751382" y="1762328"/>
                <a:ext cx="360000" cy="370800"/>
              </a:xfrm>
              <a:prstGeom prst="roundRect">
                <a:avLst>
                  <a:gd name="adj" fmla="val 8819"/>
                </a:avLst>
              </a:prstGeom>
              <a:solidFill>
                <a:srgbClr val="2025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rgbClr val="FFFFFF"/>
                    </a:solidFill>
                  </a:rPr>
                  <a:t>2</a:t>
                </a:r>
              </a:p>
            </p:txBody>
          </p:sp>
          <p:sp>
            <p:nvSpPr>
              <p:cNvPr id="14" name="New shape"/>
              <p:cNvSpPr/>
              <p:nvPr/>
            </p:nvSpPr>
            <p:spPr>
              <a:xfrm>
                <a:off x="5909782" y="3108534"/>
                <a:ext cx="39600" cy="457200"/>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New shape"/>
              <p:cNvSpPr/>
              <p:nvPr/>
            </p:nvSpPr>
            <p:spPr>
              <a:xfrm>
                <a:off x="6096982" y="2918274"/>
                <a:ext cx="309600" cy="39600"/>
              </a:xfrm>
              <a:prstGeom prst="rect">
                <a:avLst/>
              </a:prstGeom>
              <a:solidFill>
                <a:srgbClr val="5585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New shape"/>
              <p:cNvSpPr/>
              <p:nvPr/>
            </p:nvSpPr>
            <p:spPr>
              <a:xfrm>
                <a:off x="5751382" y="2737734"/>
                <a:ext cx="360000" cy="370800"/>
              </a:xfrm>
              <a:prstGeom prst="roundRect">
                <a:avLst>
                  <a:gd name="adj" fmla="val 8819"/>
                </a:avLst>
              </a:prstGeom>
              <a:solidFill>
                <a:srgbClr val="2025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FFFF"/>
                    </a:solidFill>
                  </a:rPr>
                  <a:t>3</a:t>
                </a:r>
              </a:p>
            </p:txBody>
          </p:sp>
        </p:grpSp>
      </p:grpSp>
      <p:grpSp>
        <p:nvGrpSpPr>
          <p:cNvPr id="20" name="组合 19"/>
          <p:cNvGrpSpPr/>
          <p:nvPr/>
        </p:nvGrpSpPr>
        <p:grpSpPr>
          <a:xfrm>
            <a:off x="6111960" y="4108465"/>
            <a:ext cx="4215446" cy="2462397"/>
            <a:chOff x="6741850" y="4409398"/>
            <a:chExt cx="4215446" cy="2462397"/>
          </a:xfrm>
        </p:grpSpPr>
        <p:pic>
          <p:nvPicPr>
            <p:cNvPr id="21" name="图片 20"/>
            <p:cNvPicPr>
              <a:picLocks noChangeAspect="1"/>
            </p:cNvPicPr>
            <p:nvPr/>
          </p:nvPicPr>
          <p:blipFill>
            <a:blip r:embed="rId3"/>
            <a:stretch>
              <a:fillRect/>
            </a:stretch>
          </p:blipFill>
          <p:spPr>
            <a:xfrm>
              <a:off x="6741850" y="4409398"/>
              <a:ext cx="4215446" cy="2093065"/>
            </a:xfrm>
            <a:prstGeom prst="rect">
              <a:avLst/>
            </a:prstGeom>
          </p:spPr>
        </p:pic>
        <p:sp>
          <p:nvSpPr>
            <p:cNvPr id="22" name="文本框 21"/>
            <p:cNvSpPr txBox="1"/>
            <p:nvPr/>
          </p:nvSpPr>
          <p:spPr>
            <a:xfrm>
              <a:off x="6914568" y="6502463"/>
              <a:ext cx="3683791" cy="369332"/>
            </a:xfrm>
            <a:prstGeom prst="rect">
              <a:avLst/>
            </a:prstGeom>
            <a:noFill/>
          </p:spPr>
          <p:txBody>
            <a:bodyPr wrap="square">
              <a:spAutoFit/>
            </a:bodyPr>
            <a:lstStyle/>
            <a:p>
              <a:pPr algn="ctr"/>
              <a:r>
                <a:rPr lang="zh-CN" altLang="en-US" sz="1100" b="0" i="0" u="none" strike="noStrike" baseline="0" dirty="0">
                  <a:latin typeface="微软雅黑" panose="020B0503020204020204" pitchFamily="34" charset="-122"/>
                  <a:ea typeface="微软雅黑" panose="020B0503020204020204" pitchFamily="34" charset="-122"/>
                </a:rPr>
                <a:t>全球新能源汽车销量统计数据</a:t>
              </a:r>
              <a:endParaRPr lang="en-US" altLang="zh-CN" sz="1100" b="0" i="0" u="none" strike="noStrike" baseline="0" dirty="0">
                <a:latin typeface="微软雅黑" panose="020B0503020204020204" pitchFamily="34" charset="-122"/>
                <a:ea typeface="微软雅黑" panose="020B0503020204020204" pitchFamily="34" charset="-122"/>
              </a:endParaRPr>
            </a:p>
            <a:p>
              <a:pPr algn="ctr"/>
              <a:r>
                <a:rPr lang="zh-CN" altLang="en-US" sz="700" b="0" i="0" u="none" strike="noStrike" baseline="0" dirty="0">
                  <a:latin typeface="微软雅黑" panose="020B0503020204020204" pitchFamily="34" charset="-122"/>
                  <a:ea typeface="微软雅黑" panose="020B0503020204020204" pitchFamily="34" charset="-122"/>
                </a:rPr>
                <a:t>（数据来源：中国汽车工业协会）</a:t>
              </a:r>
              <a:endParaRPr lang="zh-CN" altLang="en-US" sz="700" dirty="0">
                <a:latin typeface="微软雅黑" panose="020B0503020204020204" pitchFamily="34" charset="-122"/>
                <a:ea typeface="微软雅黑" panose="020B0503020204020204" pitchFamily="34" charset="-122"/>
              </a:endParaRPr>
            </a:p>
          </p:txBody>
        </p:sp>
      </p:grpSp>
      <p:grpSp>
        <p:nvGrpSpPr>
          <p:cNvPr id="23" name="组合 22"/>
          <p:cNvGrpSpPr/>
          <p:nvPr/>
        </p:nvGrpSpPr>
        <p:grpSpPr>
          <a:xfrm>
            <a:off x="1645896" y="4108466"/>
            <a:ext cx="3683791" cy="2462396"/>
            <a:chOff x="1218514" y="3474716"/>
            <a:chExt cx="3683791" cy="2462396"/>
          </a:xfrm>
        </p:grpSpPr>
        <p:pic>
          <p:nvPicPr>
            <p:cNvPr id="24" name="图片 23"/>
            <p:cNvPicPr>
              <a:picLocks noChangeAspect="1"/>
            </p:cNvPicPr>
            <p:nvPr/>
          </p:nvPicPr>
          <p:blipFill>
            <a:blip r:embed="rId4"/>
            <a:stretch>
              <a:fillRect/>
            </a:stretch>
          </p:blipFill>
          <p:spPr>
            <a:xfrm>
              <a:off x="1218514" y="3474716"/>
              <a:ext cx="3683791" cy="2099126"/>
            </a:xfrm>
            <a:prstGeom prst="rect">
              <a:avLst/>
            </a:prstGeom>
          </p:spPr>
        </p:pic>
        <p:sp>
          <p:nvSpPr>
            <p:cNvPr id="25" name="文本框 24"/>
            <p:cNvSpPr txBox="1"/>
            <p:nvPr/>
          </p:nvSpPr>
          <p:spPr>
            <a:xfrm>
              <a:off x="1218514" y="5567780"/>
              <a:ext cx="3683791" cy="369332"/>
            </a:xfrm>
            <a:prstGeom prst="rect">
              <a:avLst/>
            </a:prstGeom>
            <a:noFill/>
          </p:spPr>
          <p:txBody>
            <a:bodyPr wrap="square">
              <a:spAutoFit/>
            </a:bodyPr>
            <a:lstStyle/>
            <a:p>
              <a:pPr algn="ctr"/>
              <a:r>
                <a:rPr lang="zh-CN" altLang="en-US" sz="1100" dirty="0">
                  <a:latin typeface="微软雅黑" panose="020B0503020204020204" pitchFamily="34" charset="-122"/>
                  <a:ea typeface="微软雅黑" panose="020B0503020204020204" pitchFamily="34" charset="-122"/>
                </a:rPr>
                <a:t>近几年中国汽车销量统计数据</a:t>
              </a:r>
              <a:endParaRPr lang="en-US" altLang="zh-CN" sz="1100" dirty="0">
                <a:latin typeface="微软雅黑" panose="020B0503020204020204" pitchFamily="34" charset="-122"/>
                <a:ea typeface="微软雅黑" panose="020B0503020204020204" pitchFamily="34" charset="-122"/>
              </a:endParaRPr>
            </a:p>
            <a:p>
              <a:pPr algn="ctr"/>
              <a:r>
                <a:rPr lang="zh-CN" altLang="en-US" sz="700" dirty="0">
                  <a:latin typeface="微软雅黑" panose="020B0503020204020204" pitchFamily="34" charset="-122"/>
                  <a:ea typeface="微软雅黑" panose="020B0503020204020204" pitchFamily="34" charset="-122"/>
                </a:rPr>
                <a:t>（数据来源：中国汽车工业协会）</a:t>
              </a:r>
            </a:p>
          </p:txBody>
        </p:sp>
      </p:gr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6E1E06C4-4C7C-7650-EC64-58481B30222C}"/>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5</a:t>
            </a:fld>
            <a:endParaRPr lang="zh-HK" altLang="en-US">
              <a:solidFill>
                <a:prstClr val="black">
                  <a:tint val="75000"/>
                </a:prstClr>
              </a:solidFill>
            </a:endParaRPr>
          </a:p>
        </p:txBody>
      </p:sp>
      <p:sp>
        <p:nvSpPr>
          <p:cNvPr id="11" name="文本框 10">
            <a:extLst>
              <a:ext uri="{FF2B5EF4-FFF2-40B4-BE49-F238E27FC236}">
                <a16:creationId xmlns:a16="http://schemas.microsoft.com/office/drawing/2014/main" id="{E131B8A8-4B65-0AF6-C8E4-C687D511A267}"/>
              </a:ext>
            </a:extLst>
          </p:cNvPr>
          <p:cNvSpPr txBox="1"/>
          <p:nvPr/>
        </p:nvSpPr>
        <p:spPr>
          <a:xfrm>
            <a:off x="838200" y="926381"/>
            <a:ext cx="10477500" cy="3372846"/>
          </a:xfrm>
          <a:prstGeom prst="rect">
            <a:avLst/>
          </a:prstGeom>
          <a:noFill/>
        </p:spPr>
        <p:txBody>
          <a:bodyPr wrap="square">
            <a:spAutoFit/>
          </a:bodyPr>
          <a:lstStyle/>
          <a:p>
            <a:pPr marL="285750" indent="-285750">
              <a:lnSpc>
                <a:spcPct val="150000"/>
              </a:lnSpc>
              <a:buFont typeface="Wingdings" panose="05000000000000000000" pitchFamily="2" charset="2"/>
              <a:buChar char="l"/>
            </a:pPr>
            <a:r>
              <a:rPr lang="zh-CN" altLang="en-US" sz="1600" b="1" i="0" dirty="0">
                <a:solidFill>
                  <a:schemeClr val="accent1"/>
                </a:solidFill>
                <a:effectLst/>
                <a:latin typeface="微软雅黑" panose="020B0503020204020204" pitchFamily="34" charset="-122"/>
                <a:ea typeface="微软雅黑" panose="020B0503020204020204" pitchFamily="34" charset="-122"/>
              </a:rPr>
              <a:t>汽车底盘技术变革：</a:t>
            </a:r>
            <a:endParaRPr lang="en-US" altLang="zh-CN" sz="1600" b="1" i="0" dirty="0">
              <a:solidFill>
                <a:schemeClr val="accent1"/>
              </a:solidFill>
              <a:effectLst/>
              <a:latin typeface="微软雅黑" panose="020B0503020204020204" pitchFamily="34" charset="-122"/>
              <a:ea typeface="微软雅黑" panose="020B0503020204020204" pitchFamily="34" charset="-122"/>
            </a:endParaRPr>
          </a:p>
          <a:p>
            <a:pPr lvl="1">
              <a:lnSpc>
                <a:spcPct val="150000"/>
              </a:lnSpc>
            </a:pP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随着电动化的不断深化和智能化的快速发展，</a:t>
            </a:r>
            <a:r>
              <a:rPr lang="zh-CN" altLang="en-US" sz="1600" b="1" dirty="0">
                <a:latin typeface="微软雅黑" panose="020B0503020204020204" pitchFamily="34" charset="-122"/>
                <a:ea typeface="微软雅黑" panose="020B0503020204020204" pitchFamily="34" charset="-122"/>
                <a:sym typeface="字魂105号-简雅黑" panose="00000500000000000000" pitchFamily="2" charset="-122"/>
              </a:rPr>
              <a:t>汽车底盘正经历着从传统底盘到电动底盘，再到分布式线控底盘的重大技术变革。</a:t>
            </a: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对汽车底盘的要求也日益更新。</a:t>
            </a:r>
          </a:p>
          <a:p>
            <a:pPr marL="285750" indent="-285750">
              <a:lnSpc>
                <a:spcPct val="150000"/>
              </a:lnSpc>
              <a:buFont typeface="Wingdings" panose="05000000000000000000" pitchFamily="2" charset="2"/>
              <a:buChar char="l"/>
            </a:pPr>
            <a:r>
              <a:rPr lang="zh-CN" altLang="en-US" sz="1600" b="1" i="0" dirty="0">
                <a:solidFill>
                  <a:schemeClr val="accent1"/>
                </a:solidFill>
                <a:effectLst/>
                <a:latin typeface="微软雅黑" panose="020B0503020204020204" pitchFamily="34" charset="-122"/>
                <a:ea typeface="微软雅黑" panose="020B0503020204020204" pitchFamily="34" charset="-122"/>
              </a:rPr>
              <a:t>智能电动汽车现存问题：</a:t>
            </a:r>
            <a:endParaRPr lang="en-US" altLang="zh-CN" sz="1600" b="1" i="0" dirty="0">
              <a:solidFill>
                <a:schemeClr val="accent1"/>
              </a:solidFill>
              <a:effectLst/>
              <a:latin typeface="微软雅黑" panose="020B0503020204020204" pitchFamily="34" charset="-122"/>
              <a:ea typeface="微软雅黑" panose="020B0503020204020204" pitchFamily="34" charset="-122"/>
            </a:endParaRPr>
          </a:p>
          <a:p>
            <a:pPr lvl="1">
              <a:lnSpc>
                <a:spcPct val="150000"/>
              </a:lnSpc>
            </a:pP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目前阶段的智能电动汽车在高速行驶、紧急避撞等交通场景下，存在</a:t>
            </a:r>
            <a:r>
              <a:rPr lang="zh-CN" altLang="en-US" sz="1600" b="1" dirty="0">
                <a:latin typeface="微软雅黑" panose="020B0503020204020204" pitchFamily="34" charset="-122"/>
                <a:ea typeface="微软雅黑" panose="020B0503020204020204" pitchFamily="34" charset="-122"/>
                <a:sym typeface="字魂105号-简雅黑" panose="00000500000000000000" pitchFamily="2" charset="-122"/>
              </a:rPr>
              <a:t>安全性欠佳以及策略过于保守</a:t>
            </a: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等问题。</a:t>
            </a:r>
          </a:p>
          <a:p>
            <a:pPr marL="285750" indent="-285750">
              <a:lnSpc>
                <a:spcPct val="150000"/>
              </a:lnSpc>
              <a:buFont typeface="Wingdings" panose="05000000000000000000" pitchFamily="2" charset="2"/>
              <a:buChar char="l"/>
            </a:pPr>
            <a:r>
              <a:rPr lang="zh-CN" altLang="en-US" sz="1600" b="1" dirty="0">
                <a:solidFill>
                  <a:schemeClr val="accent1"/>
                </a:solidFill>
                <a:effectLst/>
                <a:latin typeface="微软雅黑" panose="020B0503020204020204" pitchFamily="34" charset="-122"/>
                <a:ea typeface="微软雅黑" panose="020B0503020204020204" pitchFamily="34" charset="-122"/>
              </a:rPr>
              <a:t>分布式底盘电动汽车运动规划的优势与挑战：</a:t>
            </a:r>
            <a:endParaRPr lang="en-US" altLang="zh-CN" sz="1600" b="1" dirty="0">
              <a:solidFill>
                <a:schemeClr val="accent1"/>
              </a:solidFill>
              <a:effectLst/>
              <a:latin typeface="微软雅黑" panose="020B0503020204020204" pitchFamily="34" charset="-122"/>
              <a:ea typeface="微软雅黑" panose="020B0503020204020204" pitchFamily="34" charset="-122"/>
            </a:endParaRPr>
          </a:p>
          <a:p>
            <a:pPr lvl="1">
              <a:lnSpc>
                <a:spcPct val="150000"/>
              </a:lnSpc>
            </a:pP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其凭借自身更为出色的动力学特性，</a:t>
            </a:r>
            <a:r>
              <a:rPr lang="zh-CN" altLang="en-US" sz="1600" b="1" dirty="0">
                <a:latin typeface="微软雅黑" panose="020B0503020204020204" pitchFamily="34" charset="-122"/>
                <a:ea typeface="微软雅黑" panose="020B0503020204020204" pitchFamily="34" charset="-122"/>
                <a:sym typeface="字魂105号-简雅黑" panose="00000500000000000000" pitchFamily="2" charset="-122"/>
              </a:rPr>
              <a:t>扩大了其稳定性边界，能够打破结构上固有的运动学约束</a:t>
            </a: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。正因如此，它被广泛公认为</a:t>
            </a:r>
            <a:r>
              <a:rPr lang="zh-CN" altLang="en-US" sz="1600" b="1" dirty="0">
                <a:latin typeface="微软雅黑" panose="020B0503020204020204" pitchFamily="34" charset="-122"/>
                <a:ea typeface="微软雅黑" panose="020B0503020204020204" pitchFamily="34" charset="-122"/>
                <a:sym typeface="字魂105号-简雅黑" panose="00000500000000000000" pitchFamily="2" charset="-122"/>
              </a:rPr>
              <a:t>智能电动汽车的专用底盘以及智能驾驶的最佳载体。</a:t>
            </a:r>
            <a:r>
              <a:rPr lang="zh-CN" altLang="en-US" sz="1600" dirty="0">
                <a:latin typeface="微软雅黑" panose="020B0503020204020204" pitchFamily="34" charset="-122"/>
                <a:ea typeface="微软雅黑" panose="020B0503020204020204" pitchFamily="34" charset="-122"/>
                <a:sym typeface="字魂105号-简雅黑" panose="00000500000000000000" pitchFamily="2" charset="-122"/>
              </a:rPr>
              <a:t>但是，其控制维度的增加也给智能驾驶架构的设计带来了全新的挑战。</a:t>
            </a:r>
          </a:p>
        </p:txBody>
      </p:sp>
      <p:pic>
        <p:nvPicPr>
          <p:cNvPr id="14" name="图片 13">
            <a:extLst>
              <a:ext uri="{FF2B5EF4-FFF2-40B4-BE49-F238E27FC236}">
                <a16:creationId xmlns:a16="http://schemas.microsoft.com/office/drawing/2014/main" id="{03FEC39E-C6D7-B8BF-8221-FF020790C994}"/>
              </a:ext>
            </a:extLst>
          </p:cNvPr>
          <p:cNvPicPr>
            <a:picLocks noChangeAspect="1"/>
          </p:cNvPicPr>
          <p:nvPr/>
        </p:nvPicPr>
        <p:blipFill>
          <a:blip r:embed="rId3"/>
          <a:stretch>
            <a:fillRect/>
          </a:stretch>
        </p:blipFill>
        <p:spPr>
          <a:xfrm>
            <a:off x="8520112" y="4131506"/>
            <a:ext cx="2162175" cy="1291072"/>
          </a:xfrm>
          <a:prstGeom prst="rect">
            <a:avLst/>
          </a:prstGeom>
        </p:spPr>
      </p:pic>
      <p:pic>
        <p:nvPicPr>
          <p:cNvPr id="15" name="图片 14">
            <a:extLst>
              <a:ext uri="{FF2B5EF4-FFF2-40B4-BE49-F238E27FC236}">
                <a16:creationId xmlns:a16="http://schemas.microsoft.com/office/drawing/2014/main" id="{92F03F90-B839-3A8B-62AB-B8E572B0E630}"/>
              </a:ext>
            </a:extLst>
          </p:cNvPr>
          <p:cNvPicPr>
            <a:picLocks noChangeAspect="1"/>
          </p:cNvPicPr>
          <p:nvPr/>
        </p:nvPicPr>
        <p:blipFill>
          <a:blip r:embed="rId4"/>
          <a:stretch>
            <a:fillRect/>
          </a:stretch>
        </p:blipFill>
        <p:spPr>
          <a:xfrm>
            <a:off x="8520112" y="5422578"/>
            <a:ext cx="2162175" cy="1255848"/>
          </a:xfrm>
          <a:prstGeom prst="rect">
            <a:avLst/>
          </a:prstGeom>
        </p:spPr>
      </p:pic>
      <p:pic>
        <p:nvPicPr>
          <p:cNvPr id="16" name="图片 15">
            <a:extLst>
              <a:ext uri="{FF2B5EF4-FFF2-40B4-BE49-F238E27FC236}">
                <a16:creationId xmlns:a16="http://schemas.microsoft.com/office/drawing/2014/main" id="{A01F81C1-43C1-E6FF-14DC-947E4E254B20}"/>
              </a:ext>
            </a:extLst>
          </p:cNvPr>
          <p:cNvPicPr>
            <a:picLocks noChangeAspect="1"/>
          </p:cNvPicPr>
          <p:nvPr/>
        </p:nvPicPr>
        <p:blipFill>
          <a:blip r:embed="rId5"/>
          <a:stretch>
            <a:fillRect/>
          </a:stretch>
        </p:blipFill>
        <p:spPr>
          <a:xfrm>
            <a:off x="1438275" y="4364543"/>
            <a:ext cx="6867525" cy="2174369"/>
          </a:xfrm>
          <a:prstGeom prst="rect">
            <a:avLst/>
          </a:prstGeom>
        </p:spPr>
      </p:pic>
    </p:spTree>
    <p:extLst>
      <p:ext uri="{BB962C8B-B14F-4D97-AF65-F5344CB8AC3E}">
        <p14:creationId xmlns:p14="http://schemas.microsoft.com/office/powerpoint/2010/main" val="2697568164"/>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FAE5048B-8150-71AF-8EA5-86E7878F85DC}"/>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6</a:t>
            </a:fld>
            <a:endParaRPr lang="zh-HK" altLang="en-US">
              <a:solidFill>
                <a:prstClr val="black">
                  <a:tint val="75000"/>
                </a:prstClr>
              </a:solidFill>
            </a:endParaRPr>
          </a:p>
        </p:txBody>
      </p:sp>
      <p:sp>
        <p:nvSpPr>
          <p:cNvPr id="6" name="文本框 5">
            <a:extLst>
              <a:ext uri="{FF2B5EF4-FFF2-40B4-BE49-F238E27FC236}">
                <a16:creationId xmlns:a16="http://schemas.microsoft.com/office/drawing/2014/main" id="{FF6C830A-93EA-40C4-54E9-51624447C1D7}"/>
              </a:ext>
            </a:extLst>
          </p:cNvPr>
          <p:cNvSpPr txBox="1"/>
          <p:nvPr/>
        </p:nvSpPr>
        <p:spPr>
          <a:xfrm>
            <a:off x="2795588" y="1319177"/>
            <a:ext cx="8558212" cy="4850174"/>
          </a:xfrm>
          <a:prstGeom prst="rect">
            <a:avLst/>
          </a:prstGeom>
          <a:noFill/>
        </p:spPr>
        <p:txBody>
          <a:bodyPr wrap="square">
            <a:spAutoFit/>
          </a:bodyPr>
          <a:lstStyle/>
          <a:p>
            <a:pPr marL="285750" indent="-285750">
              <a:lnSpc>
                <a:spcPct val="150000"/>
              </a:lnSpc>
              <a:buFont typeface="Wingdings" panose="05000000000000000000" pitchFamily="2" charset="2"/>
              <a:buChar char="l"/>
            </a:pPr>
            <a:r>
              <a:rPr lang="zh-CN" altLang="en-US" sz="1600" dirty="0">
                <a:latin typeface="微软雅黑" panose="020B0503020204020204" pitchFamily="34" charset="-122"/>
                <a:ea typeface="微软雅黑" panose="020B0503020204020204" pitchFamily="34" charset="-122"/>
              </a:rPr>
              <a:t>长期以来，汽车智能化研究多以前轮主动转向汽车为主，</a:t>
            </a:r>
            <a:r>
              <a:rPr lang="zh-CN" altLang="en-US" sz="1600" b="1" dirty="0">
                <a:latin typeface="微软雅黑" panose="020B0503020204020204" pitchFamily="34" charset="-122"/>
                <a:ea typeface="微软雅黑" panose="020B0503020204020204" pitchFamily="34" charset="-122"/>
              </a:rPr>
              <a:t>而分布式线控底盘车辆因其具有超高可靠性和执行能力，为车辆智能化的实现提供了更便利的载体。</a:t>
            </a:r>
            <a:r>
              <a:rPr lang="zh-CN" altLang="en-US" sz="1600" dirty="0">
                <a:latin typeface="微软雅黑" panose="020B0503020204020204" pitchFamily="34" charset="-122"/>
                <a:ea typeface="微软雅黑" panose="020B0503020204020204" pitchFamily="34" charset="-122"/>
              </a:rPr>
              <a:t>将全线控电动车辆与车辆智能化结合起来研究具有重要意义。</a:t>
            </a:r>
          </a:p>
          <a:p>
            <a:pPr marL="285750" indent="-285750">
              <a:lnSpc>
                <a:spcPct val="150000"/>
              </a:lnSpc>
              <a:buFont typeface="Wingdings" panose="05000000000000000000" pitchFamily="2" charset="2"/>
              <a:buChar char="l"/>
            </a:pPr>
            <a:r>
              <a:rPr lang="zh-CN" altLang="en-US" sz="1600" dirty="0">
                <a:latin typeface="微软雅黑" panose="020B0503020204020204" pitchFamily="34" charset="-122"/>
                <a:ea typeface="微软雅黑" panose="020B0503020204020204" pitchFamily="34" charset="-122"/>
              </a:rPr>
              <a:t>分布式驱动电动汽车凭借更优秀的动力学特性，扩大了稳定性边界，打破结构上固有的运动学约束，但其</a:t>
            </a:r>
            <a:r>
              <a:rPr lang="zh-CN" altLang="en-US" sz="1600" b="1" dirty="0">
                <a:latin typeface="微软雅黑" panose="020B0503020204020204" pitchFamily="34" charset="-122"/>
                <a:ea typeface="微软雅黑" panose="020B0503020204020204" pitchFamily="34" charset="-122"/>
              </a:rPr>
              <a:t>控制维度的增高也给智能驾驶架构的设计带来新挑战</a:t>
            </a:r>
            <a:r>
              <a:rPr lang="zh-CN" altLang="en-US" sz="1600" dirty="0">
                <a:latin typeface="微软雅黑" panose="020B0503020204020204" pitchFamily="34" charset="-122"/>
                <a:ea typeface="微软雅黑" panose="020B0503020204020204" pitchFamily="34" charset="-122"/>
              </a:rPr>
              <a:t>。车辆行驶稳定性和运动可靠性是分布式驱动电动汽车智能化水平评价的重要准则。揭示非线性稳定域机理，并</a:t>
            </a:r>
            <a:r>
              <a:rPr lang="zh-CN" altLang="en-US" sz="1600" b="1" dirty="0">
                <a:latin typeface="微软雅黑" panose="020B0503020204020204" pitchFamily="34" charset="-122"/>
                <a:ea typeface="微软雅黑" panose="020B0503020204020204" pitchFamily="34" charset="-122"/>
              </a:rPr>
              <a:t>将新动力学特性充分融合于智能驾驶架构设计成为研究难点</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marL="285750" indent="-285750">
              <a:lnSpc>
                <a:spcPct val="150000"/>
              </a:lnSpc>
              <a:buFont typeface="Wingdings" panose="05000000000000000000" pitchFamily="2" charset="2"/>
              <a:buChar char="l"/>
            </a:pPr>
            <a:r>
              <a:rPr lang="zh-CN" altLang="en-US" sz="1600" dirty="0">
                <a:latin typeface="微软雅黑" panose="020B0503020204020204" pitchFamily="34" charset="-122"/>
                <a:ea typeface="微软雅黑" panose="020B0503020204020204" pitchFamily="34" charset="-122"/>
              </a:rPr>
              <a:t>在汽车智能化发展满足多元驾驶场景需求的背景下，智能驾驶系统的研究需要克服现阶段智能驾驶功能实现无法</a:t>
            </a:r>
            <a:r>
              <a:rPr lang="zh-CN" altLang="en-US" sz="1600" b="1" dirty="0">
                <a:latin typeface="微软雅黑" panose="020B0503020204020204" pitchFamily="34" charset="-122"/>
                <a:ea typeface="微软雅黑" panose="020B0503020204020204" pitchFamily="34" charset="-122"/>
              </a:rPr>
              <a:t>充分挖掘分布式线控底盘电动车辆动力学特性及系统执行过程中多目标协同优化</a:t>
            </a:r>
            <a:r>
              <a:rPr lang="zh-CN" altLang="en-US" sz="1600" dirty="0">
                <a:latin typeface="微软雅黑" panose="020B0503020204020204" pitchFamily="34" charset="-122"/>
                <a:ea typeface="微软雅黑" panose="020B0503020204020204" pitchFamily="34" charset="-122"/>
              </a:rPr>
              <a:t>难度大等问题。</a:t>
            </a:r>
          </a:p>
          <a:p>
            <a:pPr marL="285750" indent="-285750">
              <a:lnSpc>
                <a:spcPct val="150000"/>
              </a:lnSpc>
              <a:buFont typeface="Wingdings" panose="05000000000000000000" pitchFamily="2" charset="2"/>
              <a:buChar char="l"/>
            </a:pPr>
            <a:r>
              <a:rPr lang="zh-CN" altLang="en-US" sz="1600" dirty="0">
                <a:latin typeface="微软雅黑" panose="020B0503020204020204" pitchFamily="34" charset="-122"/>
                <a:ea typeface="微软雅黑" panose="020B0503020204020204" pitchFamily="34" charset="-122"/>
              </a:rPr>
              <a:t>充分利用分布式驱动电动汽车的稳定域对</a:t>
            </a:r>
            <a:r>
              <a:rPr lang="zh-CN" altLang="en-US" sz="1600" b="1" dirty="0">
                <a:latin typeface="微软雅黑" panose="020B0503020204020204" pitchFamily="34" charset="-122"/>
                <a:ea typeface="微软雅黑" panose="020B0503020204020204" pitchFamily="34" charset="-122"/>
              </a:rPr>
              <a:t>智能驾驶层进行顶层设计</a:t>
            </a:r>
            <a:r>
              <a:rPr lang="zh-CN" altLang="en-US" sz="1600" dirty="0">
                <a:latin typeface="微软雅黑" panose="020B0503020204020204" pitchFamily="34" charset="-122"/>
                <a:ea typeface="微软雅黑" panose="020B0503020204020204" pitchFamily="34" charset="-122"/>
              </a:rPr>
              <a:t>至关重要，最大程度上挖掘瞬时动力学特性，可保证智能电动车辆在高速、紧急避撞等交通场景下的行驶安全性，这是亟需探究和解决的关键研究问题。</a:t>
            </a:r>
          </a:p>
        </p:txBody>
      </p:sp>
      <p:grpSp>
        <p:nvGrpSpPr>
          <p:cNvPr id="7" name="组合 6">
            <a:extLst>
              <a:ext uri="{FF2B5EF4-FFF2-40B4-BE49-F238E27FC236}">
                <a16:creationId xmlns:a16="http://schemas.microsoft.com/office/drawing/2014/main" id="{4719C476-D353-C8CD-3185-2FC9D9C8A0D5}"/>
              </a:ext>
            </a:extLst>
          </p:cNvPr>
          <p:cNvGrpSpPr/>
          <p:nvPr/>
        </p:nvGrpSpPr>
        <p:grpSpPr>
          <a:xfrm>
            <a:off x="1270546" y="1269420"/>
            <a:ext cx="1283076" cy="4860235"/>
            <a:chOff x="1763642" y="1731147"/>
            <a:chExt cx="1283076" cy="4860235"/>
          </a:xfrm>
        </p:grpSpPr>
        <p:sp>
          <p:nvSpPr>
            <p:cNvPr id="8" name="学论网-www.xuelun.me">
              <a:extLst>
                <a:ext uri="{FF2B5EF4-FFF2-40B4-BE49-F238E27FC236}">
                  <a16:creationId xmlns:a16="http://schemas.microsoft.com/office/drawing/2014/main" id="{798EE09A-67E7-DFF0-7D6C-104B585961AE}"/>
                </a:ext>
              </a:extLst>
            </p:cNvPr>
            <p:cNvSpPr/>
            <p:nvPr/>
          </p:nvSpPr>
          <p:spPr>
            <a:xfrm rot="5400000">
              <a:off x="1763642" y="1731147"/>
              <a:ext cx="1283075" cy="1283075"/>
            </a:xfrm>
            <a:prstGeom prst="blockArc">
              <a:avLst>
                <a:gd name="adj1" fmla="val 10800000"/>
                <a:gd name="adj2" fmla="val 149699"/>
                <a:gd name="adj3" fmla="val 6982"/>
              </a:avLst>
            </a:prstGeom>
            <a:solidFill>
              <a:srgbClr val="2838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9" name="学论网-www.xuelun.me">
              <a:extLst>
                <a:ext uri="{FF2B5EF4-FFF2-40B4-BE49-F238E27FC236}">
                  <a16:creationId xmlns:a16="http://schemas.microsoft.com/office/drawing/2014/main" id="{72A8790B-E346-9BCA-F3AF-CFB4D005D7DE}"/>
                </a:ext>
              </a:extLst>
            </p:cNvPr>
            <p:cNvSpPr/>
            <p:nvPr/>
          </p:nvSpPr>
          <p:spPr>
            <a:xfrm rot="16200000" flipH="1">
              <a:off x="1763643" y="2922916"/>
              <a:ext cx="1283075" cy="1283075"/>
            </a:xfrm>
            <a:prstGeom prst="blockArc">
              <a:avLst>
                <a:gd name="adj1" fmla="val 10800000"/>
                <a:gd name="adj2" fmla="val 149699"/>
                <a:gd name="adj3" fmla="val 6982"/>
              </a:avLst>
            </a:prstGeom>
            <a:solidFill>
              <a:srgbClr val="2838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10" name="学论网-www.xuelun.me">
              <a:extLst>
                <a:ext uri="{FF2B5EF4-FFF2-40B4-BE49-F238E27FC236}">
                  <a16:creationId xmlns:a16="http://schemas.microsoft.com/office/drawing/2014/main" id="{1226AF06-21F8-AAAA-E5B3-0829241F410C}"/>
                </a:ext>
              </a:extLst>
            </p:cNvPr>
            <p:cNvSpPr/>
            <p:nvPr/>
          </p:nvSpPr>
          <p:spPr>
            <a:xfrm rot="5400000">
              <a:off x="1763643" y="4116538"/>
              <a:ext cx="1283075" cy="1283075"/>
            </a:xfrm>
            <a:prstGeom prst="blockArc">
              <a:avLst>
                <a:gd name="adj1" fmla="val 10800000"/>
                <a:gd name="adj2" fmla="val 149699"/>
                <a:gd name="adj3" fmla="val 6982"/>
              </a:avLst>
            </a:prstGeom>
            <a:solidFill>
              <a:srgbClr val="2838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11" name="学论网-www.xuelun.me">
              <a:extLst>
                <a:ext uri="{FF2B5EF4-FFF2-40B4-BE49-F238E27FC236}">
                  <a16:creationId xmlns:a16="http://schemas.microsoft.com/office/drawing/2014/main" id="{002DFB3B-B5A4-FBB9-6D6D-529C8A4087BA}"/>
                </a:ext>
              </a:extLst>
            </p:cNvPr>
            <p:cNvSpPr/>
            <p:nvPr/>
          </p:nvSpPr>
          <p:spPr>
            <a:xfrm rot="16200000" flipH="1">
              <a:off x="1763643" y="5308307"/>
              <a:ext cx="1283075" cy="1283075"/>
            </a:xfrm>
            <a:prstGeom prst="blockArc">
              <a:avLst>
                <a:gd name="adj1" fmla="val 10800000"/>
                <a:gd name="adj2" fmla="val 149699"/>
                <a:gd name="adj3" fmla="val 6982"/>
              </a:avLst>
            </a:prstGeom>
            <a:solidFill>
              <a:srgbClr val="28384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grpSp>
        <p:nvGrpSpPr>
          <p:cNvPr id="19" name="组合 18">
            <a:extLst>
              <a:ext uri="{FF2B5EF4-FFF2-40B4-BE49-F238E27FC236}">
                <a16:creationId xmlns:a16="http://schemas.microsoft.com/office/drawing/2014/main" id="{5BF2F66C-08E8-4957-84A9-6A9FD4F8EB70}"/>
              </a:ext>
            </a:extLst>
          </p:cNvPr>
          <p:cNvGrpSpPr/>
          <p:nvPr/>
        </p:nvGrpSpPr>
        <p:grpSpPr>
          <a:xfrm>
            <a:off x="1774357" y="2666874"/>
            <a:ext cx="900248" cy="782251"/>
            <a:chOff x="1203250" y="1518905"/>
            <a:chExt cx="900248" cy="782251"/>
          </a:xfrm>
          <a:solidFill>
            <a:srgbClr val="0A2B7C"/>
          </a:solidFill>
        </p:grpSpPr>
        <p:sp>
          <p:nvSpPr>
            <p:cNvPr id="5" name="等腰三角形 2">
              <a:extLst>
                <a:ext uri="{FF2B5EF4-FFF2-40B4-BE49-F238E27FC236}">
                  <a16:creationId xmlns:a16="http://schemas.microsoft.com/office/drawing/2014/main" id="{D5DA0984-66C9-BD0B-B937-E8C01FD2CE73}"/>
                </a:ext>
              </a:extLst>
            </p:cNvPr>
            <p:cNvSpPr/>
            <p:nvPr/>
          </p:nvSpPr>
          <p:spPr bwMode="auto">
            <a:xfrm>
              <a:off x="1203250" y="1518905"/>
              <a:ext cx="900248" cy="782251"/>
            </a:xfrm>
            <a:prstGeom prst="roundRect">
              <a:avLst/>
            </a:prstGeom>
            <a:grpFill/>
            <a:ln>
              <a:noFill/>
            </a:ln>
          </p:spPr>
          <p:txBody>
            <a:bodyPr wrap="none" lIns="68580" tIns="34290" rIns="68580" bIns="3429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100" b="0" i="0" u="none" strike="noStrike" kern="0" cap="none" spc="0" normalizeH="0" baseline="0" noProof="0" dirty="0">
                <a:ln>
                  <a:noFill/>
                </a:ln>
                <a:solidFill>
                  <a:srgbClr val="FFFFFF"/>
                </a:solidFill>
                <a:effectLst/>
                <a:uLnTx/>
                <a:uFillTx/>
                <a:cs typeface="+mn-ea"/>
                <a:sym typeface="+mn-lt"/>
              </a:endParaRPr>
            </a:p>
          </p:txBody>
        </p:sp>
        <p:sp>
          <p:nvSpPr>
            <p:cNvPr id="16" name="TextBox 23">
              <a:extLst>
                <a:ext uri="{FF2B5EF4-FFF2-40B4-BE49-F238E27FC236}">
                  <a16:creationId xmlns:a16="http://schemas.microsoft.com/office/drawing/2014/main" id="{66DCA36F-7300-AEAF-FAF0-070DA31AA5F9}"/>
                </a:ext>
              </a:extLst>
            </p:cNvPr>
            <p:cNvSpPr txBox="1"/>
            <p:nvPr/>
          </p:nvSpPr>
          <p:spPr>
            <a:xfrm>
              <a:off x="1370935" y="1755466"/>
              <a:ext cx="584126" cy="309128"/>
            </a:xfrm>
            <a:prstGeom prst="rect">
              <a:avLst/>
            </a:prstGeom>
            <a:grpFill/>
            <a:ln>
              <a:noFill/>
            </a:ln>
          </p:spPr>
          <p:txBody>
            <a:bodyPr wrap="none" lIns="68580" tIns="34290" rIns="68580" bIns="34290" anchor="ctr"/>
            <a:lstStyle>
              <a:defPPr>
                <a:defRPr lang="zh-CN"/>
              </a:defPPr>
              <a:lvl1pPr algn="ctr">
                <a:defRPr sz="2000" kern="0">
                  <a:solidFill>
                    <a:srgbClr val="FFFFFF"/>
                  </a:solidFill>
                  <a:latin typeface="微软雅黑" panose="020B0503020204020204" charset="-122"/>
                  <a:ea typeface="微软雅黑" panose="020B050302020402020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rgbClr val="FFFFFF"/>
                  </a:solidFill>
                  <a:effectLst/>
                  <a:uLnTx/>
                  <a:uFillTx/>
                  <a:latin typeface="+mn-lt"/>
                  <a:ea typeface="+mn-ea"/>
                  <a:cs typeface="+mn-ea"/>
                  <a:sym typeface="+mn-lt"/>
                </a:rPr>
                <a:t>2</a:t>
              </a:r>
              <a:endParaRPr kumimoji="0" lang="zh-CN" altLang="en-US" sz="4000" b="1" i="0" u="none" strike="noStrike" kern="0" cap="none" spc="0" normalizeH="0" baseline="0" noProof="0" dirty="0">
                <a:ln>
                  <a:noFill/>
                </a:ln>
                <a:solidFill>
                  <a:srgbClr val="FFFFFF"/>
                </a:solidFill>
                <a:effectLst/>
                <a:uLnTx/>
                <a:uFillTx/>
                <a:latin typeface="+mn-lt"/>
                <a:ea typeface="+mn-ea"/>
                <a:cs typeface="+mn-ea"/>
                <a:sym typeface="+mn-lt"/>
              </a:endParaRPr>
            </a:p>
          </p:txBody>
        </p:sp>
      </p:grpSp>
      <p:grpSp>
        <p:nvGrpSpPr>
          <p:cNvPr id="24" name="组合 23">
            <a:extLst>
              <a:ext uri="{FF2B5EF4-FFF2-40B4-BE49-F238E27FC236}">
                <a16:creationId xmlns:a16="http://schemas.microsoft.com/office/drawing/2014/main" id="{3856DE5F-CCDD-D6EA-4898-F46D31D721DC}"/>
              </a:ext>
            </a:extLst>
          </p:cNvPr>
          <p:cNvGrpSpPr/>
          <p:nvPr/>
        </p:nvGrpSpPr>
        <p:grpSpPr>
          <a:xfrm>
            <a:off x="937753" y="1540611"/>
            <a:ext cx="900248" cy="782251"/>
            <a:chOff x="1203250" y="1518905"/>
            <a:chExt cx="900248" cy="782251"/>
          </a:xfrm>
        </p:grpSpPr>
        <p:sp>
          <p:nvSpPr>
            <p:cNvPr id="25" name="等腰三角形 2">
              <a:extLst>
                <a:ext uri="{FF2B5EF4-FFF2-40B4-BE49-F238E27FC236}">
                  <a16:creationId xmlns:a16="http://schemas.microsoft.com/office/drawing/2014/main" id="{7F3DE8E1-BC25-1CF0-8584-0E122DDEF120}"/>
                </a:ext>
              </a:extLst>
            </p:cNvPr>
            <p:cNvSpPr/>
            <p:nvPr/>
          </p:nvSpPr>
          <p:spPr bwMode="auto">
            <a:xfrm>
              <a:off x="1203250" y="1518905"/>
              <a:ext cx="900248" cy="782251"/>
            </a:xfrm>
            <a:prstGeom prst="roundRect">
              <a:avLst/>
            </a:prstGeom>
            <a:solidFill>
              <a:srgbClr val="0A2B7C"/>
            </a:solidFill>
            <a:ln>
              <a:noFill/>
            </a:ln>
          </p:spPr>
          <p:txBody>
            <a:bodyPr wrap="none" lIns="68580" tIns="34290" rIns="68580" bIns="3429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100" b="0" i="0" u="none" strike="noStrike" kern="0" cap="none" spc="0" normalizeH="0" baseline="0" noProof="0" dirty="0">
                <a:ln>
                  <a:noFill/>
                </a:ln>
                <a:solidFill>
                  <a:srgbClr val="FFFFFF"/>
                </a:solidFill>
                <a:effectLst/>
                <a:uLnTx/>
                <a:uFillTx/>
                <a:cs typeface="+mn-ea"/>
                <a:sym typeface="+mn-lt"/>
              </a:endParaRPr>
            </a:p>
          </p:txBody>
        </p:sp>
        <p:sp>
          <p:nvSpPr>
            <p:cNvPr id="26" name="TextBox 23">
              <a:extLst>
                <a:ext uri="{FF2B5EF4-FFF2-40B4-BE49-F238E27FC236}">
                  <a16:creationId xmlns:a16="http://schemas.microsoft.com/office/drawing/2014/main" id="{B8DDCC1B-08D8-3AFD-86BA-5772A4DCD18F}"/>
                </a:ext>
              </a:extLst>
            </p:cNvPr>
            <p:cNvSpPr txBox="1"/>
            <p:nvPr/>
          </p:nvSpPr>
          <p:spPr>
            <a:xfrm>
              <a:off x="1370935" y="1755466"/>
              <a:ext cx="584126" cy="309128"/>
            </a:xfrm>
            <a:prstGeom prst="rect">
              <a:avLst/>
            </a:prstGeom>
            <a:noFill/>
            <a:ln>
              <a:noFill/>
            </a:ln>
          </p:spPr>
          <p:txBody>
            <a:bodyPr wrap="none" lIns="68580" tIns="34290" rIns="68580" bIns="34290" anchor="ctr"/>
            <a:lstStyle>
              <a:defPPr>
                <a:defRPr lang="zh-CN"/>
              </a:defPPr>
              <a:lvl1pPr algn="ctr">
                <a:defRPr sz="2000" kern="0">
                  <a:solidFill>
                    <a:srgbClr val="FFFFFF"/>
                  </a:solidFill>
                  <a:latin typeface="微软雅黑" panose="020B0503020204020204" charset="-122"/>
                  <a:ea typeface="微软雅黑" panose="020B050302020402020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rgbClr val="FFFFFF"/>
                  </a:solidFill>
                  <a:effectLst/>
                  <a:uLnTx/>
                  <a:uFillTx/>
                  <a:latin typeface="+mn-lt"/>
                  <a:ea typeface="+mn-ea"/>
                  <a:cs typeface="+mn-ea"/>
                  <a:sym typeface="+mn-lt"/>
                </a:rPr>
                <a:t>1</a:t>
              </a:r>
              <a:endParaRPr kumimoji="0" lang="zh-CN" altLang="en-US" sz="4000" b="1" i="0" u="none" strike="noStrike" kern="0" cap="none" spc="0" normalizeH="0" baseline="0" noProof="0" dirty="0">
                <a:ln>
                  <a:noFill/>
                </a:ln>
                <a:solidFill>
                  <a:srgbClr val="FFFFFF"/>
                </a:solidFill>
                <a:effectLst/>
                <a:uLnTx/>
                <a:uFillTx/>
                <a:latin typeface="+mn-lt"/>
                <a:ea typeface="+mn-ea"/>
                <a:cs typeface="+mn-ea"/>
                <a:sym typeface="+mn-lt"/>
              </a:endParaRPr>
            </a:p>
          </p:txBody>
        </p:sp>
      </p:grpSp>
      <p:grpSp>
        <p:nvGrpSpPr>
          <p:cNvPr id="27" name="组合 26">
            <a:extLst>
              <a:ext uri="{FF2B5EF4-FFF2-40B4-BE49-F238E27FC236}">
                <a16:creationId xmlns:a16="http://schemas.microsoft.com/office/drawing/2014/main" id="{6AD01BF1-D5F8-D03D-D145-6B6F58F7C492}"/>
              </a:ext>
            </a:extLst>
          </p:cNvPr>
          <p:cNvGrpSpPr/>
          <p:nvPr/>
        </p:nvGrpSpPr>
        <p:grpSpPr>
          <a:xfrm>
            <a:off x="928129" y="3897768"/>
            <a:ext cx="900248" cy="782251"/>
            <a:chOff x="1203250" y="1518905"/>
            <a:chExt cx="900248" cy="782251"/>
          </a:xfrm>
          <a:solidFill>
            <a:srgbClr val="0A2B7C"/>
          </a:solidFill>
        </p:grpSpPr>
        <p:sp>
          <p:nvSpPr>
            <p:cNvPr id="28" name="等腰三角形 2">
              <a:extLst>
                <a:ext uri="{FF2B5EF4-FFF2-40B4-BE49-F238E27FC236}">
                  <a16:creationId xmlns:a16="http://schemas.microsoft.com/office/drawing/2014/main" id="{8C088672-DB1D-4415-EE4B-7E9EBB25975E}"/>
                </a:ext>
              </a:extLst>
            </p:cNvPr>
            <p:cNvSpPr/>
            <p:nvPr/>
          </p:nvSpPr>
          <p:spPr bwMode="auto">
            <a:xfrm>
              <a:off x="1203250" y="1518905"/>
              <a:ext cx="900248" cy="782251"/>
            </a:xfrm>
            <a:prstGeom prst="roundRect">
              <a:avLst/>
            </a:prstGeom>
            <a:grpFill/>
            <a:ln>
              <a:noFill/>
            </a:ln>
          </p:spPr>
          <p:txBody>
            <a:bodyPr wrap="none" lIns="68580" tIns="34290" rIns="68580" bIns="3429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100" b="0" i="0" u="none" strike="noStrike" kern="0" cap="none" spc="0" normalizeH="0" baseline="0" noProof="0" dirty="0">
                <a:ln>
                  <a:noFill/>
                </a:ln>
                <a:solidFill>
                  <a:srgbClr val="FFFFFF"/>
                </a:solidFill>
                <a:effectLst/>
                <a:uLnTx/>
                <a:uFillTx/>
                <a:cs typeface="+mn-ea"/>
                <a:sym typeface="+mn-lt"/>
              </a:endParaRPr>
            </a:p>
          </p:txBody>
        </p:sp>
        <p:sp>
          <p:nvSpPr>
            <p:cNvPr id="29" name="TextBox 23">
              <a:extLst>
                <a:ext uri="{FF2B5EF4-FFF2-40B4-BE49-F238E27FC236}">
                  <a16:creationId xmlns:a16="http://schemas.microsoft.com/office/drawing/2014/main" id="{C7C28B10-3ACD-6224-5B19-EF5808AB7ADD}"/>
                </a:ext>
              </a:extLst>
            </p:cNvPr>
            <p:cNvSpPr txBox="1"/>
            <p:nvPr/>
          </p:nvSpPr>
          <p:spPr>
            <a:xfrm>
              <a:off x="1370935" y="1755466"/>
              <a:ext cx="584126" cy="309128"/>
            </a:xfrm>
            <a:prstGeom prst="rect">
              <a:avLst/>
            </a:prstGeom>
            <a:grpFill/>
            <a:ln>
              <a:noFill/>
            </a:ln>
          </p:spPr>
          <p:txBody>
            <a:bodyPr wrap="none" lIns="68580" tIns="34290" rIns="68580" bIns="34290" anchor="ctr"/>
            <a:lstStyle>
              <a:defPPr>
                <a:defRPr lang="zh-CN"/>
              </a:defPPr>
              <a:lvl1pPr algn="ctr">
                <a:defRPr sz="2000" kern="0">
                  <a:solidFill>
                    <a:srgbClr val="FFFFFF"/>
                  </a:solidFill>
                  <a:latin typeface="微软雅黑" panose="020B0503020204020204" charset="-122"/>
                  <a:ea typeface="微软雅黑" panose="020B050302020402020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000" b="1" dirty="0">
                  <a:latin typeface="+mn-lt"/>
                  <a:ea typeface="+mn-ea"/>
                  <a:cs typeface="+mn-ea"/>
                  <a:sym typeface="+mn-lt"/>
                </a:rPr>
                <a:t>3</a:t>
              </a:r>
              <a:endParaRPr kumimoji="0" lang="zh-CN" altLang="en-US" sz="4000" b="1" i="0" u="none" strike="noStrike" kern="0" cap="none" spc="0" normalizeH="0" baseline="0" noProof="0" dirty="0">
                <a:ln>
                  <a:noFill/>
                </a:ln>
                <a:solidFill>
                  <a:srgbClr val="FFFFFF"/>
                </a:solidFill>
                <a:effectLst/>
                <a:uLnTx/>
                <a:uFillTx/>
                <a:latin typeface="+mn-lt"/>
                <a:ea typeface="+mn-ea"/>
                <a:cs typeface="+mn-ea"/>
                <a:sym typeface="+mn-lt"/>
              </a:endParaRPr>
            </a:p>
          </p:txBody>
        </p:sp>
      </p:grpSp>
      <p:grpSp>
        <p:nvGrpSpPr>
          <p:cNvPr id="30" name="组合 29">
            <a:extLst>
              <a:ext uri="{FF2B5EF4-FFF2-40B4-BE49-F238E27FC236}">
                <a16:creationId xmlns:a16="http://schemas.microsoft.com/office/drawing/2014/main" id="{AD08D67B-3C79-46B0-B661-D01E2185A077}"/>
              </a:ext>
            </a:extLst>
          </p:cNvPr>
          <p:cNvGrpSpPr/>
          <p:nvPr/>
        </p:nvGrpSpPr>
        <p:grpSpPr>
          <a:xfrm>
            <a:off x="1783981" y="5110353"/>
            <a:ext cx="900248" cy="782251"/>
            <a:chOff x="1244555" y="1518904"/>
            <a:chExt cx="900248" cy="782251"/>
          </a:xfrm>
          <a:solidFill>
            <a:srgbClr val="0A2B7C"/>
          </a:solidFill>
        </p:grpSpPr>
        <p:sp>
          <p:nvSpPr>
            <p:cNvPr id="31" name="等腰三角形 2">
              <a:extLst>
                <a:ext uri="{FF2B5EF4-FFF2-40B4-BE49-F238E27FC236}">
                  <a16:creationId xmlns:a16="http://schemas.microsoft.com/office/drawing/2014/main" id="{A081D4C3-F3A6-7F76-38E0-BE9EFD8D62CF}"/>
                </a:ext>
              </a:extLst>
            </p:cNvPr>
            <p:cNvSpPr/>
            <p:nvPr/>
          </p:nvSpPr>
          <p:spPr bwMode="auto">
            <a:xfrm>
              <a:off x="1244555" y="1518904"/>
              <a:ext cx="900248" cy="782251"/>
            </a:xfrm>
            <a:prstGeom prst="roundRect">
              <a:avLst/>
            </a:prstGeom>
            <a:grpFill/>
            <a:ln>
              <a:noFill/>
            </a:ln>
          </p:spPr>
          <p:txBody>
            <a:bodyPr wrap="none" lIns="68580" tIns="34290" rIns="68580" bIns="3429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100" b="0" i="0" u="none" strike="noStrike" kern="0" cap="none" spc="0" normalizeH="0" baseline="0" noProof="0" dirty="0">
                <a:ln>
                  <a:noFill/>
                </a:ln>
                <a:solidFill>
                  <a:srgbClr val="FFFFFF"/>
                </a:solidFill>
                <a:effectLst/>
                <a:uLnTx/>
                <a:uFillTx/>
                <a:cs typeface="+mn-ea"/>
                <a:sym typeface="+mn-lt"/>
              </a:endParaRPr>
            </a:p>
          </p:txBody>
        </p:sp>
        <p:sp>
          <p:nvSpPr>
            <p:cNvPr id="32" name="TextBox 23">
              <a:extLst>
                <a:ext uri="{FF2B5EF4-FFF2-40B4-BE49-F238E27FC236}">
                  <a16:creationId xmlns:a16="http://schemas.microsoft.com/office/drawing/2014/main" id="{20BCAC4F-2127-5DC3-2FB2-D5E85AAA63AD}"/>
                </a:ext>
              </a:extLst>
            </p:cNvPr>
            <p:cNvSpPr txBox="1"/>
            <p:nvPr/>
          </p:nvSpPr>
          <p:spPr>
            <a:xfrm>
              <a:off x="1370935" y="1755466"/>
              <a:ext cx="584126" cy="309128"/>
            </a:xfrm>
            <a:prstGeom prst="rect">
              <a:avLst/>
            </a:prstGeom>
            <a:grpFill/>
            <a:ln>
              <a:noFill/>
            </a:ln>
          </p:spPr>
          <p:txBody>
            <a:bodyPr wrap="none" lIns="68580" tIns="34290" rIns="68580" bIns="34290" anchor="ctr"/>
            <a:lstStyle>
              <a:defPPr>
                <a:defRPr lang="zh-CN"/>
              </a:defPPr>
              <a:lvl1pPr algn="ctr">
                <a:defRPr sz="2000" kern="0">
                  <a:solidFill>
                    <a:srgbClr val="FFFFFF"/>
                  </a:solidFill>
                  <a:latin typeface="微软雅黑" panose="020B0503020204020204" charset="-122"/>
                  <a:ea typeface="微软雅黑" panose="020B050302020402020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000" b="1" dirty="0">
                  <a:latin typeface="+mn-lt"/>
                  <a:ea typeface="+mn-ea"/>
                  <a:cs typeface="+mn-ea"/>
                  <a:sym typeface="+mn-lt"/>
                </a:rPr>
                <a:t>4</a:t>
              </a:r>
              <a:endParaRPr kumimoji="0" lang="zh-CN" altLang="en-US" sz="4000" b="1" i="0" u="none" strike="noStrike" kern="0" cap="none" spc="0" normalizeH="0" baseline="0" noProof="0" dirty="0">
                <a:ln>
                  <a:noFill/>
                </a:ln>
                <a:solidFill>
                  <a:srgbClr val="FFFFFF"/>
                </a:solidFill>
                <a:effectLst/>
                <a:uLnTx/>
                <a:uFillTx/>
                <a:latin typeface="+mn-lt"/>
                <a:ea typeface="+mn-ea"/>
                <a:cs typeface="+mn-ea"/>
                <a:sym typeface="+mn-lt"/>
              </a:endParaRPr>
            </a:p>
          </p:txBody>
        </p:sp>
      </p:grpSp>
    </p:spTree>
    <p:extLst>
      <p:ext uri="{BB962C8B-B14F-4D97-AF65-F5344CB8AC3E}">
        <p14:creationId xmlns:p14="http://schemas.microsoft.com/office/powerpoint/2010/main" val="3697287723"/>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组合 13"/>
          <p:cNvGrpSpPr/>
          <p:nvPr/>
        </p:nvGrpSpPr>
        <p:grpSpPr>
          <a:xfrm>
            <a:off x="1849457" y="2568507"/>
            <a:ext cx="10942905" cy="1720986"/>
            <a:chOff x="1184275" y="2717410"/>
            <a:chExt cx="10942905" cy="1720986"/>
          </a:xfrm>
        </p:grpSpPr>
        <p:grpSp>
          <p:nvGrpSpPr>
            <p:cNvPr id="10" name="Group 4"/>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11" name="Freeform 6"/>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12" name="Freeform 7"/>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13" name="文本框 12"/>
            <p:cNvSpPr txBox="1"/>
            <p:nvPr/>
          </p:nvSpPr>
          <p:spPr>
            <a:xfrm>
              <a:off x="3187699" y="2847430"/>
              <a:ext cx="8939481" cy="1107996"/>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国内外研究现状</a:t>
              </a:r>
              <a:endParaRPr lang="zh-CN" altLang="zh-HK" sz="6600" b="1" spc="300" dirty="0">
                <a:solidFill>
                  <a:schemeClr val="bg1"/>
                </a:solidFill>
                <a:latin typeface="微软雅黑" panose="020B0503020204020204" pitchFamily="34" charset="-122"/>
                <a:ea typeface="微软雅黑" panose="020B0503020204020204" pitchFamily="34" charset="-122"/>
              </a:endParaRPr>
            </a:p>
          </p:txBody>
        </p:sp>
      </p:gr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A3830439-CCBE-2B57-0C55-C4F4A2D89383}"/>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8</a:t>
            </a:fld>
            <a:endParaRPr lang="zh-HK" altLang="en-US">
              <a:solidFill>
                <a:prstClr val="black">
                  <a:tint val="75000"/>
                </a:prstClr>
              </a:solidFill>
            </a:endParaRPr>
          </a:p>
        </p:txBody>
      </p:sp>
      <p:grpSp>
        <p:nvGrpSpPr>
          <p:cNvPr id="8" name="组合 7">
            <a:extLst>
              <a:ext uri="{FF2B5EF4-FFF2-40B4-BE49-F238E27FC236}">
                <a16:creationId xmlns:a16="http://schemas.microsoft.com/office/drawing/2014/main" id="{E9BFFEC0-AD95-7F98-C430-BDFE1AE9F51F}"/>
              </a:ext>
            </a:extLst>
          </p:cNvPr>
          <p:cNvGrpSpPr/>
          <p:nvPr/>
        </p:nvGrpSpPr>
        <p:grpSpPr>
          <a:xfrm>
            <a:off x="1333500" y="989339"/>
            <a:ext cx="4191000" cy="849845"/>
            <a:chOff x="3638554" y="4253032"/>
            <a:chExt cx="1274967" cy="572648"/>
          </a:xfrm>
          <a:solidFill>
            <a:schemeClr val="accent2"/>
          </a:solidFill>
        </p:grpSpPr>
        <p:sp>
          <p:nvSpPr>
            <p:cNvPr id="9" name="矩形 8">
              <a:extLst>
                <a:ext uri="{FF2B5EF4-FFF2-40B4-BE49-F238E27FC236}">
                  <a16:creationId xmlns:a16="http://schemas.microsoft.com/office/drawing/2014/main" id="{FBD65839-16EC-2D7F-2D98-A4D276080840}"/>
                </a:ext>
              </a:extLst>
            </p:cNvPr>
            <p:cNvSpPr/>
            <p:nvPr/>
          </p:nvSpPr>
          <p:spPr>
            <a:xfrm>
              <a:off x="3638554" y="4253032"/>
              <a:ext cx="1130300" cy="351218"/>
            </a:xfrm>
            <a:prstGeom prst="rect">
              <a:avLst/>
            </a:prstGeom>
            <a:solidFill>
              <a:srgbClr val="0A2B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1" i="0" u="none" strike="noStrike" kern="1200" cap="none" spc="0" normalizeH="0" baseline="0" noProof="0">
                <a:ln>
                  <a:noFill/>
                </a:ln>
                <a:solidFill>
                  <a:prstClr val="white"/>
                </a:solidFill>
                <a:effectLst/>
                <a:uLnTx/>
                <a:uFillTx/>
                <a:cs typeface="+mn-ea"/>
                <a:sym typeface="+mn-lt"/>
              </a:endParaRPr>
            </a:p>
          </p:txBody>
        </p:sp>
        <p:sp>
          <p:nvSpPr>
            <p:cNvPr id="10" name="矩形 9">
              <a:extLst>
                <a:ext uri="{FF2B5EF4-FFF2-40B4-BE49-F238E27FC236}">
                  <a16:creationId xmlns:a16="http://schemas.microsoft.com/office/drawing/2014/main" id="{546817F3-AE3A-7C78-3849-76E5F88AB60F}"/>
                </a:ext>
              </a:extLst>
            </p:cNvPr>
            <p:cNvSpPr/>
            <p:nvPr/>
          </p:nvSpPr>
          <p:spPr>
            <a:xfrm>
              <a:off x="3705605" y="4265732"/>
              <a:ext cx="1207916" cy="559948"/>
            </a:xfrm>
            <a:prstGeom prst="rect">
              <a:avLst/>
            </a:prstGeom>
            <a:noFill/>
          </p:spPr>
          <p:txBody>
            <a:bodyPr vert="horz"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2400" b="1" dirty="0">
                  <a:solidFill>
                    <a:prstClr val="white"/>
                  </a:solidFill>
                  <a:cs typeface="+mn-ea"/>
                  <a:sym typeface="+mn-lt"/>
                </a:rPr>
                <a:t>轨迹规划研究现状总结</a:t>
              </a:r>
              <a:endParaRPr kumimoji="0" lang="zh-CN" altLang="en-US" sz="2400" b="1" i="0" u="none" strike="noStrike" kern="1200" cap="none" spc="0" normalizeH="0" baseline="0" noProof="0" dirty="0">
                <a:ln>
                  <a:noFill/>
                </a:ln>
                <a:solidFill>
                  <a:prstClr val="white"/>
                </a:solidFill>
                <a:effectLst/>
                <a:uLnTx/>
                <a:uFillTx/>
                <a:cs typeface="+mn-ea"/>
                <a:sym typeface="+mn-lt"/>
              </a:endParaRPr>
            </a:p>
          </p:txBody>
        </p:sp>
      </p:grpSp>
      <p:grpSp>
        <p:nvGrpSpPr>
          <p:cNvPr id="12" name="组合 11">
            <a:extLst>
              <a:ext uri="{FF2B5EF4-FFF2-40B4-BE49-F238E27FC236}">
                <a16:creationId xmlns:a16="http://schemas.microsoft.com/office/drawing/2014/main" id="{F8FB8FED-A2D6-40BB-5D7A-5287F1514E42}"/>
              </a:ext>
            </a:extLst>
          </p:cNvPr>
          <p:cNvGrpSpPr/>
          <p:nvPr/>
        </p:nvGrpSpPr>
        <p:grpSpPr>
          <a:xfrm>
            <a:off x="6977063" y="989339"/>
            <a:ext cx="4191000" cy="521229"/>
            <a:chOff x="3638554" y="4253032"/>
            <a:chExt cx="1274967" cy="351218"/>
          </a:xfrm>
          <a:solidFill>
            <a:schemeClr val="accent2"/>
          </a:solidFill>
        </p:grpSpPr>
        <p:sp>
          <p:nvSpPr>
            <p:cNvPr id="13" name="矩形 12">
              <a:extLst>
                <a:ext uri="{FF2B5EF4-FFF2-40B4-BE49-F238E27FC236}">
                  <a16:creationId xmlns:a16="http://schemas.microsoft.com/office/drawing/2014/main" id="{AE1450D9-ADAC-A643-B26F-FD349A7C4700}"/>
                </a:ext>
              </a:extLst>
            </p:cNvPr>
            <p:cNvSpPr/>
            <p:nvPr/>
          </p:nvSpPr>
          <p:spPr>
            <a:xfrm>
              <a:off x="3638554" y="4253032"/>
              <a:ext cx="1130300" cy="351218"/>
            </a:xfrm>
            <a:prstGeom prst="rect">
              <a:avLst/>
            </a:prstGeom>
            <a:solidFill>
              <a:srgbClr val="0A2B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1" i="0" u="none" strike="noStrike" kern="1200" cap="none" spc="0" normalizeH="0" baseline="0" noProof="0">
                <a:ln>
                  <a:noFill/>
                </a:ln>
                <a:solidFill>
                  <a:prstClr val="white"/>
                </a:solidFill>
                <a:effectLst/>
                <a:uLnTx/>
                <a:uFillTx/>
                <a:cs typeface="+mn-ea"/>
                <a:sym typeface="+mn-lt"/>
              </a:endParaRPr>
            </a:p>
          </p:txBody>
        </p:sp>
        <p:sp>
          <p:nvSpPr>
            <p:cNvPr id="14" name="矩形 13">
              <a:extLst>
                <a:ext uri="{FF2B5EF4-FFF2-40B4-BE49-F238E27FC236}">
                  <a16:creationId xmlns:a16="http://schemas.microsoft.com/office/drawing/2014/main" id="{AB330E50-52FC-B6CC-9900-0A3EC67711D4}"/>
                </a:ext>
              </a:extLst>
            </p:cNvPr>
            <p:cNvSpPr/>
            <p:nvPr/>
          </p:nvSpPr>
          <p:spPr>
            <a:xfrm>
              <a:off x="3705605" y="4265732"/>
              <a:ext cx="1207916" cy="311082"/>
            </a:xfrm>
            <a:prstGeom prst="rect">
              <a:avLst/>
            </a:prstGeom>
            <a:noFill/>
          </p:spPr>
          <p:txBody>
            <a:bodyPr vert="horz"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2400" b="1" dirty="0">
                  <a:solidFill>
                    <a:prstClr val="white"/>
                  </a:solidFill>
                  <a:cs typeface="+mn-ea"/>
                  <a:sym typeface="+mn-lt"/>
                </a:rPr>
                <a:t>运动控制研究现状总结</a:t>
              </a:r>
              <a:endParaRPr kumimoji="0" lang="zh-CN" altLang="en-US" sz="2400" b="1" i="0" u="none" strike="noStrike" kern="1200" cap="none" spc="0" normalizeH="0" baseline="0" noProof="0" dirty="0">
                <a:ln>
                  <a:noFill/>
                </a:ln>
                <a:solidFill>
                  <a:prstClr val="white"/>
                </a:solidFill>
                <a:effectLst/>
                <a:uLnTx/>
                <a:uFillTx/>
                <a:cs typeface="+mn-ea"/>
                <a:sym typeface="+mn-lt"/>
              </a:endParaRPr>
            </a:p>
          </p:txBody>
        </p:sp>
      </p:grpSp>
      <p:sp>
        <p:nvSpPr>
          <p:cNvPr id="15" name="圆角矩形 3">
            <a:extLst>
              <a:ext uri="{FF2B5EF4-FFF2-40B4-BE49-F238E27FC236}">
                <a16:creationId xmlns:a16="http://schemas.microsoft.com/office/drawing/2014/main" id="{34BFE464-FD09-7DC7-8C1A-853D519B62CD}"/>
              </a:ext>
            </a:extLst>
          </p:cNvPr>
          <p:cNvSpPr>
            <a:spLocks noChangeArrowheads="1"/>
          </p:cNvSpPr>
          <p:nvPr/>
        </p:nvSpPr>
        <p:spPr bwMode="auto">
          <a:xfrm>
            <a:off x="721164" y="1667009"/>
            <a:ext cx="5136711" cy="5054466"/>
          </a:xfrm>
          <a:prstGeom prst="roundRect">
            <a:avLst>
              <a:gd name="adj" fmla="val 16667"/>
            </a:avLst>
          </a:prstGeom>
          <a:solidFill>
            <a:schemeClr val="bg1"/>
          </a:solidFill>
          <a:ln w="38100" algn="ctr">
            <a:solidFill>
              <a:srgbClr val="0A2B7C"/>
            </a:solidFill>
            <a:round/>
            <a:headEnd/>
            <a:tailEnd/>
          </a:ln>
        </p:spPr>
        <p:txBody>
          <a:bodyPr/>
          <a:lstStyle/>
          <a:p>
            <a:pPr marL="285750" indent="-285750" algn="l">
              <a:lnSpc>
                <a:spcPct val="150000"/>
              </a:lnSpc>
              <a:buFont typeface="Wingdings" panose="05000000000000000000" pitchFamily="2" charset="2"/>
              <a:buChar char="l"/>
            </a:pPr>
            <a:r>
              <a:rPr lang="zh-CN" altLang="en-US" b="0" i="0" dirty="0">
                <a:effectLst/>
                <a:latin typeface="微软雅黑" panose="020B0503020204020204" pitchFamily="34" charset="-122"/>
                <a:ea typeface="微软雅黑" panose="020B0503020204020204" pitchFamily="34" charset="-122"/>
              </a:rPr>
              <a:t>常用轨迹规划方法主要有</a:t>
            </a:r>
            <a:r>
              <a:rPr lang="zh-CN" altLang="en-US" b="1" i="0" dirty="0">
                <a:effectLst/>
                <a:latin typeface="微软雅黑" panose="020B0503020204020204" pitchFamily="34" charset="-122"/>
                <a:ea typeface="微软雅黑" panose="020B0503020204020204" pitchFamily="34" charset="-122"/>
              </a:rPr>
              <a:t>图搜索算法、曲线插值算法、采样方法和数值优化方法</a:t>
            </a:r>
            <a:r>
              <a:rPr lang="zh-CN" altLang="en-US" b="0" i="0" dirty="0">
                <a:effectLst/>
                <a:latin typeface="微软雅黑" panose="020B0503020204020204" pitchFamily="34" charset="-122"/>
                <a:ea typeface="微软雅黑" panose="020B0503020204020204" pitchFamily="34" charset="-122"/>
              </a:rPr>
              <a:t>。</a:t>
            </a:r>
          </a:p>
          <a:p>
            <a:pPr marL="285750" indent="-285750" algn="l">
              <a:lnSpc>
                <a:spcPct val="150000"/>
              </a:lnSpc>
              <a:buFont typeface="Wingdings" panose="05000000000000000000" pitchFamily="2" charset="2"/>
              <a:buChar char="l"/>
            </a:pPr>
            <a:r>
              <a:rPr lang="zh-CN" altLang="en-US" b="0" i="0" dirty="0">
                <a:effectLst/>
                <a:latin typeface="微软雅黑" panose="020B0503020204020204" pitchFamily="34" charset="-122"/>
                <a:ea typeface="微软雅黑" panose="020B0503020204020204" pitchFamily="34" charset="-122"/>
              </a:rPr>
              <a:t>图搜索算法通常只考虑静态障碍物，对车辆动力学约束考虑不足。</a:t>
            </a:r>
          </a:p>
          <a:p>
            <a:pPr marL="285750" indent="-285750" algn="l">
              <a:lnSpc>
                <a:spcPct val="150000"/>
              </a:lnSpc>
              <a:buFont typeface="Wingdings" panose="05000000000000000000" pitchFamily="2" charset="2"/>
              <a:buChar char="l"/>
            </a:pPr>
            <a:r>
              <a:rPr lang="zh-CN" altLang="en-US" b="0" i="0" dirty="0">
                <a:effectLst/>
                <a:latin typeface="微软雅黑" panose="020B0503020204020204" pitchFamily="34" charset="-122"/>
                <a:ea typeface="微软雅黑" panose="020B0503020204020204" pitchFamily="34" charset="-122"/>
              </a:rPr>
              <a:t>曲线插值算法，需利用路径起点和终点的运动状态信息，避障终点因避障方式不同而变化，限制较多。</a:t>
            </a:r>
          </a:p>
          <a:p>
            <a:pPr marL="285750" indent="-285750" algn="l">
              <a:lnSpc>
                <a:spcPct val="150000"/>
              </a:lnSpc>
              <a:buFont typeface="Wingdings" panose="05000000000000000000" pitchFamily="2" charset="2"/>
              <a:buChar char="l"/>
            </a:pPr>
            <a:r>
              <a:rPr lang="zh-CN" altLang="en-US" b="0" i="0" dirty="0">
                <a:effectLst/>
                <a:latin typeface="微软雅黑" panose="020B0503020204020204" pitchFamily="34" charset="-122"/>
                <a:ea typeface="微软雅黑" panose="020B0503020204020204" pitchFamily="34" charset="-122"/>
              </a:rPr>
              <a:t>采样方法，规划出的轨迹有明显抖动，需经后端平滑处理。</a:t>
            </a:r>
          </a:p>
          <a:p>
            <a:pPr marL="285750" indent="-285750" algn="l">
              <a:lnSpc>
                <a:spcPct val="150000"/>
              </a:lnSpc>
              <a:buFont typeface="Wingdings" panose="05000000000000000000" pitchFamily="2" charset="2"/>
              <a:buChar char="l"/>
            </a:pPr>
            <a:r>
              <a:rPr lang="zh-CN" altLang="en-US" b="0" i="0" dirty="0">
                <a:effectLst/>
                <a:latin typeface="微软雅黑" panose="020B0503020204020204" pitchFamily="34" charset="-122"/>
                <a:ea typeface="微软雅黑" panose="020B0503020204020204" pitchFamily="34" charset="-122"/>
              </a:rPr>
              <a:t>数值优化方法规划的轨迹质量高，但面对非凸约束条件时求解效率低，实时性差。</a:t>
            </a:r>
          </a:p>
          <a:p>
            <a:endParaRPr lang="zh-CN" altLang="en-US" dirty="0"/>
          </a:p>
          <a:p>
            <a:pPr marL="285750" indent="-285750" algn="l">
              <a:buFont typeface="Wingdings" panose="05000000000000000000" pitchFamily="2" charset="2"/>
              <a:buChar char="l"/>
            </a:pPr>
            <a:endParaRPr lang="zh-CN" altLang="en-US" b="0" i="0" dirty="0">
              <a:effectLst/>
              <a:latin typeface="微软雅黑" panose="020B0503020204020204" pitchFamily="34" charset="-122"/>
              <a:ea typeface="微软雅黑" panose="020B0503020204020204" pitchFamily="34" charset="-122"/>
            </a:endParaRPr>
          </a:p>
        </p:txBody>
      </p:sp>
      <p:sp>
        <p:nvSpPr>
          <p:cNvPr id="17" name="圆角矩形 3">
            <a:extLst>
              <a:ext uri="{FF2B5EF4-FFF2-40B4-BE49-F238E27FC236}">
                <a16:creationId xmlns:a16="http://schemas.microsoft.com/office/drawing/2014/main" id="{1237F478-2E91-3FD9-78F3-1B5971033449}"/>
              </a:ext>
            </a:extLst>
          </p:cNvPr>
          <p:cNvSpPr>
            <a:spLocks noChangeArrowheads="1"/>
          </p:cNvSpPr>
          <p:nvPr/>
        </p:nvSpPr>
        <p:spPr bwMode="auto">
          <a:xfrm>
            <a:off x="6491640" y="1667009"/>
            <a:ext cx="5137200" cy="5054400"/>
          </a:xfrm>
          <a:prstGeom prst="roundRect">
            <a:avLst>
              <a:gd name="adj" fmla="val 16667"/>
            </a:avLst>
          </a:prstGeom>
          <a:solidFill>
            <a:schemeClr val="bg1"/>
          </a:solidFill>
          <a:ln w="38100" algn="ctr">
            <a:solidFill>
              <a:srgbClr val="0A2B7C"/>
            </a:solidFill>
            <a:round/>
            <a:headEnd/>
            <a:tailEnd/>
          </a:ln>
        </p:spPr>
        <p:txBody>
          <a:bodyPr/>
          <a:lstStyle/>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目前运动控制分</a:t>
            </a:r>
            <a:r>
              <a:rPr lang="zh-CN" altLang="en-US" b="1" dirty="0">
                <a:latin typeface="微软雅黑" panose="020B0503020204020204" pitchFamily="34" charset="-122"/>
                <a:ea typeface="微软雅黑" panose="020B0503020204020204" pitchFamily="34" charset="-122"/>
              </a:rPr>
              <a:t>解耦式</a:t>
            </a:r>
            <a:r>
              <a:rPr lang="zh-CN" altLang="en-US" dirty="0">
                <a:latin typeface="微软雅黑" panose="020B0503020204020204" pitchFamily="34" charset="-122"/>
                <a:ea typeface="微软雅黑" panose="020B0503020204020204" pitchFamily="34" charset="-122"/>
              </a:rPr>
              <a:t>和</a:t>
            </a:r>
            <a:r>
              <a:rPr lang="zh-CN" altLang="en-US" b="1" dirty="0">
                <a:latin typeface="微软雅黑" panose="020B0503020204020204" pitchFamily="34" charset="-122"/>
                <a:ea typeface="微软雅黑" panose="020B0503020204020204" pitchFamily="34" charset="-122"/>
              </a:rPr>
              <a:t>耦合式</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解耦式将运动控制分为横向和纵向子任务，较保守，无法充分利用底盘性能。</a:t>
            </a:r>
            <a:endParaRPr lang="en-US" altLang="zh-CN" dirty="0">
              <a:latin typeface="微软雅黑" panose="020B0503020204020204" pitchFamily="34" charset="-122"/>
              <a:ea typeface="微软雅黑" panose="020B0503020204020204" pitchFamily="34" charset="-122"/>
            </a:endParaRPr>
          </a:p>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耦合式分</a:t>
            </a:r>
            <a:r>
              <a:rPr lang="zh-CN" altLang="en-US" b="1" dirty="0">
                <a:latin typeface="微软雅黑" panose="020B0503020204020204" pitchFamily="34" charset="-122"/>
                <a:ea typeface="微软雅黑" panose="020B0503020204020204" pitchFamily="34" charset="-122"/>
              </a:rPr>
              <a:t>集中控制器</a:t>
            </a:r>
            <a:r>
              <a:rPr lang="zh-CN" altLang="en-US" dirty="0">
                <a:latin typeface="微软雅黑" panose="020B0503020204020204" pitchFamily="34" charset="-122"/>
                <a:ea typeface="微软雅黑" panose="020B0503020204020204" pitchFamily="34" charset="-122"/>
              </a:rPr>
              <a:t>和</a:t>
            </a:r>
            <a:r>
              <a:rPr lang="zh-CN" altLang="en-US" b="1" dirty="0">
                <a:latin typeface="微软雅黑" panose="020B0503020204020204" pitchFamily="34" charset="-122"/>
                <a:ea typeface="微软雅黑" panose="020B0503020204020204" pitchFamily="34" charset="-122"/>
              </a:rPr>
              <a:t>分层控制器</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集中式为整体结构设计，约束车辆状态和控制输入，但计算资源消耗高。</a:t>
            </a:r>
            <a:endParaRPr lang="en-US" altLang="zh-CN" dirty="0">
              <a:latin typeface="微软雅黑" panose="020B0503020204020204" pitchFamily="34" charset="-122"/>
              <a:ea typeface="微软雅黑" panose="020B0503020204020204" pitchFamily="34" charset="-122"/>
            </a:endParaRPr>
          </a:p>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分层式采用分层架构，一般分为</a:t>
            </a:r>
            <a:r>
              <a:rPr lang="zh-CN" altLang="en-US" b="1" dirty="0">
                <a:latin typeface="微软雅黑" panose="020B0503020204020204" pitchFamily="34" charset="-122"/>
                <a:ea typeface="微软雅黑" panose="020B0503020204020204" pitchFamily="34" charset="-122"/>
              </a:rPr>
              <a:t>运动跟踪层、控制分配层和执行层</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pPr marL="285750" indent="-285750" algn="l">
              <a:lnSpc>
                <a:spcPct val="150000"/>
              </a:lnSpc>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rPr>
              <a:t>运动跟踪层设计基于 </a:t>
            </a:r>
            <a:r>
              <a:rPr lang="en-US" altLang="zh-CN" dirty="0">
                <a:latin typeface="微软雅黑" panose="020B0503020204020204" pitchFamily="34" charset="-122"/>
                <a:ea typeface="微软雅黑" panose="020B0503020204020204" pitchFamily="34" charset="-122"/>
              </a:rPr>
              <a:t>PID </a:t>
            </a:r>
            <a:r>
              <a:rPr lang="zh-CN" altLang="en-US" dirty="0">
                <a:latin typeface="微软雅黑" panose="020B0503020204020204" pitchFamily="34" charset="-122"/>
                <a:ea typeface="微软雅黑" panose="020B0503020204020204" pitchFamily="34" charset="-122"/>
              </a:rPr>
              <a:t>方法、滑模控制方法、线性二次调节器方法和基于 </a:t>
            </a:r>
            <a:r>
              <a:rPr lang="en-US" altLang="zh-CN" dirty="0">
                <a:latin typeface="微软雅黑" panose="020B0503020204020204" pitchFamily="34" charset="-122"/>
                <a:ea typeface="微软雅黑" panose="020B0503020204020204" pitchFamily="34" charset="-122"/>
              </a:rPr>
              <a:t>MPC </a:t>
            </a:r>
            <a:r>
              <a:rPr lang="zh-CN" altLang="en-US" dirty="0">
                <a:latin typeface="微软雅黑" panose="020B0503020204020204" pitchFamily="34" charset="-122"/>
                <a:ea typeface="微软雅黑" panose="020B0503020204020204" pitchFamily="34" charset="-122"/>
              </a:rPr>
              <a:t>方法。</a:t>
            </a:r>
          </a:p>
        </p:txBody>
      </p:sp>
    </p:spTree>
    <p:extLst>
      <p:ext uri="{BB962C8B-B14F-4D97-AF65-F5344CB8AC3E}">
        <p14:creationId xmlns:p14="http://schemas.microsoft.com/office/powerpoint/2010/main" val="4093501747"/>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41842BB-65DC-D667-B4DF-0AECB678DB00}"/>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9</a:t>
            </a:fld>
            <a:endParaRPr lang="zh-HK" altLang="en-US">
              <a:solidFill>
                <a:prstClr val="black">
                  <a:tint val="75000"/>
                </a:prstClr>
              </a:solidFill>
            </a:endParaRPr>
          </a:p>
        </p:txBody>
      </p:sp>
      <p:grpSp>
        <p:nvGrpSpPr>
          <p:cNvPr id="23" name="组合 22">
            <a:extLst>
              <a:ext uri="{FF2B5EF4-FFF2-40B4-BE49-F238E27FC236}">
                <a16:creationId xmlns:a16="http://schemas.microsoft.com/office/drawing/2014/main" id="{1F305C92-F96B-D3D0-48FE-B4552FDC63A9}"/>
              </a:ext>
            </a:extLst>
          </p:cNvPr>
          <p:cNvGrpSpPr/>
          <p:nvPr/>
        </p:nvGrpSpPr>
        <p:grpSpPr>
          <a:xfrm>
            <a:off x="1181099" y="1072424"/>
            <a:ext cx="9620251" cy="2407582"/>
            <a:chOff x="1181099" y="1072424"/>
            <a:chExt cx="9620251" cy="2407582"/>
          </a:xfrm>
        </p:grpSpPr>
        <p:sp>
          <p:nvSpPr>
            <p:cNvPr id="7" name="矩形 6">
              <a:extLst>
                <a:ext uri="{FF2B5EF4-FFF2-40B4-BE49-F238E27FC236}">
                  <a16:creationId xmlns:a16="http://schemas.microsoft.com/office/drawing/2014/main" id="{2C817BA3-2ECD-821C-261E-F144C06C6AE1}"/>
                </a:ext>
              </a:extLst>
            </p:cNvPr>
            <p:cNvSpPr/>
            <p:nvPr/>
          </p:nvSpPr>
          <p:spPr>
            <a:xfrm>
              <a:off x="1181099" y="1331947"/>
              <a:ext cx="9620251" cy="2148059"/>
            </a:xfrm>
            <a:prstGeom prst="rect">
              <a:avLst/>
            </a:prstGeom>
            <a:noFill/>
            <a:ln>
              <a:solidFill>
                <a:srgbClr val="0A2B7C"/>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gradFill>
                  <a:gsLst>
                    <a:gs pos="83000">
                      <a:srgbClr val="C00000"/>
                    </a:gs>
                    <a:gs pos="100000">
                      <a:srgbClr val="C00000"/>
                    </a:gs>
                  </a:gsLst>
                  <a:lin ang="5400000" scaled="1"/>
                </a:gradFill>
                <a:effectLst/>
                <a:uLnTx/>
                <a:uFillTx/>
                <a:cs typeface="+mn-ea"/>
                <a:sym typeface="+mn-lt"/>
              </a:endParaRPr>
            </a:p>
          </p:txBody>
        </p:sp>
        <p:sp>
          <p:nvSpPr>
            <p:cNvPr id="8" name="矩形 7">
              <a:extLst>
                <a:ext uri="{FF2B5EF4-FFF2-40B4-BE49-F238E27FC236}">
                  <a16:creationId xmlns:a16="http://schemas.microsoft.com/office/drawing/2014/main" id="{DF3E3CE4-9408-9A67-E777-F14847F76CED}"/>
                </a:ext>
              </a:extLst>
            </p:cNvPr>
            <p:cNvSpPr/>
            <p:nvPr/>
          </p:nvSpPr>
          <p:spPr>
            <a:xfrm>
              <a:off x="1372108" y="1616772"/>
              <a:ext cx="9410700" cy="1644617"/>
            </a:xfrm>
            <a:prstGeom prst="rect">
              <a:avLst/>
            </a:prstGeom>
          </p:spPr>
          <p:txBody>
            <a:bodyPr wrap="square">
              <a:spAutoFit/>
            </a:bodyPr>
            <a:lstStyle/>
            <a:p>
              <a:pPr lvl="0" indent="457200">
                <a:lnSpc>
                  <a:spcPts val="3100"/>
                </a:lnSpc>
                <a:defRPr/>
              </a:pPr>
              <a:r>
                <a:rPr lang="zh-CN" altLang="en-US" dirty="0">
                  <a:latin typeface="微软雅黑" panose="020B0503020204020204" pitchFamily="34" charset="-122"/>
                  <a:ea typeface="微软雅黑" panose="020B0503020204020204" pitchFamily="34" charset="-122"/>
                </a:rPr>
                <a:t>紧急避障场景下，现有图搜索、采样、曲线插值轨迹规划方法在终点状态未知时失效且无法兼顾避障与车辆动力学约束。数值优化规划轨迹质量高但求解效率低，难满足实时性要求。</a:t>
              </a:r>
              <a:r>
                <a:rPr lang="zh-CN" altLang="en-US" b="1" dirty="0">
                  <a:latin typeface="微软雅黑" panose="020B0503020204020204" pitchFamily="34" charset="-122"/>
                  <a:ea typeface="微软雅黑" panose="020B0503020204020204" pitchFamily="34" charset="-122"/>
                </a:rPr>
                <a:t>在有动态障碍物的紧急避障场景，结合分布式线控底盘特性规划出满足车辆约束且具实时性的紧急避障轨迹是关键问题。</a:t>
              </a:r>
              <a:endParaRPr kumimoji="0" lang="zh-CN" altLang="en-US" sz="2400" b="1" i="0" u="none" strike="noStrike" kern="1200" cap="none" spc="0" normalizeH="0" baseline="0" noProof="0" dirty="0">
                <a:ln>
                  <a:noFill/>
                </a:ln>
                <a:gradFill>
                  <a:gsLst>
                    <a:gs pos="0">
                      <a:prstClr val="black">
                        <a:lumMod val="50000"/>
                        <a:lumOff val="50000"/>
                      </a:prstClr>
                    </a:gs>
                    <a:gs pos="100000">
                      <a:prstClr val="black">
                        <a:lumMod val="50000"/>
                        <a:lumOff val="50000"/>
                      </a:prstClr>
                    </a:gs>
                  </a:gsLst>
                  <a:lin ang="2700000" scaled="1"/>
                </a:gradFill>
                <a:effectLst/>
                <a:uLnTx/>
                <a:uFillTx/>
                <a:latin typeface="微软雅黑" panose="020B0503020204020204" pitchFamily="34" charset="-122"/>
                <a:ea typeface="微软雅黑" panose="020B0503020204020204" pitchFamily="34" charset="-122"/>
                <a:cs typeface="+mn-ea"/>
                <a:sym typeface="+mn-lt"/>
              </a:endParaRPr>
            </a:p>
          </p:txBody>
        </p:sp>
        <p:grpSp>
          <p:nvGrpSpPr>
            <p:cNvPr id="9" name="组合 8">
              <a:extLst>
                <a:ext uri="{FF2B5EF4-FFF2-40B4-BE49-F238E27FC236}">
                  <a16:creationId xmlns:a16="http://schemas.microsoft.com/office/drawing/2014/main" id="{D4D267BA-8031-058D-B312-8FB474BAC88C}"/>
                </a:ext>
              </a:extLst>
            </p:cNvPr>
            <p:cNvGrpSpPr/>
            <p:nvPr/>
          </p:nvGrpSpPr>
          <p:grpSpPr>
            <a:xfrm>
              <a:off x="1573093" y="1072424"/>
              <a:ext cx="3732840" cy="507531"/>
              <a:chOff x="4904651" y="1612051"/>
              <a:chExt cx="2529636" cy="677945"/>
            </a:xfrm>
          </p:grpSpPr>
          <p:sp>
            <p:nvSpPr>
              <p:cNvPr id="10" name="圆角矩形 12">
                <a:extLst>
                  <a:ext uri="{FF2B5EF4-FFF2-40B4-BE49-F238E27FC236}">
                    <a16:creationId xmlns:a16="http://schemas.microsoft.com/office/drawing/2014/main" id="{63BE7E48-8B9A-E6B1-F585-3780254D8C8E}"/>
                  </a:ext>
                </a:extLst>
              </p:cNvPr>
              <p:cNvSpPr/>
              <p:nvPr/>
            </p:nvSpPr>
            <p:spPr>
              <a:xfrm>
                <a:off x="4904651" y="1612051"/>
                <a:ext cx="2529636" cy="677945"/>
              </a:xfrm>
              <a:prstGeom prst="roundRect">
                <a:avLst>
                  <a:gd name="adj" fmla="val 0"/>
                </a:avLst>
              </a:prstGeom>
              <a:solidFill>
                <a:srgbClr val="0A2B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90000">
                        <a:srgbClr val="C00000"/>
                      </a:gs>
                      <a:gs pos="30000">
                        <a:srgbClr val="FF3300"/>
                      </a:gs>
                    </a:gsLst>
                    <a:lin ang="5400000" scaled="1"/>
                  </a:gradFill>
                  <a:effectLst/>
                  <a:uLnTx/>
                  <a:uFillTx/>
                  <a:cs typeface="+mn-ea"/>
                  <a:sym typeface="+mn-lt"/>
                </a:endParaRPr>
              </a:p>
            </p:txBody>
          </p:sp>
          <p:sp>
            <p:nvSpPr>
              <p:cNvPr id="11" name="矩形 10">
                <a:extLst>
                  <a:ext uri="{FF2B5EF4-FFF2-40B4-BE49-F238E27FC236}">
                    <a16:creationId xmlns:a16="http://schemas.microsoft.com/office/drawing/2014/main" id="{B748A201-BB18-3E00-B17F-B58EA80183F9}"/>
                  </a:ext>
                </a:extLst>
              </p:cNvPr>
              <p:cNvSpPr/>
              <p:nvPr/>
            </p:nvSpPr>
            <p:spPr>
              <a:xfrm>
                <a:off x="5050444" y="1657627"/>
                <a:ext cx="2239192" cy="616679"/>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2400" b="1" dirty="0">
                    <a:solidFill>
                      <a:prstClr val="white"/>
                    </a:solidFill>
                    <a:cs typeface="+mn-ea"/>
                    <a:sym typeface="+mn-lt"/>
                  </a:rPr>
                  <a:t>轨迹规划研究现状不足</a:t>
                </a:r>
                <a:endParaRPr kumimoji="0" lang="zh-CN" altLang="en-US" sz="2400" b="1" i="0" u="none" strike="noStrike" kern="1200" cap="none" spc="0" normalizeH="0" baseline="0" noProof="0" dirty="0">
                  <a:ln>
                    <a:noFill/>
                  </a:ln>
                  <a:gradFill>
                    <a:gsLst>
                      <a:gs pos="83000">
                        <a:prstClr val="white"/>
                      </a:gs>
                      <a:gs pos="100000">
                        <a:prstClr val="white"/>
                      </a:gs>
                    </a:gsLst>
                    <a:lin ang="5400000" scaled="1"/>
                  </a:gradFill>
                  <a:effectLst/>
                  <a:uLnTx/>
                  <a:uFillTx/>
                  <a:cs typeface="+mn-ea"/>
                  <a:sym typeface="+mn-lt"/>
                </a:endParaRPr>
              </a:p>
            </p:txBody>
          </p:sp>
        </p:grpSp>
      </p:grpSp>
      <p:grpSp>
        <p:nvGrpSpPr>
          <p:cNvPr id="22" name="组合 21">
            <a:extLst>
              <a:ext uri="{FF2B5EF4-FFF2-40B4-BE49-F238E27FC236}">
                <a16:creationId xmlns:a16="http://schemas.microsoft.com/office/drawing/2014/main" id="{979FBD7C-BD28-1A69-784E-45474605847F}"/>
              </a:ext>
            </a:extLst>
          </p:cNvPr>
          <p:cNvGrpSpPr/>
          <p:nvPr/>
        </p:nvGrpSpPr>
        <p:grpSpPr>
          <a:xfrm>
            <a:off x="1181099" y="3754973"/>
            <a:ext cx="9620251" cy="2791777"/>
            <a:chOff x="1181099" y="2925193"/>
            <a:chExt cx="9620251" cy="2791777"/>
          </a:xfrm>
        </p:grpSpPr>
        <p:sp>
          <p:nvSpPr>
            <p:cNvPr id="12" name="矩形 11">
              <a:extLst>
                <a:ext uri="{FF2B5EF4-FFF2-40B4-BE49-F238E27FC236}">
                  <a16:creationId xmlns:a16="http://schemas.microsoft.com/office/drawing/2014/main" id="{0C6CC9DA-3073-67EB-7A77-CEB6B25E53D3}"/>
                </a:ext>
              </a:extLst>
            </p:cNvPr>
            <p:cNvSpPr/>
            <p:nvPr/>
          </p:nvSpPr>
          <p:spPr>
            <a:xfrm>
              <a:off x="1181099" y="3184716"/>
              <a:ext cx="9620251" cy="2532254"/>
            </a:xfrm>
            <a:prstGeom prst="rect">
              <a:avLst/>
            </a:prstGeom>
            <a:noFill/>
            <a:ln>
              <a:solidFill>
                <a:srgbClr val="0A2B7C"/>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gradFill>
                  <a:gsLst>
                    <a:gs pos="83000">
                      <a:srgbClr val="C00000"/>
                    </a:gs>
                    <a:gs pos="100000">
                      <a:srgbClr val="C00000"/>
                    </a:gs>
                  </a:gsLst>
                  <a:lin ang="5400000" scaled="1"/>
                </a:gradFill>
                <a:effectLst/>
                <a:uLnTx/>
                <a:uFillTx/>
                <a:cs typeface="+mn-ea"/>
                <a:sym typeface="+mn-lt"/>
              </a:endParaRPr>
            </a:p>
          </p:txBody>
        </p:sp>
        <p:sp>
          <p:nvSpPr>
            <p:cNvPr id="13" name="矩形 12">
              <a:extLst>
                <a:ext uri="{FF2B5EF4-FFF2-40B4-BE49-F238E27FC236}">
                  <a16:creationId xmlns:a16="http://schemas.microsoft.com/office/drawing/2014/main" id="{B954C619-E172-9B86-FF20-ACA1209864C1}"/>
                </a:ext>
              </a:extLst>
            </p:cNvPr>
            <p:cNvSpPr/>
            <p:nvPr/>
          </p:nvSpPr>
          <p:spPr>
            <a:xfrm>
              <a:off x="1364130" y="3466844"/>
              <a:ext cx="9437220" cy="2042162"/>
            </a:xfrm>
            <a:prstGeom prst="rect">
              <a:avLst/>
            </a:prstGeom>
          </p:spPr>
          <p:txBody>
            <a:bodyPr wrap="square">
              <a:spAutoFit/>
            </a:bodyPr>
            <a:lstStyle/>
            <a:p>
              <a:pPr lvl="0" indent="457200">
                <a:lnSpc>
                  <a:spcPts val="3100"/>
                </a:lnSpc>
                <a:defRPr/>
              </a:pPr>
              <a:r>
                <a:rPr lang="zh-CN" altLang="en-US" dirty="0">
                  <a:latin typeface="微软雅黑" panose="020B0503020204020204" pitchFamily="34" charset="-122"/>
                  <a:ea typeface="微软雅黑" panose="020B0503020204020204" pitchFamily="34" charset="-122"/>
                </a:rPr>
                <a:t>常用解耦式运动控制方法保守，现有分层式耦合运动控制方法在运动跟踪层未考虑整车控制量约束和分层控制特性，导致运动跟踪控制效果差。轨迹规划模块受到无法考量复杂车辆动力学和轮胎特性的限制，难以满足瞬态动力学特性，盲目跟踪易致车辆失稳。</a:t>
              </a:r>
              <a:r>
                <a:rPr lang="zh-CN" altLang="en-US" b="1" dirty="0">
                  <a:latin typeface="微软雅黑" panose="020B0503020204020204" pitchFamily="34" charset="-122"/>
                  <a:ea typeface="微软雅黑" panose="020B0503020204020204" pitchFamily="34" charset="-122"/>
                </a:rPr>
                <a:t>依据分布式线控底盘特性构建横、纵向耦合运动的控制框架，调节车速并确保运动跟踪精度、扩展整车运动控制性能至稳定域边界是技术挑战。</a:t>
              </a:r>
              <a:endParaRPr kumimoji="0" lang="zh-CN" altLang="en-US" sz="2400" b="1" i="0" u="none" strike="noStrike" kern="1200" cap="none" spc="0" normalizeH="0" baseline="0" noProof="0" dirty="0">
                <a:ln>
                  <a:noFill/>
                </a:ln>
                <a:gradFill>
                  <a:gsLst>
                    <a:gs pos="0">
                      <a:prstClr val="black">
                        <a:lumMod val="50000"/>
                        <a:lumOff val="50000"/>
                      </a:prstClr>
                    </a:gs>
                    <a:gs pos="100000">
                      <a:prstClr val="black">
                        <a:lumMod val="50000"/>
                        <a:lumOff val="50000"/>
                      </a:prstClr>
                    </a:gs>
                  </a:gsLst>
                  <a:lin ang="2700000" scaled="1"/>
                </a:gradFill>
                <a:effectLst/>
                <a:uLnTx/>
                <a:uFillTx/>
                <a:latin typeface="微软雅黑" panose="020B0503020204020204" pitchFamily="34" charset="-122"/>
                <a:ea typeface="微软雅黑" panose="020B0503020204020204" pitchFamily="34" charset="-122"/>
                <a:cs typeface="+mn-ea"/>
                <a:sym typeface="+mn-lt"/>
              </a:endParaRPr>
            </a:p>
          </p:txBody>
        </p:sp>
        <p:grpSp>
          <p:nvGrpSpPr>
            <p:cNvPr id="14" name="组合 13">
              <a:extLst>
                <a:ext uri="{FF2B5EF4-FFF2-40B4-BE49-F238E27FC236}">
                  <a16:creationId xmlns:a16="http://schemas.microsoft.com/office/drawing/2014/main" id="{0B15D4F0-B3A5-5BC3-6E18-EEFFDB0699ED}"/>
                </a:ext>
              </a:extLst>
            </p:cNvPr>
            <p:cNvGrpSpPr/>
            <p:nvPr/>
          </p:nvGrpSpPr>
          <p:grpSpPr>
            <a:xfrm>
              <a:off x="1573093" y="2925193"/>
              <a:ext cx="3732840" cy="507531"/>
              <a:chOff x="4904651" y="1612051"/>
              <a:chExt cx="2529636" cy="677945"/>
            </a:xfrm>
          </p:grpSpPr>
          <p:sp>
            <p:nvSpPr>
              <p:cNvPr id="15" name="圆角矩形 12">
                <a:extLst>
                  <a:ext uri="{FF2B5EF4-FFF2-40B4-BE49-F238E27FC236}">
                    <a16:creationId xmlns:a16="http://schemas.microsoft.com/office/drawing/2014/main" id="{046987EC-A838-3CB7-DD98-EB20764B063F}"/>
                  </a:ext>
                </a:extLst>
              </p:cNvPr>
              <p:cNvSpPr/>
              <p:nvPr/>
            </p:nvSpPr>
            <p:spPr>
              <a:xfrm>
                <a:off x="4904651" y="1612051"/>
                <a:ext cx="2529636" cy="677945"/>
              </a:xfrm>
              <a:prstGeom prst="roundRect">
                <a:avLst>
                  <a:gd name="adj" fmla="val 0"/>
                </a:avLst>
              </a:prstGeom>
              <a:solidFill>
                <a:srgbClr val="0A2B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gradFill>
                    <a:gsLst>
                      <a:gs pos="90000">
                        <a:srgbClr val="C00000"/>
                      </a:gs>
                      <a:gs pos="30000">
                        <a:srgbClr val="FF3300"/>
                      </a:gs>
                    </a:gsLst>
                    <a:lin ang="5400000" scaled="1"/>
                  </a:gradFill>
                  <a:effectLst/>
                  <a:uLnTx/>
                  <a:uFillTx/>
                  <a:cs typeface="+mn-ea"/>
                  <a:sym typeface="+mn-lt"/>
                </a:endParaRPr>
              </a:p>
            </p:txBody>
          </p:sp>
          <p:sp>
            <p:nvSpPr>
              <p:cNvPr id="16" name="矩形 15">
                <a:extLst>
                  <a:ext uri="{FF2B5EF4-FFF2-40B4-BE49-F238E27FC236}">
                    <a16:creationId xmlns:a16="http://schemas.microsoft.com/office/drawing/2014/main" id="{2C24F95F-3D71-5E0B-EC8B-96B8187F1FF3}"/>
                  </a:ext>
                </a:extLst>
              </p:cNvPr>
              <p:cNvSpPr/>
              <p:nvPr/>
            </p:nvSpPr>
            <p:spPr>
              <a:xfrm>
                <a:off x="5050444" y="1657627"/>
                <a:ext cx="2239192" cy="616679"/>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2400" b="1" dirty="0">
                    <a:solidFill>
                      <a:prstClr val="white"/>
                    </a:solidFill>
                    <a:cs typeface="+mn-ea"/>
                    <a:sym typeface="+mn-lt"/>
                  </a:rPr>
                  <a:t>运动控制研究现状不足</a:t>
                </a:r>
                <a:endParaRPr kumimoji="0" lang="zh-CN" altLang="en-US" sz="2400" b="1" i="0" u="none" strike="noStrike" kern="1200" cap="none" spc="0" normalizeH="0" baseline="0" noProof="0" dirty="0">
                  <a:ln>
                    <a:noFill/>
                  </a:ln>
                  <a:gradFill>
                    <a:gsLst>
                      <a:gs pos="83000">
                        <a:prstClr val="white"/>
                      </a:gs>
                      <a:gs pos="100000">
                        <a:prstClr val="white"/>
                      </a:gs>
                    </a:gsLst>
                    <a:lin ang="5400000" scaled="1"/>
                  </a:gradFill>
                  <a:effectLst/>
                  <a:uLnTx/>
                  <a:uFillTx/>
                  <a:cs typeface="+mn-ea"/>
                  <a:sym typeface="+mn-lt"/>
                </a:endParaRPr>
              </a:p>
            </p:txBody>
          </p:sp>
        </p:grpSp>
      </p:grpSp>
    </p:spTree>
    <p:extLst>
      <p:ext uri="{BB962C8B-B14F-4D97-AF65-F5344CB8AC3E}">
        <p14:creationId xmlns:p14="http://schemas.microsoft.com/office/powerpoint/2010/main" val="2699842241"/>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B971993A-AB65-F3D2-C458-2C0B114C8566}"/>
              </a:ext>
            </a:extLst>
          </p:cNvPr>
          <p:cNvGrpSpPr/>
          <p:nvPr/>
        </p:nvGrpSpPr>
        <p:grpSpPr>
          <a:xfrm>
            <a:off x="1952333" y="2568575"/>
            <a:ext cx="10433632" cy="1720850"/>
            <a:chOff x="1184275" y="2717410"/>
            <a:chExt cx="10433083" cy="1720986"/>
          </a:xfrm>
        </p:grpSpPr>
        <p:grpSp>
          <p:nvGrpSpPr>
            <p:cNvPr id="6" name="Group 4">
              <a:extLst>
                <a:ext uri="{FF2B5EF4-FFF2-40B4-BE49-F238E27FC236}">
                  <a16:creationId xmlns:a16="http://schemas.microsoft.com/office/drawing/2014/main" id="{42E4366D-EFA7-E39D-F2E0-1AE1714DD8A0}"/>
                </a:ext>
              </a:extLst>
            </p:cNvPr>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9" name="Freeform 6">
                <a:extLst>
                  <a:ext uri="{FF2B5EF4-FFF2-40B4-BE49-F238E27FC236}">
                    <a16:creationId xmlns:a16="http://schemas.microsoft.com/office/drawing/2014/main" id="{CC7FA328-3BB3-C669-939B-6248A9A31B70}"/>
                  </a:ext>
                </a:extLst>
              </p:cNvPr>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15" name="Freeform 7">
                <a:extLst>
                  <a:ext uri="{FF2B5EF4-FFF2-40B4-BE49-F238E27FC236}">
                    <a16:creationId xmlns:a16="http://schemas.microsoft.com/office/drawing/2014/main" id="{45224879-7D47-3916-3F30-142B7D366750}"/>
                  </a:ext>
                </a:extLst>
              </p:cNvPr>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8" name="文本框 7">
              <a:extLst>
                <a:ext uri="{FF2B5EF4-FFF2-40B4-BE49-F238E27FC236}">
                  <a16:creationId xmlns:a16="http://schemas.microsoft.com/office/drawing/2014/main" id="{8FEAFAA6-A4E0-ED69-2D0A-7C9DA5998BEA}"/>
                </a:ext>
              </a:extLst>
            </p:cNvPr>
            <p:cNvSpPr txBox="1"/>
            <p:nvPr/>
          </p:nvSpPr>
          <p:spPr>
            <a:xfrm>
              <a:off x="3187699" y="2847430"/>
              <a:ext cx="8429659" cy="1108084"/>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研究目标及内容</a:t>
              </a:r>
            </a:p>
          </p:txBody>
        </p:sp>
      </p:grpSp>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A5ED5C6E-0952-ED66-6DC5-262C5C311880}"/>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11</a:t>
            </a:fld>
            <a:endParaRPr lang="zh-HK" altLang="en-US">
              <a:solidFill>
                <a:prstClr val="black">
                  <a:tint val="75000"/>
                </a:prstClr>
              </a:solidFill>
            </a:endParaRPr>
          </a:p>
        </p:txBody>
      </p:sp>
      <p:sp>
        <p:nvSpPr>
          <p:cNvPr id="22" name="矩形 3">
            <a:extLst>
              <a:ext uri="{FF2B5EF4-FFF2-40B4-BE49-F238E27FC236}">
                <a16:creationId xmlns:a16="http://schemas.microsoft.com/office/drawing/2014/main" id="{51756CD7-881C-6ECE-E44B-1BF977323EDE}"/>
              </a:ext>
            </a:extLst>
          </p:cNvPr>
          <p:cNvSpPr/>
          <p:nvPr/>
        </p:nvSpPr>
        <p:spPr>
          <a:xfrm>
            <a:off x="1212982" y="4285961"/>
            <a:ext cx="3458785"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23" name="TextBox 74">
            <a:extLst>
              <a:ext uri="{FF2B5EF4-FFF2-40B4-BE49-F238E27FC236}">
                <a16:creationId xmlns:a16="http://schemas.microsoft.com/office/drawing/2014/main" id="{BE2981BE-192A-38C5-02A8-D01AFB5FA0AD}"/>
              </a:ext>
            </a:extLst>
          </p:cNvPr>
          <p:cNvSpPr txBox="1"/>
          <p:nvPr/>
        </p:nvSpPr>
        <p:spPr>
          <a:xfrm>
            <a:off x="4915656" y="1934758"/>
            <a:ext cx="6324351" cy="868956"/>
          </a:xfrm>
          <a:prstGeom prst="rect">
            <a:avLst/>
          </a:prstGeom>
          <a:noFill/>
        </p:spPr>
        <p:txBody>
          <a:bodyPr wrap="square" lIns="0" tIns="0" rIns="0" bIns="0" rtlCol="0">
            <a:spAutoFit/>
          </a:bodyPr>
          <a:lstStyle/>
          <a:p>
            <a:pPr marL="342900" indent="-342900" algn="just">
              <a:lnSpc>
                <a:spcPct val="150000"/>
              </a:lnSpc>
              <a:buFont typeface="Arial" panose="020B0604020202020204" pitchFamily="34" charset="0"/>
              <a:buChar char="•"/>
            </a:pPr>
            <a:r>
              <a:rPr lang="zh-CN" altLang="en-US" sz="2000" dirty="0">
                <a:latin typeface="字魂105号-简雅黑" panose="00000500000000000000" pitchFamily="2" charset="-122"/>
                <a:ea typeface="字魂105号-简雅黑" panose="00000500000000000000" pitchFamily="2" charset="-122"/>
                <a:sym typeface="字魂105号-简雅黑" panose="00000500000000000000" pitchFamily="2" charset="-122"/>
              </a:rPr>
              <a:t>针对分布式架构线控底盘电动汽车的特点，</a:t>
            </a:r>
            <a:r>
              <a:rPr lang="zh-CN" altLang="en-US" sz="2000" b="1" dirty="0">
                <a:latin typeface="字魂105号-简雅黑" panose="00000500000000000000" pitchFamily="2" charset="-122"/>
                <a:ea typeface="字魂105号-简雅黑" panose="00000500000000000000" pitchFamily="2" charset="-122"/>
                <a:sym typeface="字魂105号-简雅黑" panose="00000500000000000000" pitchFamily="2" charset="-122"/>
              </a:rPr>
              <a:t>设计合理的紧急避障工况的运动规划路径。</a:t>
            </a:r>
            <a:endParaRPr lang="en-US" altLang="zh-CN" sz="2000" b="1" dirty="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24" name="矩形 3">
            <a:extLst>
              <a:ext uri="{FF2B5EF4-FFF2-40B4-BE49-F238E27FC236}">
                <a16:creationId xmlns:a16="http://schemas.microsoft.com/office/drawing/2014/main" id="{80DAC0DC-9C76-7B06-A532-9EBB726A2F9E}"/>
              </a:ext>
            </a:extLst>
          </p:cNvPr>
          <p:cNvSpPr/>
          <p:nvPr/>
        </p:nvSpPr>
        <p:spPr>
          <a:xfrm>
            <a:off x="1204432" y="2016751"/>
            <a:ext cx="3458785"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nvGrpSpPr>
          <p:cNvPr id="25" name="组合 24">
            <a:extLst>
              <a:ext uri="{FF2B5EF4-FFF2-40B4-BE49-F238E27FC236}">
                <a16:creationId xmlns:a16="http://schemas.microsoft.com/office/drawing/2014/main" id="{20757280-2CE1-2F4E-599A-3684DC557FAE}"/>
              </a:ext>
            </a:extLst>
          </p:cNvPr>
          <p:cNvGrpSpPr/>
          <p:nvPr/>
        </p:nvGrpSpPr>
        <p:grpSpPr>
          <a:xfrm>
            <a:off x="899366" y="2131639"/>
            <a:ext cx="672074" cy="672075"/>
            <a:chOff x="2769119" y="1848492"/>
            <a:chExt cx="504056" cy="504056"/>
          </a:xfrm>
        </p:grpSpPr>
        <p:sp>
          <p:nvSpPr>
            <p:cNvPr id="26" name="椭圆 25">
              <a:extLst>
                <a:ext uri="{FF2B5EF4-FFF2-40B4-BE49-F238E27FC236}">
                  <a16:creationId xmlns:a16="http://schemas.microsoft.com/office/drawing/2014/main" id="{F7A22032-B696-EF1E-0628-BD3F82FED9F1}"/>
                </a:ext>
              </a:extLst>
            </p:cNvPr>
            <p:cNvSpPr/>
            <p:nvPr/>
          </p:nvSpPr>
          <p:spPr>
            <a:xfrm>
              <a:off x="2769119" y="1848492"/>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27" name="TextBox 66">
              <a:extLst>
                <a:ext uri="{FF2B5EF4-FFF2-40B4-BE49-F238E27FC236}">
                  <a16:creationId xmlns:a16="http://schemas.microsoft.com/office/drawing/2014/main" id="{4FE67EF6-11BB-C94E-2DF9-1A4EEB953537}"/>
                </a:ext>
              </a:extLst>
            </p:cNvPr>
            <p:cNvSpPr txBox="1"/>
            <p:nvPr/>
          </p:nvSpPr>
          <p:spPr>
            <a:xfrm>
              <a:off x="2808589" y="1931243"/>
              <a:ext cx="372939"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01</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grpSp>
        <p:nvGrpSpPr>
          <p:cNvPr id="28" name="组合 27">
            <a:extLst>
              <a:ext uri="{FF2B5EF4-FFF2-40B4-BE49-F238E27FC236}">
                <a16:creationId xmlns:a16="http://schemas.microsoft.com/office/drawing/2014/main" id="{7EB3CB54-AE18-8249-AB21-AB7EFD6B2B86}"/>
              </a:ext>
            </a:extLst>
          </p:cNvPr>
          <p:cNvGrpSpPr/>
          <p:nvPr/>
        </p:nvGrpSpPr>
        <p:grpSpPr>
          <a:xfrm>
            <a:off x="899366" y="4384753"/>
            <a:ext cx="672074" cy="672075"/>
            <a:chOff x="2471142" y="2586760"/>
            <a:chExt cx="504056" cy="504056"/>
          </a:xfrm>
        </p:grpSpPr>
        <p:sp>
          <p:nvSpPr>
            <p:cNvPr id="29" name="椭圆 28">
              <a:extLst>
                <a:ext uri="{FF2B5EF4-FFF2-40B4-BE49-F238E27FC236}">
                  <a16:creationId xmlns:a16="http://schemas.microsoft.com/office/drawing/2014/main" id="{77D98546-04F6-87D1-E122-2F432E0D1F8E}"/>
                </a:ext>
              </a:extLst>
            </p:cNvPr>
            <p:cNvSpPr/>
            <p:nvPr/>
          </p:nvSpPr>
          <p:spPr>
            <a:xfrm>
              <a:off x="2471142" y="2586760"/>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30" name="TextBox 69">
              <a:extLst>
                <a:ext uri="{FF2B5EF4-FFF2-40B4-BE49-F238E27FC236}">
                  <a16:creationId xmlns:a16="http://schemas.microsoft.com/office/drawing/2014/main" id="{74DC4E37-BCD4-3B3B-0914-F5C06CCE8781}"/>
                </a:ext>
              </a:extLst>
            </p:cNvPr>
            <p:cNvSpPr txBox="1"/>
            <p:nvPr/>
          </p:nvSpPr>
          <p:spPr>
            <a:xfrm>
              <a:off x="2510612" y="2669511"/>
              <a:ext cx="372939"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02</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sp>
        <p:nvSpPr>
          <p:cNvPr id="31" name="TextBox 82">
            <a:extLst>
              <a:ext uri="{FF2B5EF4-FFF2-40B4-BE49-F238E27FC236}">
                <a16:creationId xmlns:a16="http://schemas.microsoft.com/office/drawing/2014/main" id="{97E0E04D-3E13-9DB6-7382-FAD860938984}"/>
              </a:ext>
            </a:extLst>
          </p:cNvPr>
          <p:cNvSpPr txBox="1"/>
          <p:nvPr/>
        </p:nvSpPr>
        <p:spPr>
          <a:xfrm>
            <a:off x="1850661" y="2241973"/>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研究目标一</a:t>
            </a:r>
          </a:p>
        </p:txBody>
      </p:sp>
      <p:sp>
        <p:nvSpPr>
          <p:cNvPr id="32" name="TextBox 83">
            <a:extLst>
              <a:ext uri="{FF2B5EF4-FFF2-40B4-BE49-F238E27FC236}">
                <a16:creationId xmlns:a16="http://schemas.microsoft.com/office/drawing/2014/main" id="{34E8AA61-C141-634C-591A-B199F1F86964}"/>
              </a:ext>
            </a:extLst>
          </p:cNvPr>
          <p:cNvSpPr txBox="1"/>
          <p:nvPr/>
        </p:nvSpPr>
        <p:spPr>
          <a:xfrm>
            <a:off x="1859211" y="4495087"/>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研究目标二</a:t>
            </a:r>
          </a:p>
        </p:txBody>
      </p:sp>
      <p:sp>
        <p:nvSpPr>
          <p:cNvPr id="33" name="TextBox 74">
            <a:extLst>
              <a:ext uri="{FF2B5EF4-FFF2-40B4-BE49-F238E27FC236}">
                <a16:creationId xmlns:a16="http://schemas.microsoft.com/office/drawing/2014/main" id="{9EBF469A-FD4B-F110-70DE-CA05B5C08082}"/>
              </a:ext>
            </a:extLst>
          </p:cNvPr>
          <p:cNvSpPr txBox="1"/>
          <p:nvPr/>
        </p:nvSpPr>
        <p:spPr>
          <a:xfrm>
            <a:off x="4924205" y="4161416"/>
            <a:ext cx="6307251" cy="1330621"/>
          </a:xfrm>
          <a:prstGeom prst="rect">
            <a:avLst/>
          </a:prstGeom>
          <a:noFill/>
        </p:spPr>
        <p:txBody>
          <a:bodyPr wrap="square" lIns="0" tIns="0" rIns="0" bIns="0" rtlCol="0">
            <a:spAutoFit/>
          </a:bodyPr>
          <a:lstStyle/>
          <a:p>
            <a:pPr marL="342900" indent="-342900" algn="just">
              <a:lnSpc>
                <a:spcPct val="150000"/>
              </a:lnSpc>
              <a:buFont typeface="Arial" panose="020B0604020202020204" pitchFamily="34" charset="0"/>
              <a:buChar char="•"/>
            </a:pPr>
            <a:r>
              <a:rPr lang="zh-CN" altLang="en-US" sz="2000" dirty="0">
                <a:latin typeface="字魂105号-简雅黑" panose="00000500000000000000" pitchFamily="2" charset="-122"/>
                <a:ea typeface="字魂105号-简雅黑" panose="00000500000000000000" pitchFamily="2" charset="-122"/>
                <a:sym typeface="字魂105号-简雅黑" panose="00000500000000000000" pitchFamily="2" charset="-122"/>
              </a:rPr>
              <a:t>根据分布式架构线控底盘的驱动、转向、制动以及悬架对稳定性的影响，设计</a:t>
            </a:r>
            <a:r>
              <a:rPr lang="zh-CN" altLang="en-US" sz="2000" b="1" dirty="0">
                <a:latin typeface="字魂105号-简雅黑" panose="00000500000000000000" pitchFamily="2" charset="-122"/>
                <a:ea typeface="字魂105号-简雅黑" panose="00000500000000000000" pitchFamily="2" charset="-122"/>
                <a:sym typeface="字魂105号-简雅黑" panose="00000500000000000000" pitchFamily="2" charset="-122"/>
              </a:rPr>
              <a:t>能满足线控底盘车辆在紧急避障工况下的运动控制策略</a:t>
            </a:r>
            <a:r>
              <a:rPr lang="zh-CN" altLang="en-US" sz="2000" dirty="0">
                <a:latin typeface="字魂105号-简雅黑" panose="00000500000000000000" pitchFamily="2" charset="-122"/>
                <a:ea typeface="字魂105号-简雅黑" panose="00000500000000000000" pitchFamily="2" charset="-122"/>
                <a:sym typeface="字魂105号-简雅黑" panose="00000500000000000000" pitchFamily="2" charset="-122"/>
              </a:rPr>
              <a:t>。</a:t>
            </a:r>
            <a:endParaRPr lang="en-US" altLang="zh-CN" sz="2000" dirty="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Tree>
    <p:extLst>
      <p:ext uri="{BB962C8B-B14F-4D97-AF65-F5344CB8AC3E}">
        <p14:creationId xmlns:p14="http://schemas.microsoft.com/office/powerpoint/2010/main" val="528262655"/>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09BBF0CE-917B-4663-C7CD-0186CDA42251}"/>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12</a:t>
            </a:fld>
            <a:endParaRPr lang="zh-HK" altLang="en-US">
              <a:solidFill>
                <a:prstClr val="black">
                  <a:tint val="75000"/>
                </a:prstClr>
              </a:solidFill>
            </a:endParaRPr>
          </a:p>
        </p:txBody>
      </p:sp>
      <p:grpSp>
        <p:nvGrpSpPr>
          <p:cNvPr id="78" name="Group 56">
            <a:extLst>
              <a:ext uri="{FF2B5EF4-FFF2-40B4-BE49-F238E27FC236}">
                <a16:creationId xmlns:a16="http://schemas.microsoft.com/office/drawing/2014/main" id="{E2CA6E90-5728-BCB7-2544-1AFFDEDC49F5}"/>
              </a:ext>
            </a:extLst>
          </p:cNvPr>
          <p:cNvGrpSpPr/>
          <p:nvPr/>
        </p:nvGrpSpPr>
        <p:grpSpPr bwMode="auto">
          <a:xfrm>
            <a:off x="2419349" y="2362921"/>
            <a:ext cx="7981950" cy="949325"/>
            <a:chOff x="839" y="1298"/>
            <a:chExt cx="4530" cy="598"/>
          </a:xfrm>
        </p:grpSpPr>
        <p:grpSp>
          <p:nvGrpSpPr>
            <p:cNvPr id="79" name="Group 42">
              <a:extLst>
                <a:ext uri="{FF2B5EF4-FFF2-40B4-BE49-F238E27FC236}">
                  <a16:creationId xmlns:a16="http://schemas.microsoft.com/office/drawing/2014/main" id="{CBE66820-B759-C979-FBE4-7CBC6A42E157}"/>
                </a:ext>
              </a:extLst>
            </p:cNvPr>
            <p:cNvGrpSpPr/>
            <p:nvPr/>
          </p:nvGrpSpPr>
          <p:grpSpPr bwMode="auto">
            <a:xfrm>
              <a:off x="962" y="1301"/>
              <a:ext cx="3868" cy="434"/>
              <a:chOff x="720" y="1392"/>
              <a:chExt cx="4058" cy="480"/>
            </a:xfrm>
          </p:grpSpPr>
          <p:sp>
            <p:nvSpPr>
              <p:cNvPr id="83" name="AutoShape 43">
                <a:extLst>
                  <a:ext uri="{FF2B5EF4-FFF2-40B4-BE49-F238E27FC236}">
                    <a16:creationId xmlns:a16="http://schemas.microsoft.com/office/drawing/2014/main" id="{62EDB15E-5C90-D003-2B53-40EF04351C39}"/>
                  </a:ext>
                </a:extLst>
              </p:cNvPr>
              <p:cNvSpPr>
                <a:spLocks noChangeArrowheads="1"/>
              </p:cNvSpPr>
              <p:nvPr/>
            </p:nvSpPr>
            <p:spPr bwMode="gray">
              <a:xfrm>
                <a:off x="720" y="1392"/>
                <a:ext cx="4058" cy="480"/>
              </a:xfrm>
              <a:prstGeom prst="roundRect">
                <a:avLst>
                  <a:gd name="adj" fmla="val 17509"/>
                </a:avLst>
              </a:prstGeom>
              <a:gradFill rotWithShape="1">
                <a:gsLst>
                  <a:gs pos="0">
                    <a:schemeClr val="accent1"/>
                  </a:gs>
                  <a:gs pos="50000">
                    <a:schemeClr val="accent1">
                      <a:gamma/>
                      <a:shade val="92157"/>
                      <a:invGamma/>
                    </a:schemeClr>
                  </a:gs>
                  <a:gs pos="100000">
                    <a:schemeClr val="accent1"/>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nvGrpSpPr>
              <p:cNvPr id="84" name="Group 44">
                <a:extLst>
                  <a:ext uri="{FF2B5EF4-FFF2-40B4-BE49-F238E27FC236}">
                    <a16:creationId xmlns:a16="http://schemas.microsoft.com/office/drawing/2014/main" id="{5247DF04-211F-380F-94D0-7BCAA833EEF6}"/>
                  </a:ext>
                </a:extLst>
              </p:cNvPr>
              <p:cNvGrpSpPr/>
              <p:nvPr/>
            </p:nvGrpSpPr>
            <p:grpSpPr bwMode="auto">
              <a:xfrm>
                <a:off x="730" y="1407"/>
                <a:ext cx="4043" cy="444"/>
                <a:chOff x="744" y="1407"/>
                <a:chExt cx="3988" cy="444"/>
              </a:xfrm>
            </p:grpSpPr>
            <p:sp>
              <p:nvSpPr>
                <p:cNvPr id="85" name="AutoShape 45">
                  <a:extLst>
                    <a:ext uri="{FF2B5EF4-FFF2-40B4-BE49-F238E27FC236}">
                      <a16:creationId xmlns:a16="http://schemas.microsoft.com/office/drawing/2014/main" id="{F862E789-453E-272E-B217-226A770FEAFE}"/>
                    </a:ext>
                  </a:extLst>
                </p:cNvPr>
                <p:cNvSpPr>
                  <a:spLocks noChangeArrowheads="1"/>
                </p:cNvSpPr>
                <p:nvPr/>
              </p:nvSpPr>
              <p:spPr bwMode="gray">
                <a:xfrm>
                  <a:off x="744" y="1736"/>
                  <a:ext cx="3988" cy="115"/>
                </a:xfrm>
                <a:prstGeom prst="roundRect">
                  <a:avLst>
                    <a:gd name="adj" fmla="val 50000"/>
                  </a:avLst>
                </a:prstGeom>
                <a:gradFill rotWithShape="1">
                  <a:gsLst>
                    <a:gs pos="0">
                      <a:schemeClr val="accent1">
                        <a:alpha val="0"/>
                      </a:schemeClr>
                    </a:gs>
                    <a:gs pos="100000">
                      <a:schemeClr val="accent1">
                        <a:gamma/>
                        <a:tint val="0"/>
                        <a:invGamma/>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sp>
              <p:nvSpPr>
                <p:cNvPr id="86" name="AutoShape 46">
                  <a:extLst>
                    <a:ext uri="{FF2B5EF4-FFF2-40B4-BE49-F238E27FC236}">
                      <a16:creationId xmlns:a16="http://schemas.microsoft.com/office/drawing/2014/main" id="{F6CBAC2F-EBE9-E709-D06A-8AA575D573E5}"/>
                    </a:ext>
                  </a:extLst>
                </p:cNvPr>
                <p:cNvSpPr>
                  <a:spLocks noChangeArrowheads="1"/>
                </p:cNvSpPr>
                <p:nvPr/>
              </p:nvSpPr>
              <p:spPr bwMode="gray">
                <a:xfrm>
                  <a:off x="744" y="1407"/>
                  <a:ext cx="3988" cy="115"/>
                </a:xfrm>
                <a:prstGeom prst="roundRect">
                  <a:avLst>
                    <a:gd name="adj" fmla="val 50000"/>
                  </a:avLst>
                </a:prstGeom>
                <a:gradFill rotWithShape="1">
                  <a:gsLst>
                    <a:gs pos="0">
                      <a:schemeClr val="accent1">
                        <a:gamma/>
                        <a:tint val="0"/>
                        <a:invGamma/>
                      </a:schemeClr>
                    </a:gs>
                    <a:gs pos="100000">
                      <a:schemeClr val="accent1">
                        <a:alpha val="0"/>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grpSp>
        <p:sp>
          <p:nvSpPr>
            <p:cNvPr id="80" name="Text Box 47">
              <a:extLst>
                <a:ext uri="{FF2B5EF4-FFF2-40B4-BE49-F238E27FC236}">
                  <a16:creationId xmlns:a16="http://schemas.microsoft.com/office/drawing/2014/main" id="{CA6CD2BB-C32F-6DDF-526A-E08D60EA653E}"/>
                </a:ext>
              </a:extLst>
            </p:cNvPr>
            <p:cNvSpPr txBox="1">
              <a:spLocks noChangeArrowheads="1"/>
            </p:cNvSpPr>
            <p:nvPr/>
          </p:nvSpPr>
          <p:spPr bwMode="white">
            <a:xfrm>
              <a:off x="1256" y="1368"/>
              <a:ext cx="4113" cy="291"/>
            </a:xfrm>
            <a:prstGeom prst="rect">
              <a:avLst/>
            </a:prstGeom>
            <a:noFill/>
            <a:ln w="9525">
              <a:noFill/>
              <a:miter lim="800000"/>
            </a:ln>
            <a:effectLst/>
          </p:spPr>
          <p:txBody>
            <a:bodyPr wrap="square">
              <a:spAutoFit/>
            </a:bodyPr>
            <a:lstStyle/>
            <a:p>
              <a:pPr marL="457200" indent="-457200">
                <a:spcBef>
                  <a:spcPct val="50000"/>
                </a:spcBef>
                <a:buClr>
                  <a:schemeClr val="tx1"/>
                </a:buClr>
              </a:pPr>
              <a:r>
                <a:rPr lang="zh-CN" altLang="en-US"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分布式线控底盘汽车系统动力学建模及验证</a:t>
              </a:r>
              <a:endParaRPr lang="zh-CN"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81" name="Picture 52" descr="1">
              <a:extLst>
                <a:ext uri="{FF2B5EF4-FFF2-40B4-BE49-F238E27FC236}">
                  <a16:creationId xmlns:a16="http://schemas.microsoft.com/office/drawing/2014/main" id="{8DC2F4DD-46B9-A322-CA14-76C838F3E1BA}"/>
                </a:ext>
              </a:extLst>
            </p:cNvPr>
            <p:cNvPicPr>
              <a:picLocks noChangeAspect="1" noChangeArrowheads="1"/>
            </p:cNvPicPr>
            <p:nvPr/>
          </p:nvPicPr>
          <p:blipFill>
            <a:blip r:embed="rId3" cstate="print">
              <a:lum bright="-6000" contrast="24000"/>
            </a:blip>
            <a:srcRect l="42606" t="64474" r="19473"/>
            <a:stretch>
              <a:fillRect/>
            </a:stretch>
          </p:blipFill>
          <p:spPr bwMode="auto">
            <a:xfrm>
              <a:off x="839" y="1298"/>
              <a:ext cx="499" cy="598"/>
            </a:xfrm>
            <a:prstGeom prst="rect">
              <a:avLst/>
            </a:prstGeom>
            <a:noFill/>
          </p:spPr>
        </p:pic>
        <p:sp>
          <p:nvSpPr>
            <p:cNvPr id="82" name="Text Box 53">
              <a:extLst>
                <a:ext uri="{FF2B5EF4-FFF2-40B4-BE49-F238E27FC236}">
                  <a16:creationId xmlns:a16="http://schemas.microsoft.com/office/drawing/2014/main" id="{2DFBA5EA-2ECC-0D32-0BED-10490EA977EA}"/>
                </a:ext>
              </a:extLst>
            </p:cNvPr>
            <p:cNvSpPr txBox="1">
              <a:spLocks noChangeArrowheads="1"/>
            </p:cNvSpPr>
            <p:nvPr/>
          </p:nvSpPr>
          <p:spPr bwMode="white">
            <a:xfrm>
              <a:off x="1041" y="1359"/>
              <a:ext cx="240" cy="288"/>
            </a:xfrm>
            <a:prstGeom prst="rect">
              <a:avLst/>
            </a:prstGeom>
            <a:noFill/>
            <a:ln w="9525">
              <a:noFill/>
              <a:miter lim="800000"/>
            </a:ln>
            <a:effectLst/>
          </p:spPr>
          <p:txBody>
            <a:bodyPr>
              <a:spAutoFit/>
            </a:bodyPr>
            <a:lstStyle/>
            <a:p>
              <a:pPr algn="ctr">
                <a:spcBef>
                  <a:spcPct val="50000"/>
                </a:spcBef>
              </a:pPr>
              <a:r>
                <a:rPr lang="en-US" altLang="zh-CN" sz="2400" b="1">
                  <a:solidFill>
                    <a:schemeClr val="bg1"/>
                  </a:solidFill>
                  <a:latin typeface="微软雅黑" panose="020B0503020204020204" pitchFamily="34" charset="-122"/>
                  <a:ea typeface="微软雅黑" panose="020B0503020204020204" pitchFamily="34" charset="-122"/>
                  <a:cs typeface="Arial" panose="020B0604020202020204" pitchFamily="34" charset="0"/>
                </a:rPr>
                <a:t>1</a:t>
              </a:r>
            </a:p>
          </p:txBody>
        </p:sp>
      </p:grpSp>
      <p:grpSp>
        <p:nvGrpSpPr>
          <p:cNvPr id="96" name="Group 58">
            <a:extLst>
              <a:ext uri="{FF2B5EF4-FFF2-40B4-BE49-F238E27FC236}">
                <a16:creationId xmlns:a16="http://schemas.microsoft.com/office/drawing/2014/main" id="{D5786DF9-BA38-2E7E-4CE1-90EE0E520FE1}"/>
              </a:ext>
            </a:extLst>
          </p:cNvPr>
          <p:cNvGrpSpPr/>
          <p:nvPr/>
        </p:nvGrpSpPr>
        <p:grpSpPr bwMode="auto">
          <a:xfrm>
            <a:off x="2419349" y="4092981"/>
            <a:ext cx="7172325" cy="949325"/>
            <a:chOff x="846" y="2374"/>
            <a:chExt cx="4057" cy="598"/>
          </a:xfrm>
        </p:grpSpPr>
        <p:grpSp>
          <p:nvGrpSpPr>
            <p:cNvPr id="97" name="Group 37">
              <a:extLst>
                <a:ext uri="{FF2B5EF4-FFF2-40B4-BE49-F238E27FC236}">
                  <a16:creationId xmlns:a16="http://schemas.microsoft.com/office/drawing/2014/main" id="{FDF20C71-1723-C6C4-C9F6-A2C84C66E0B7}"/>
                </a:ext>
              </a:extLst>
            </p:cNvPr>
            <p:cNvGrpSpPr/>
            <p:nvPr/>
          </p:nvGrpSpPr>
          <p:grpSpPr bwMode="auto">
            <a:xfrm>
              <a:off x="962" y="2390"/>
              <a:ext cx="3868" cy="434"/>
              <a:chOff x="720" y="1392"/>
              <a:chExt cx="4058" cy="480"/>
            </a:xfrm>
          </p:grpSpPr>
          <p:sp>
            <p:nvSpPr>
              <p:cNvPr id="101" name="AutoShape 38">
                <a:extLst>
                  <a:ext uri="{FF2B5EF4-FFF2-40B4-BE49-F238E27FC236}">
                    <a16:creationId xmlns:a16="http://schemas.microsoft.com/office/drawing/2014/main" id="{C1C6795D-87E9-C7D6-8207-6DCE042A6BB4}"/>
                  </a:ext>
                </a:extLst>
              </p:cNvPr>
              <p:cNvSpPr>
                <a:spLocks noChangeArrowheads="1"/>
              </p:cNvSpPr>
              <p:nvPr/>
            </p:nvSpPr>
            <p:spPr bwMode="gray">
              <a:xfrm>
                <a:off x="720" y="1392"/>
                <a:ext cx="4058" cy="480"/>
              </a:xfrm>
              <a:prstGeom prst="roundRect">
                <a:avLst>
                  <a:gd name="adj" fmla="val 17509"/>
                </a:avLst>
              </a:prstGeom>
              <a:gradFill rotWithShape="1">
                <a:gsLst>
                  <a:gs pos="0">
                    <a:schemeClr val="hlink"/>
                  </a:gs>
                  <a:gs pos="50000">
                    <a:schemeClr val="hlink">
                      <a:gamma/>
                      <a:shade val="92157"/>
                      <a:invGamma/>
                    </a:schemeClr>
                  </a:gs>
                  <a:gs pos="100000">
                    <a:schemeClr val="hlink"/>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nvGrpSpPr>
              <p:cNvPr id="102" name="Group 39">
                <a:extLst>
                  <a:ext uri="{FF2B5EF4-FFF2-40B4-BE49-F238E27FC236}">
                    <a16:creationId xmlns:a16="http://schemas.microsoft.com/office/drawing/2014/main" id="{2E296A52-BFCE-EA42-EB52-654F6BF018D0}"/>
                  </a:ext>
                </a:extLst>
              </p:cNvPr>
              <p:cNvGrpSpPr/>
              <p:nvPr/>
            </p:nvGrpSpPr>
            <p:grpSpPr bwMode="auto">
              <a:xfrm>
                <a:off x="730" y="1407"/>
                <a:ext cx="4043" cy="444"/>
                <a:chOff x="744" y="1407"/>
                <a:chExt cx="3988" cy="444"/>
              </a:xfrm>
            </p:grpSpPr>
            <p:sp>
              <p:nvSpPr>
                <p:cNvPr id="103" name="AutoShape 40">
                  <a:extLst>
                    <a:ext uri="{FF2B5EF4-FFF2-40B4-BE49-F238E27FC236}">
                      <a16:creationId xmlns:a16="http://schemas.microsoft.com/office/drawing/2014/main" id="{BE1E4743-7413-AB1B-EAC0-2DED65E3A874}"/>
                    </a:ext>
                  </a:extLst>
                </p:cNvPr>
                <p:cNvSpPr>
                  <a:spLocks noChangeArrowheads="1"/>
                </p:cNvSpPr>
                <p:nvPr/>
              </p:nvSpPr>
              <p:spPr bwMode="gray">
                <a:xfrm>
                  <a:off x="744" y="1736"/>
                  <a:ext cx="3988" cy="115"/>
                </a:xfrm>
                <a:prstGeom prst="roundRect">
                  <a:avLst>
                    <a:gd name="adj" fmla="val 50000"/>
                  </a:avLst>
                </a:prstGeom>
                <a:gradFill rotWithShape="1">
                  <a:gsLst>
                    <a:gs pos="0">
                      <a:schemeClr val="hlink">
                        <a:alpha val="0"/>
                      </a:schemeClr>
                    </a:gs>
                    <a:gs pos="100000">
                      <a:schemeClr val="hlink">
                        <a:gamma/>
                        <a:tint val="0"/>
                        <a:invGamma/>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sp>
              <p:nvSpPr>
                <p:cNvPr id="104" name="AutoShape 41">
                  <a:extLst>
                    <a:ext uri="{FF2B5EF4-FFF2-40B4-BE49-F238E27FC236}">
                      <a16:creationId xmlns:a16="http://schemas.microsoft.com/office/drawing/2014/main" id="{29FB1938-C2C6-ED2E-5B54-BE0B5AA804DE}"/>
                    </a:ext>
                  </a:extLst>
                </p:cNvPr>
                <p:cNvSpPr>
                  <a:spLocks noChangeArrowheads="1"/>
                </p:cNvSpPr>
                <p:nvPr/>
              </p:nvSpPr>
              <p:spPr bwMode="gray">
                <a:xfrm>
                  <a:off x="744" y="1407"/>
                  <a:ext cx="3988" cy="115"/>
                </a:xfrm>
                <a:prstGeom prst="roundRect">
                  <a:avLst>
                    <a:gd name="adj" fmla="val 50000"/>
                  </a:avLst>
                </a:prstGeom>
                <a:gradFill rotWithShape="1">
                  <a:gsLst>
                    <a:gs pos="0">
                      <a:schemeClr val="hlink">
                        <a:gamma/>
                        <a:tint val="0"/>
                        <a:invGamma/>
                      </a:schemeClr>
                    </a:gs>
                    <a:gs pos="100000">
                      <a:schemeClr val="hlink">
                        <a:alpha val="0"/>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grpSp>
        <p:sp>
          <p:nvSpPr>
            <p:cNvPr id="98" name="Text Box 49">
              <a:extLst>
                <a:ext uri="{FF2B5EF4-FFF2-40B4-BE49-F238E27FC236}">
                  <a16:creationId xmlns:a16="http://schemas.microsoft.com/office/drawing/2014/main" id="{DA717B76-B1B5-9EF1-308A-8BFBDA2DB779}"/>
                </a:ext>
              </a:extLst>
            </p:cNvPr>
            <p:cNvSpPr txBox="1">
              <a:spLocks noChangeArrowheads="1"/>
            </p:cNvSpPr>
            <p:nvPr/>
          </p:nvSpPr>
          <p:spPr bwMode="white">
            <a:xfrm>
              <a:off x="1263" y="2454"/>
              <a:ext cx="3640" cy="290"/>
            </a:xfrm>
            <a:prstGeom prst="rect">
              <a:avLst/>
            </a:prstGeom>
            <a:noFill/>
            <a:ln w="9525">
              <a:noFill/>
              <a:miter lim="800000"/>
            </a:ln>
            <a:effectLst/>
          </p:spPr>
          <p:txBody>
            <a:bodyPr wrap="square">
              <a:spAutoFit/>
            </a:bodyPr>
            <a:lstStyle/>
            <a:p>
              <a:pPr marL="457200" indent="-457200">
                <a:spcBef>
                  <a:spcPct val="50000"/>
                </a:spcBef>
                <a:buClr>
                  <a:schemeClr val="tx1"/>
                </a:buClr>
              </a:pPr>
              <a:r>
                <a:rPr lang="zh-CN" altLang="en-US"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分布式线控底盘耦合运动控制</a:t>
              </a:r>
              <a:endParaRPr lang="zh-CN" altLang="zh-CN"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99" name="Picture 50" descr="1">
              <a:extLst>
                <a:ext uri="{FF2B5EF4-FFF2-40B4-BE49-F238E27FC236}">
                  <a16:creationId xmlns:a16="http://schemas.microsoft.com/office/drawing/2014/main" id="{DA9F0726-0339-E872-E2F2-5861C1D7A757}"/>
                </a:ext>
              </a:extLst>
            </p:cNvPr>
            <p:cNvPicPr>
              <a:picLocks noChangeAspect="1" noChangeArrowheads="1"/>
            </p:cNvPicPr>
            <p:nvPr/>
          </p:nvPicPr>
          <p:blipFill>
            <a:blip r:embed="rId3" cstate="print">
              <a:lum bright="-6000" contrast="24000"/>
            </a:blip>
            <a:srcRect l="42606" t="64474" r="19473"/>
            <a:stretch>
              <a:fillRect/>
            </a:stretch>
          </p:blipFill>
          <p:spPr bwMode="auto">
            <a:xfrm>
              <a:off x="846" y="2374"/>
              <a:ext cx="499" cy="598"/>
            </a:xfrm>
            <a:prstGeom prst="rect">
              <a:avLst/>
            </a:prstGeom>
            <a:noFill/>
          </p:spPr>
        </p:pic>
        <p:sp>
          <p:nvSpPr>
            <p:cNvPr id="100" name="Text Box 55">
              <a:extLst>
                <a:ext uri="{FF2B5EF4-FFF2-40B4-BE49-F238E27FC236}">
                  <a16:creationId xmlns:a16="http://schemas.microsoft.com/office/drawing/2014/main" id="{5F07E4F0-FFBD-5863-CDE6-C23B867C388F}"/>
                </a:ext>
              </a:extLst>
            </p:cNvPr>
            <p:cNvSpPr txBox="1">
              <a:spLocks noChangeArrowheads="1"/>
            </p:cNvSpPr>
            <p:nvPr/>
          </p:nvSpPr>
          <p:spPr bwMode="white">
            <a:xfrm>
              <a:off x="1049" y="2459"/>
              <a:ext cx="240" cy="288"/>
            </a:xfrm>
            <a:prstGeom prst="rect">
              <a:avLst/>
            </a:prstGeom>
            <a:noFill/>
            <a:ln w="9525">
              <a:noFill/>
              <a:miter lim="800000"/>
            </a:ln>
            <a:effectLst/>
          </p:spPr>
          <p:txBody>
            <a:bodyPr>
              <a:spAutoFit/>
            </a:bodyPr>
            <a:lstStyle/>
            <a:p>
              <a:pPr algn="ctr">
                <a:spcBef>
                  <a:spcPct val="50000"/>
                </a:spcBef>
              </a:pPr>
              <a:r>
                <a:rPr lang="en-US" altLang="zh-CN" sz="2400" b="1"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3</a:t>
              </a:r>
            </a:p>
          </p:txBody>
        </p:sp>
      </p:grpSp>
      <p:sp>
        <p:nvSpPr>
          <p:cNvPr id="105" name="AutoShape 6">
            <a:extLst>
              <a:ext uri="{FF2B5EF4-FFF2-40B4-BE49-F238E27FC236}">
                <a16:creationId xmlns:a16="http://schemas.microsoft.com/office/drawing/2014/main" id="{00D89B45-8398-09CF-F305-F70D9DAB0CD7}"/>
              </a:ext>
            </a:extLst>
          </p:cNvPr>
          <p:cNvSpPr>
            <a:spLocks noChangeArrowheads="1"/>
          </p:cNvSpPr>
          <p:nvPr/>
        </p:nvSpPr>
        <p:spPr bwMode="gray">
          <a:xfrm>
            <a:off x="3298598" y="1413649"/>
            <a:ext cx="5580255" cy="479490"/>
          </a:xfrm>
          <a:prstGeom prst="roundRect">
            <a:avLst>
              <a:gd name="adj" fmla="val 50000"/>
            </a:avLst>
          </a:prstGeom>
          <a:solidFill>
            <a:srgbClr val="0A2B7C"/>
          </a:solidFill>
          <a:ln w="28575" algn="ctr">
            <a:solidFill>
              <a:srgbClr val="FFFFFF"/>
            </a:solidFill>
            <a:round/>
          </a:ln>
          <a:effectLst>
            <a:outerShdw dist="107763" dir="2700000" algn="ctr" rotWithShape="0">
              <a:srgbClr val="C0C0C0">
                <a:alpha val="50000"/>
              </a:srgbClr>
            </a:outerShdw>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defRPr/>
            </a:pPr>
            <a:r>
              <a:rPr lang="zh-CN" altLang="en-US" sz="2400" b="1" kern="0" dirty="0">
                <a:solidFill>
                  <a:srgbClr val="FFFFFF"/>
                </a:solidFill>
                <a:latin typeface="微软雅黑" panose="020B0503020204020204" pitchFamily="34" charset="-122"/>
                <a:ea typeface="微软雅黑" panose="020B0503020204020204" pitchFamily="34" charset="-122"/>
              </a:rPr>
              <a:t>研究内容</a:t>
            </a:r>
          </a:p>
        </p:txBody>
      </p:sp>
      <p:grpSp>
        <p:nvGrpSpPr>
          <p:cNvPr id="106" name="Group 58">
            <a:extLst>
              <a:ext uri="{FF2B5EF4-FFF2-40B4-BE49-F238E27FC236}">
                <a16:creationId xmlns:a16="http://schemas.microsoft.com/office/drawing/2014/main" id="{79A34CA8-FEB2-4A41-FCE0-1E5D19D52E1D}"/>
              </a:ext>
            </a:extLst>
          </p:cNvPr>
          <p:cNvGrpSpPr/>
          <p:nvPr/>
        </p:nvGrpSpPr>
        <p:grpSpPr bwMode="auto">
          <a:xfrm>
            <a:off x="2419350" y="5001310"/>
            <a:ext cx="7172323" cy="949325"/>
            <a:chOff x="846" y="2374"/>
            <a:chExt cx="4057" cy="598"/>
          </a:xfrm>
        </p:grpSpPr>
        <p:grpSp>
          <p:nvGrpSpPr>
            <p:cNvPr id="107" name="Group 37">
              <a:extLst>
                <a:ext uri="{FF2B5EF4-FFF2-40B4-BE49-F238E27FC236}">
                  <a16:creationId xmlns:a16="http://schemas.microsoft.com/office/drawing/2014/main" id="{65F12D41-B378-0EE9-8FC3-DBFB0F89D9DB}"/>
                </a:ext>
              </a:extLst>
            </p:cNvPr>
            <p:cNvGrpSpPr/>
            <p:nvPr/>
          </p:nvGrpSpPr>
          <p:grpSpPr bwMode="auto">
            <a:xfrm>
              <a:off x="962" y="2390"/>
              <a:ext cx="3868" cy="434"/>
              <a:chOff x="720" y="1392"/>
              <a:chExt cx="4058" cy="480"/>
            </a:xfrm>
          </p:grpSpPr>
          <p:sp>
            <p:nvSpPr>
              <p:cNvPr id="111" name="AutoShape 38">
                <a:extLst>
                  <a:ext uri="{FF2B5EF4-FFF2-40B4-BE49-F238E27FC236}">
                    <a16:creationId xmlns:a16="http://schemas.microsoft.com/office/drawing/2014/main" id="{8197FDEB-140C-8FA9-D95A-4DF7E2E2BB78}"/>
                  </a:ext>
                </a:extLst>
              </p:cNvPr>
              <p:cNvSpPr>
                <a:spLocks noChangeArrowheads="1"/>
              </p:cNvSpPr>
              <p:nvPr/>
            </p:nvSpPr>
            <p:spPr bwMode="gray">
              <a:xfrm>
                <a:off x="720" y="1392"/>
                <a:ext cx="4058" cy="480"/>
              </a:xfrm>
              <a:prstGeom prst="roundRect">
                <a:avLst>
                  <a:gd name="adj" fmla="val 17509"/>
                </a:avLst>
              </a:prstGeom>
              <a:gradFill rotWithShape="1">
                <a:gsLst>
                  <a:gs pos="0">
                    <a:schemeClr val="hlink"/>
                  </a:gs>
                  <a:gs pos="50000">
                    <a:schemeClr val="hlink">
                      <a:gamma/>
                      <a:shade val="92157"/>
                      <a:invGamma/>
                    </a:schemeClr>
                  </a:gs>
                  <a:gs pos="100000">
                    <a:schemeClr val="hlink"/>
                  </a:gs>
                </a:gsLst>
                <a:lin ang="5400000" scaled="1"/>
              </a:gradFill>
              <a:ln w="9525">
                <a:noFill/>
                <a:round/>
              </a:ln>
              <a:effectLst/>
            </p:spPr>
            <p:txBody>
              <a:bodyPr wrap="none" anchor="ctr"/>
              <a:lstStyle/>
              <a:p>
                <a:endParaRPr lang="zh-CN" altLang="en-US" dirty="0">
                  <a:latin typeface="微软雅黑" panose="020B0503020204020204" pitchFamily="34" charset="-122"/>
                  <a:ea typeface="微软雅黑" panose="020B0503020204020204" pitchFamily="34" charset="-122"/>
                </a:endParaRPr>
              </a:p>
            </p:txBody>
          </p:sp>
          <p:grpSp>
            <p:nvGrpSpPr>
              <p:cNvPr id="112" name="Group 39">
                <a:extLst>
                  <a:ext uri="{FF2B5EF4-FFF2-40B4-BE49-F238E27FC236}">
                    <a16:creationId xmlns:a16="http://schemas.microsoft.com/office/drawing/2014/main" id="{0DC91D59-3C18-462E-64B0-7B8A7FDF23E7}"/>
                  </a:ext>
                </a:extLst>
              </p:cNvPr>
              <p:cNvGrpSpPr/>
              <p:nvPr/>
            </p:nvGrpSpPr>
            <p:grpSpPr bwMode="auto">
              <a:xfrm>
                <a:off x="730" y="1407"/>
                <a:ext cx="4043" cy="444"/>
                <a:chOff x="744" y="1407"/>
                <a:chExt cx="3988" cy="444"/>
              </a:xfrm>
            </p:grpSpPr>
            <p:sp>
              <p:nvSpPr>
                <p:cNvPr id="113" name="AutoShape 40">
                  <a:extLst>
                    <a:ext uri="{FF2B5EF4-FFF2-40B4-BE49-F238E27FC236}">
                      <a16:creationId xmlns:a16="http://schemas.microsoft.com/office/drawing/2014/main" id="{FF3D97B4-456E-53D7-DEEF-A60F15F6F272}"/>
                    </a:ext>
                  </a:extLst>
                </p:cNvPr>
                <p:cNvSpPr>
                  <a:spLocks noChangeArrowheads="1"/>
                </p:cNvSpPr>
                <p:nvPr/>
              </p:nvSpPr>
              <p:spPr bwMode="gray">
                <a:xfrm>
                  <a:off x="744" y="1736"/>
                  <a:ext cx="3988" cy="115"/>
                </a:xfrm>
                <a:prstGeom prst="roundRect">
                  <a:avLst>
                    <a:gd name="adj" fmla="val 50000"/>
                  </a:avLst>
                </a:prstGeom>
                <a:gradFill rotWithShape="1">
                  <a:gsLst>
                    <a:gs pos="0">
                      <a:schemeClr val="hlink">
                        <a:alpha val="0"/>
                      </a:schemeClr>
                    </a:gs>
                    <a:gs pos="100000">
                      <a:schemeClr val="hlink">
                        <a:gamma/>
                        <a:tint val="0"/>
                        <a:invGamma/>
                      </a:schemeClr>
                    </a:gs>
                  </a:gsLst>
                  <a:lin ang="5400000" scaled="1"/>
                </a:gradFill>
                <a:ln w="9525">
                  <a:noFill/>
                  <a:round/>
                </a:ln>
                <a:effectLst>
                  <a:outerShdw blurRad="50800" dist="50800" dir="5400000" algn="ctr" rotWithShape="0">
                    <a:schemeClr val="accent2">
                      <a:lumMod val="40000"/>
                      <a:lumOff val="60000"/>
                    </a:schemeClr>
                  </a:outerShdw>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sp>
              <p:nvSpPr>
                <p:cNvPr id="114" name="AutoShape 41">
                  <a:extLst>
                    <a:ext uri="{FF2B5EF4-FFF2-40B4-BE49-F238E27FC236}">
                      <a16:creationId xmlns:a16="http://schemas.microsoft.com/office/drawing/2014/main" id="{5D7F3117-7661-8D14-A6A4-C8C01684F784}"/>
                    </a:ext>
                  </a:extLst>
                </p:cNvPr>
                <p:cNvSpPr>
                  <a:spLocks noChangeArrowheads="1"/>
                </p:cNvSpPr>
                <p:nvPr/>
              </p:nvSpPr>
              <p:spPr bwMode="gray">
                <a:xfrm>
                  <a:off x="744" y="1407"/>
                  <a:ext cx="3988" cy="115"/>
                </a:xfrm>
                <a:prstGeom prst="roundRect">
                  <a:avLst>
                    <a:gd name="adj" fmla="val 50000"/>
                  </a:avLst>
                </a:prstGeom>
                <a:gradFill rotWithShape="1">
                  <a:gsLst>
                    <a:gs pos="0">
                      <a:schemeClr val="hlink">
                        <a:gamma/>
                        <a:tint val="0"/>
                        <a:invGamma/>
                      </a:schemeClr>
                    </a:gs>
                    <a:gs pos="100000">
                      <a:schemeClr val="hlink">
                        <a:alpha val="0"/>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grpSp>
        <p:sp>
          <p:nvSpPr>
            <p:cNvPr id="108" name="Text Box 49">
              <a:extLst>
                <a:ext uri="{FF2B5EF4-FFF2-40B4-BE49-F238E27FC236}">
                  <a16:creationId xmlns:a16="http://schemas.microsoft.com/office/drawing/2014/main" id="{090E9733-3382-9961-AED0-D90BE1C18205}"/>
                </a:ext>
              </a:extLst>
            </p:cNvPr>
            <p:cNvSpPr txBox="1">
              <a:spLocks noChangeArrowheads="1"/>
            </p:cNvSpPr>
            <p:nvPr/>
          </p:nvSpPr>
          <p:spPr bwMode="white">
            <a:xfrm>
              <a:off x="1263" y="2454"/>
              <a:ext cx="3640" cy="290"/>
            </a:xfrm>
            <a:prstGeom prst="rect">
              <a:avLst/>
            </a:prstGeom>
            <a:noFill/>
            <a:ln w="9525">
              <a:noFill/>
              <a:miter lim="800000"/>
            </a:ln>
            <a:effectLst/>
          </p:spPr>
          <p:txBody>
            <a:bodyPr wrap="square">
              <a:spAutoFit/>
            </a:bodyPr>
            <a:lstStyle/>
            <a:p>
              <a:r>
                <a:rPr lang="zh-CN" altLang="en-US" sz="2400" b="1" dirty="0">
                  <a:ln>
                    <a:noFill/>
                  </a:ln>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综合工况台架验证</a:t>
              </a:r>
              <a:endParaRPr sz="2400" b="1" dirty="0">
                <a:ln>
                  <a:noFill/>
                </a:ln>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109" name="Picture 50" descr="1">
              <a:extLst>
                <a:ext uri="{FF2B5EF4-FFF2-40B4-BE49-F238E27FC236}">
                  <a16:creationId xmlns:a16="http://schemas.microsoft.com/office/drawing/2014/main" id="{C7C76BD2-727F-8952-97DF-4E5436794320}"/>
                </a:ext>
              </a:extLst>
            </p:cNvPr>
            <p:cNvPicPr>
              <a:picLocks noChangeAspect="1" noChangeArrowheads="1"/>
            </p:cNvPicPr>
            <p:nvPr/>
          </p:nvPicPr>
          <p:blipFill>
            <a:blip r:embed="rId3" cstate="print">
              <a:lum bright="-6000" contrast="24000"/>
            </a:blip>
            <a:srcRect l="42606" t="64474" r="19473"/>
            <a:stretch>
              <a:fillRect/>
            </a:stretch>
          </p:blipFill>
          <p:spPr bwMode="auto">
            <a:xfrm>
              <a:off x="846" y="2374"/>
              <a:ext cx="499" cy="598"/>
            </a:xfrm>
            <a:prstGeom prst="rect">
              <a:avLst/>
            </a:prstGeom>
            <a:noFill/>
            <a:ln>
              <a:noFill/>
            </a:ln>
          </p:spPr>
        </p:pic>
        <p:sp>
          <p:nvSpPr>
            <p:cNvPr id="110" name="Text Box 55">
              <a:extLst>
                <a:ext uri="{FF2B5EF4-FFF2-40B4-BE49-F238E27FC236}">
                  <a16:creationId xmlns:a16="http://schemas.microsoft.com/office/drawing/2014/main" id="{6639C58E-EB50-395C-80A8-6CA622ADA977}"/>
                </a:ext>
              </a:extLst>
            </p:cNvPr>
            <p:cNvSpPr txBox="1">
              <a:spLocks noChangeArrowheads="1"/>
            </p:cNvSpPr>
            <p:nvPr/>
          </p:nvSpPr>
          <p:spPr bwMode="white">
            <a:xfrm>
              <a:off x="1049" y="2459"/>
              <a:ext cx="240" cy="288"/>
            </a:xfrm>
            <a:prstGeom prst="rect">
              <a:avLst/>
            </a:prstGeom>
            <a:noFill/>
            <a:ln w="9525">
              <a:noFill/>
              <a:miter lim="800000"/>
            </a:ln>
            <a:effectLst/>
          </p:spPr>
          <p:txBody>
            <a:bodyPr>
              <a:spAutoFit/>
            </a:bodyPr>
            <a:lstStyle/>
            <a:p>
              <a:pPr algn="ctr">
                <a:spcBef>
                  <a:spcPct val="50000"/>
                </a:spcBef>
              </a:pPr>
              <a:r>
                <a:rPr lang="en-US" altLang="zh-CN" sz="2400" b="1"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4</a:t>
              </a:r>
            </a:p>
          </p:txBody>
        </p:sp>
      </p:grpSp>
      <p:grpSp>
        <p:nvGrpSpPr>
          <p:cNvPr id="116" name="Group 58">
            <a:extLst>
              <a:ext uri="{FF2B5EF4-FFF2-40B4-BE49-F238E27FC236}">
                <a16:creationId xmlns:a16="http://schemas.microsoft.com/office/drawing/2014/main" id="{ECDF6F5F-DCAB-465A-5574-57921FD7F025}"/>
              </a:ext>
            </a:extLst>
          </p:cNvPr>
          <p:cNvGrpSpPr/>
          <p:nvPr/>
        </p:nvGrpSpPr>
        <p:grpSpPr bwMode="auto">
          <a:xfrm>
            <a:off x="2419348" y="3260726"/>
            <a:ext cx="7172325" cy="949325"/>
            <a:chOff x="846" y="2374"/>
            <a:chExt cx="4057" cy="598"/>
          </a:xfrm>
        </p:grpSpPr>
        <p:grpSp>
          <p:nvGrpSpPr>
            <p:cNvPr id="117" name="Group 37">
              <a:extLst>
                <a:ext uri="{FF2B5EF4-FFF2-40B4-BE49-F238E27FC236}">
                  <a16:creationId xmlns:a16="http://schemas.microsoft.com/office/drawing/2014/main" id="{BACC99CD-A3CD-271C-E49D-F3CE837C27F3}"/>
                </a:ext>
              </a:extLst>
            </p:cNvPr>
            <p:cNvGrpSpPr/>
            <p:nvPr/>
          </p:nvGrpSpPr>
          <p:grpSpPr bwMode="auto">
            <a:xfrm>
              <a:off x="962" y="2390"/>
              <a:ext cx="3868" cy="434"/>
              <a:chOff x="720" y="1392"/>
              <a:chExt cx="4058" cy="480"/>
            </a:xfrm>
          </p:grpSpPr>
          <p:sp>
            <p:nvSpPr>
              <p:cNvPr id="121" name="AutoShape 38">
                <a:extLst>
                  <a:ext uri="{FF2B5EF4-FFF2-40B4-BE49-F238E27FC236}">
                    <a16:creationId xmlns:a16="http://schemas.microsoft.com/office/drawing/2014/main" id="{DEB9CB06-2FED-226F-EC13-36BBA178D298}"/>
                  </a:ext>
                </a:extLst>
              </p:cNvPr>
              <p:cNvSpPr>
                <a:spLocks noChangeArrowheads="1"/>
              </p:cNvSpPr>
              <p:nvPr/>
            </p:nvSpPr>
            <p:spPr bwMode="gray">
              <a:xfrm>
                <a:off x="720" y="1392"/>
                <a:ext cx="4058" cy="480"/>
              </a:xfrm>
              <a:prstGeom prst="roundRect">
                <a:avLst>
                  <a:gd name="adj" fmla="val 17509"/>
                </a:avLst>
              </a:prstGeom>
              <a:gradFill rotWithShape="1">
                <a:gsLst>
                  <a:gs pos="0">
                    <a:schemeClr val="hlink"/>
                  </a:gs>
                  <a:gs pos="50000">
                    <a:schemeClr val="hlink">
                      <a:gamma/>
                      <a:shade val="92157"/>
                      <a:invGamma/>
                    </a:schemeClr>
                  </a:gs>
                  <a:gs pos="100000">
                    <a:schemeClr val="hlink"/>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nvGrpSpPr>
              <p:cNvPr id="122" name="Group 39">
                <a:extLst>
                  <a:ext uri="{FF2B5EF4-FFF2-40B4-BE49-F238E27FC236}">
                    <a16:creationId xmlns:a16="http://schemas.microsoft.com/office/drawing/2014/main" id="{2D6B42F1-1127-C0A4-B081-44E080B6D049}"/>
                  </a:ext>
                </a:extLst>
              </p:cNvPr>
              <p:cNvGrpSpPr/>
              <p:nvPr/>
            </p:nvGrpSpPr>
            <p:grpSpPr bwMode="auto">
              <a:xfrm>
                <a:off x="730" y="1407"/>
                <a:ext cx="4043" cy="444"/>
                <a:chOff x="744" y="1407"/>
                <a:chExt cx="3988" cy="444"/>
              </a:xfrm>
            </p:grpSpPr>
            <p:sp>
              <p:nvSpPr>
                <p:cNvPr id="123" name="AutoShape 40">
                  <a:extLst>
                    <a:ext uri="{FF2B5EF4-FFF2-40B4-BE49-F238E27FC236}">
                      <a16:creationId xmlns:a16="http://schemas.microsoft.com/office/drawing/2014/main" id="{3739DFEE-568D-9518-2CAB-171EBED68582}"/>
                    </a:ext>
                  </a:extLst>
                </p:cNvPr>
                <p:cNvSpPr>
                  <a:spLocks noChangeArrowheads="1"/>
                </p:cNvSpPr>
                <p:nvPr/>
              </p:nvSpPr>
              <p:spPr bwMode="gray">
                <a:xfrm>
                  <a:off x="744" y="1736"/>
                  <a:ext cx="3988" cy="115"/>
                </a:xfrm>
                <a:prstGeom prst="roundRect">
                  <a:avLst>
                    <a:gd name="adj" fmla="val 50000"/>
                  </a:avLst>
                </a:prstGeom>
                <a:gradFill rotWithShape="1">
                  <a:gsLst>
                    <a:gs pos="0">
                      <a:schemeClr val="hlink">
                        <a:alpha val="0"/>
                      </a:schemeClr>
                    </a:gs>
                    <a:gs pos="100000">
                      <a:schemeClr val="hlink">
                        <a:gamma/>
                        <a:tint val="0"/>
                        <a:invGamma/>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sp>
              <p:nvSpPr>
                <p:cNvPr id="124" name="AutoShape 41">
                  <a:extLst>
                    <a:ext uri="{FF2B5EF4-FFF2-40B4-BE49-F238E27FC236}">
                      <a16:creationId xmlns:a16="http://schemas.microsoft.com/office/drawing/2014/main" id="{DEE6DC82-7C9D-B98C-2C69-71361BB86D54}"/>
                    </a:ext>
                  </a:extLst>
                </p:cNvPr>
                <p:cNvSpPr>
                  <a:spLocks noChangeArrowheads="1"/>
                </p:cNvSpPr>
                <p:nvPr/>
              </p:nvSpPr>
              <p:spPr bwMode="gray">
                <a:xfrm>
                  <a:off x="744" y="1407"/>
                  <a:ext cx="3988" cy="115"/>
                </a:xfrm>
                <a:prstGeom prst="roundRect">
                  <a:avLst>
                    <a:gd name="adj" fmla="val 50000"/>
                  </a:avLst>
                </a:prstGeom>
                <a:gradFill rotWithShape="1">
                  <a:gsLst>
                    <a:gs pos="0">
                      <a:schemeClr val="hlink">
                        <a:gamma/>
                        <a:tint val="0"/>
                        <a:invGamma/>
                      </a:schemeClr>
                    </a:gs>
                    <a:gs pos="100000">
                      <a:schemeClr val="hlink">
                        <a:alpha val="0"/>
                      </a:schemeClr>
                    </a:gs>
                  </a:gsLst>
                  <a:lin ang="5400000" scaled="1"/>
                </a:gradFill>
                <a:ln w="9525">
                  <a:noFill/>
                  <a:round/>
                </a:ln>
                <a:effectLst/>
              </p:spPr>
              <p:txBody>
                <a:bodyPr wrap="none" anchor="ctr"/>
                <a:lstStyle/>
                <a:p>
                  <a:endParaRPr lang="zh-CN" altLang="en-US">
                    <a:latin typeface="微软雅黑" panose="020B0503020204020204" pitchFamily="34" charset="-122"/>
                    <a:ea typeface="微软雅黑" panose="020B0503020204020204" pitchFamily="34" charset="-122"/>
                  </a:endParaRPr>
                </a:p>
              </p:txBody>
            </p:sp>
          </p:grpSp>
        </p:grpSp>
        <p:sp>
          <p:nvSpPr>
            <p:cNvPr id="118" name="Text Box 49">
              <a:extLst>
                <a:ext uri="{FF2B5EF4-FFF2-40B4-BE49-F238E27FC236}">
                  <a16:creationId xmlns:a16="http://schemas.microsoft.com/office/drawing/2014/main" id="{FBD1AF15-5DB3-FD92-0824-D75932B16FFE}"/>
                </a:ext>
              </a:extLst>
            </p:cNvPr>
            <p:cNvSpPr txBox="1">
              <a:spLocks noChangeArrowheads="1"/>
            </p:cNvSpPr>
            <p:nvPr/>
          </p:nvSpPr>
          <p:spPr bwMode="white">
            <a:xfrm>
              <a:off x="1263" y="2454"/>
              <a:ext cx="3640" cy="291"/>
            </a:xfrm>
            <a:prstGeom prst="rect">
              <a:avLst/>
            </a:prstGeom>
            <a:noFill/>
            <a:ln w="9525">
              <a:noFill/>
              <a:miter lim="800000"/>
            </a:ln>
            <a:effectLst/>
          </p:spPr>
          <p:txBody>
            <a:bodyPr wrap="square">
              <a:spAutoFit/>
            </a:bodyPr>
            <a:lstStyle/>
            <a:p>
              <a:pPr marL="457200" indent="-457200">
                <a:spcBef>
                  <a:spcPct val="50000"/>
                </a:spcBef>
                <a:buClr>
                  <a:schemeClr val="tx1"/>
                </a:buClr>
              </a:pPr>
              <a:r>
                <a:rPr lang="zh-CN" altLang="en-US"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  分布式线控底盘紧急避障场景下的轨迹规划</a:t>
              </a:r>
              <a:endParaRPr lang="zh-CN" altLang="zh-CN" sz="2400" b="1"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119" name="Picture 50" descr="1">
              <a:extLst>
                <a:ext uri="{FF2B5EF4-FFF2-40B4-BE49-F238E27FC236}">
                  <a16:creationId xmlns:a16="http://schemas.microsoft.com/office/drawing/2014/main" id="{1EFB87AB-A27C-F34D-F901-D7CC8BCFC622}"/>
                </a:ext>
              </a:extLst>
            </p:cNvPr>
            <p:cNvPicPr>
              <a:picLocks noChangeAspect="1" noChangeArrowheads="1"/>
            </p:cNvPicPr>
            <p:nvPr/>
          </p:nvPicPr>
          <p:blipFill>
            <a:blip r:embed="rId3" cstate="print">
              <a:lum bright="-6000" contrast="24000"/>
            </a:blip>
            <a:srcRect l="42606" t="64474" r="19473"/>
            <a:stretch>
              <a:fillRect/>
            </a:stretch>
          </p:blipFill>
          <p:spPr bwMode="auto">
            <a:xfrm>
              <a:off x="846" y="2374"/>
              <a:ext cx="499" cy="598"/>
            </a:xfrm>
            <a:prstGeom prst="rect">
              <a:avLst/>
            </a:prstGeom>
            <a:noFill/>
          </p:spPr>
        </p:pic>
        <p:sp>
          <p:nvSpPr>
            <p:cNvPr id="120" name="Text Box 55">
              <a:extLst>
                <a:ext uri="{FF2B5EF4-FFF2-40B4-BE49-F238E27FC236}">
                  <a16:creationId xmlns:a16="http://schemas.microsoft.com/office/drawing/2014/main" id="{D989C717-E73A-E512-F049-CE9589212ACE}"/>
                </a:ext>
              </a:extLst>
            </p:cNvPr>
            <p:cNvSpPr txBox="1">
              <a:spLocks noChangeArrowheads="1"/>
            </p:cNvSpPr>
            <p:nvPr/>
          </p:nvSpPr>
          <p:spPr bwMode="white">
            <a:xfrm>
              <a:off x="1049" y="2459"/>
              <a:ext cx="240" cy="288"/>
            </a:xfrm>
            <a:prstGeom prst="rect">
              <a:avLst/>
            </a:prstGeom>
            <a:noFill/>
            <a:ln w="9525">
              <a:noFill/>
              <a:miter lim="800000"/>
            </a:ln>
            <a:effectLst/>
          </p:spPr>
          <p:txBody>
            <a:bodyPr>
              <a:spAutoFit/>
            </a:bodyPr>
            <a:lstStyle/>
            <a:p>
              <a:pPr algn="ctr">
                <a:spcBef>
                  <a:spcPct val="50000"/>
                </a:spcBef>
              </a:pPr>
              <a:r>
                <a:rPr lang="en-US" altLang="zh-CN" sz="2400" b="1"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2</a:t>
              </a:r>
            </a:p>
          </p:txBody>
        </p:sp>
      </p:grpSp>
    </p:spTree>
    <p:extLst>
      <p:ext uri="{BB962C8B-B14F-4D97-AF65-F5344CB8AC3E}">
        <p14:creationId xmlns:p14="http://schemas.microsoft.com/office/powerpoint/2010/main" val="905923339"/>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51D25CE7-494E-D0A7-1264-DDC2EFC22189}"/>
              </a:ext>
            </a:extLst>
          </p:cNvPr>
          <p:cNvGrpSpPr/>
          <p:nvPr/>
        </p:nvGrpSpPr>
        <p:grpSpPr>
          <a:xfrm>
            <a:off x="1206264" y="2568575"/>
            <a:ext cx="10542391" cy="1720850"/>
            <a:chOff x="1184275" y="2717410"/>
            <a:chExt cx="10541837" cy="1720986"/>
          </a:xfrm>
        </p:grpSpPr>
        <p:grpSp>
          <p:nvGrpSpPr>
            <p:cNvPr id="6" name="Group 4">
              <a:extLst>
                <a:ext uri="{FF2B5EF4-FFF2-40B4-BE49-F238E27FC236}">
                  <a16:creationId xmlns:a16="http://schemas.microsoft.com/office/drawing/2014/main" id="{BBF57D73-2142-3707-BA5D-2E2313D580F9}"/>
                </a:ext>
              </a:extLst>
            </p:cNvPr>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9" name="Freeform 6">
                <a:extLst>
                  <a:ext uri="{FF2B5EF4-FFF2-40B4-BE49-F238E27FC236}">
                    <a16:creationId xmlns:a16="http://schemas.microsoft.com/office/drawing/2014/main" id="{A5CD54A5-CEC5-870C-45C1-33D118B7A32B}"/>
                  </a:ext>
                </a:extLst>
              </p:cNvPr>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15" name="Freeform 7">
                <a:extLst>
                  <a:ext uri="{FF2B5EF4-FFF2-40B4-BE49-F238E27FC236}">
                    <a16:creationId xmlns:a16="http://schemas.microsoft.com/office/drawing/2014/main" id="{22DD9305-587A-33F9-17AF-A5DC1E39609D}"/>
                  </a:ext>
                </a:extLst>
              </p:cNvPr>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8" name="文本框 7">
              <a:extLst>
                <a:ext uri="{FF2B5EF4-FFF2-40B4-BE49-F238E27FC236}">
                  <a16:creationId xmlns:a16="http://schemas.microsoft.com/office/drawing/2014/main" id="{0D7DA9AE-7C70-DAAF-2D24-705BD8C8D637}"/>
                </a:ext>
              </a:extLst>
            </p:cNvPr>
            <p:cNvSpPr txBox="1"/>
            <p:nvPr/>
          </p:nvSpPr>
          <p:spPr>
            <a:xfrm>
              <a:off x="3187699" y="2847430"/>
              <a:ext cx="8538413" cy="1108084"/>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研究方法及技术路线</a:t>
              </a:r>
            </a:p>
          </p:txBody>
        </p:sp>
      </p:gr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81C63B88-E3A8-27BC-7EA4-4AEDDB45447A}"/>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14</a:t>
            </a:fld>
            <a:endParaRPr lang="zh-HK" altLang="en-US">
              <a:solidFill>
                <a:prstClr val="black">
                  <a:tint val="75000"/>
                </a:prstClr>
              </a:solidFill>
            </a:endParaRPr>
          </a:p>
        </p:txBody>
      </p:sp>
      <p:sp>
        <p:nvSpPr>
          <p:cNvPr id="3" name="Rectangle 3">
            <a:extLst>
              <a:ext uri="{FF2B5EF4-FFF2-40B4-BE49-F238E27FC236}">
                <a16:creationId xmlns:a16="http://schemas.microsoft.com/office/drawing/2014/main" id="{901DCB58-4467-0764-2C92-B2F6366D17E2}"/>
              </a:ext>
            </a:extLst>
          </p:cNvPr>
          <p:cNvSpPr>
            <a:spLocks noChangeArrowheads="1"/>
          </p:cNvSpPr>
          <p:nvPr/>
        </p:nvSpPr>
        <p:spPr bwMode="auto">
          <a:xfrm>
            <a:off x="466725" y="1521487"/>
            <a:ext cx="8553450" cy="522092"/>
          </a:xfrm>
          <a:prstGeom prst="rect">
            <a:avLst/>
          </a:prstGeom>
          <a:noFill/>
          <a:ln w="9525">
            <a:noFill/>
            <a:miter lim="800000"/>
          </a:ln>
        </p:spPr>
        <p:txBody>
          <a:bodyPr/>
          <a:lstStyle/>
          <a:p>
            <a:pPr marL="342900" indent="-342900">
              <a:lnSpc>
                <a:spcPct val="80000"/>
              </a:lnSpc>
              <a:spcBef>
                <a:spcPct val="20000"/>
              </a:spcBef>
              <a:buClr>
                <a:schemeClr val="hlink"/>
              </a:buClr>
              <a:buFont typeface="Wingdings" panose="05000000000000000000" pitchFamily="2" charset="2"/>
              <a:buChar char="Ø"/>
            </a:pPr>
            <a:r>
              <a:rPr lang="zh-CN" altLang="en-US" sz="2400" b="1" dirty="0">
                <a:solidFill>
                  <a:schemeClr val="accent1">
                    <a:lumMod val="75000"/>
                  </a:schemeClr>
                </a:solidFill>
                <a:latin typeface="微软雅黑" panose="020B0503020204020204" pitchFamily="34" charset="-122"/>
                <a:ea typeface="微软雅黑" panose="020B0503020204020204" pitchFamily="34" charset="-122"/>
              </a:rPr>
              <a:t>研究方案</a:t>
            </a:r>
            <a:r>
              <a:rPr lang="en-US" altLang="zh-CN" sz="2400" b="1"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分布式线控底盘汽车系统动力学建模及验证</a:t>
            </a:r>
            <a:endParaRPr lang="en-US" altLang="zh-CN" sz="2800" b="1" dirty="0">
              <a:latin typeface="微软雅黑" panose="020B0503020204020204" pitchFamily="34" charset="-122"/>
              <a:ea typeface="微软雅黑" panose="020B0503020204020204" pitchFamily="34" charset="-122"/>
            </a:endParaRPr>
          </a:p>
        </p:txBody>
      </p:sp>
      <p:sp>
        <p:nvSpPr>
          <p:cNvPr id="7" name="文本框 6">
            <a:extLst>
              <a:ext uri="{FF2B5EF4-FFF2-40B4-BE49-F238E27FC236}">
                <a16:creationId xmlns:a16="http://schemas.microsoft.com/office/drawing/2014/main" id="{485144D6-9D23-9349-B2B8-3010E312C61A}"/>
              </a:ext>
            </a:extLst>
          </p:cNvPr>
          <p:cNvSpPr txBox="1"/>
          <p:nvPr/>
        </p:nvSpPr>
        <p:spPr>
          <a:xfrm>
            <a:off x="1104900" y="2294662"/>
            <a:ext cx="4029075" cy="3782895"/>
          </a:xfrm>
          <a:prstGeom prst="rect">
            <a:avLst/>
          </a:prstGeom>
          <a:noFill/>
        </p:spPr>
        <p:txBody>
          <a:bodyPr wrap="square">
            <a:spAutoFit/>
          </a:bodyPr>
          <a:lstStyle/>
          <a:p>
            <a:pPr indent="457200" algn="just">
              <a:lnSpc>
                <a:spcPct val="150000"/>
              </a:lnSpc>
            </a:pPr>
            <a:r>
              <a:rPr lang="zh-CN" altLang="en-US" sz="1800" dirty="0">
                <a:effectLst/>
                <a:latin typeface="微软雅黑" panose="020B0503020204020204" pitchFamily="34" charset="-122"/>
                <a:ea typeface="微软雅黑" panose="020B0503020204020204" pitchFamily="34" charset="-122"/>
                <a:cs typeface="Times New Roman" panose="02020603050405020304" pitchFamily="18" charset="0"/>
              </a:rPr>
              <a:t>基于 </a:t>
            </a:r>
            <a:r>
              <a:rPr lang="en-US" altLang="zh-CN" sz="1800" dirty="0" err="1">
                <a:effectLst/>
                <a:latin typeface="微软雅黑" panose="020B0503020204020204" pitchFamily="34" charset="-122"/>
                <a:ea typeface="微软雅黑" panose="020B0503020204020204" pitchFamily="34" charset="-122"/>
                <a:cs typeface="Times New Roman" panose="02020603050405020304" pitchFamily="18" charset="0"/>
              </a:rPr>
              <a:t>CarSim</a:t>
            </a:r>
            <a:r>
              <a:rPr lang="en-US" altLang="zh-CN" sz="1800" dirty="0">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800" dirty="0">
                <a:effectLst/>
                <a:latin typeface="微软雅黑" panose="020B0503020204020204" pitchFamily="34" charset="-122"/>
                <a:ea typeface="微软雅黑" panose="020B0503020204020204" pitchFamily="34" charset="-122"/>
                <a:cs typeface="Times New Roman" panose="02020603050405020304" pitchFamily="18" charset="0"/>
              </a:rPr>
              <a:t>软件搭建整车动力学模型，</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基于</a:t>
            </a:r>
            <a:r>
              <a:rPr lang="en-US" altLang="zh-CN" sz="1800" dirty="0">
                <a:effectLst/>
                <a:latin typeface="微软雅黑" panose="020B0503020204020204" pitchFamily="34" charset="-122"/>
                <a:ea typeface="微软雅黑" panose="020B0503020204020204" pitchFamily="34" charset="-122"/>
                <a:cs typeface="Times New Roman" panose="02020603050405020304" pitchFamily="18" charset="0"/>
              </a:rPr>
              <a:t>MATLAB/Simulink </a:t>
            </a:r>
            <a:r>
              <a:rPr lang="zh-CN" altLang="en-US" sz="1800" dirty="0">
                <a:effectLst/>
                <a:latin typeface="微软雅黑" panose="020B0503020204020204" pitchFamily="34" charset="-122"/>
                <a:ea typeface="微软雅黑" panose="020B0503020204020204" pitchFamily="34" charset="-122"/>
                <a:cs typeface="Times New Roman" panose="02020603050405020304" pitchFamily="18" charset="0"/>
              </a:rPr>
              <a:t>软件，搭建驱动系统模型、转向系统模型模型，</a:t>
            </a:r>
            <a:r>
              <a:rPr lang="zh-CN" altLang="zh-CN" sz="1800" dirty="0">
                <a:effectLst/>
                <a:latin typeface="微软雅黑" panose="020B0503020204020204" pitchFamily="34" charset="-122"/>
                <a:ea typeface="微软雅黑" panose="020B0503020204020204" pitchFamily="34" charset="-122"/>
                <a:cs typeface="Times New Roman" panose="02020603050405020304" pitchFamily="18" charset="0"/>
              </a:rPr>
              <a:t>联合仿真建立</a:t>
            </a:r>
            <a:r>
              <a:rPr lang="zh-CN" altLang="en-US" sz="1800" dirty="0">
                <a:effectLst/>
                <a:latin typeface="微软雅黑" panose="020B0503020204020204" pitchFamily="34" charset="-122"/>
                <a:ea typeface="微软雅黑" panose="020B0503020204020204" pitchFamily="34" charset="-122"/>
                <a:cs typeface="Times New Roman" panose="02020603050405020304" pitchFamily="18" charset="0"/>
              </a:rPr>
              <a:t>分布式线控底盘</a:t>
            </a:r>
            <a:r>
              <a:rPr lang="zh-CN" altLang="zh-CN" sz="1800" dirty="0">
                <a:effectLst/>
                <a:latin typeface="微软雅黑" panose="020B0503020204020204" pitchFamily="34" charset="-122"/>
                <a:ea typeface="微软雅黑" panose="020B0503020204020204" pitchFamily="34" charset="-122"/>
                <a:cs typeface="Times New Roman" panose="02020603050405020304" pitchFamily="18" charset="0"/>
              </a:rPr>
              <a:t>车辆模型，同时在</a:t>
            </a:r>
            <a:r>
              <a:rPr lang="en-US" altLang="zh-CN" sz="1800" dirty="0" err="1">
                <a:effectLst/>
                <a:latin typeface="微软雅黑" panose="020B0503020204020204" pitchFamily="34" charset="-122"/>
                <a:ea typeface="微软雅黑" panose="020B0503020204020204" pitchFamily="34" charset="-122"/>
              </a:rPr>
              <a:t>CarSim</a:t>
            </a:r>
            <a:r>
              <a:rPr lang="zh-CN" altLang="zh-CN" sz="1800" dirty="0">
                <a:effectLst/>
                <a:latin typeface="微软雅黑" panose="020B0503020204020204" pitchFamily="34" charset="-122"/>
                <a:ea typeface="微软雅黑" panose="020B0503020204020204" pitchFamily="34" charset="-122"/>
                <a:cs typeface="Times New Roman" panose="02020603050405020304" pitchFamily="18" charset="0"/>
              </a:rPr>
              <a:t>中设置仿真环境、设计出仿真车辆运行工况。最后参考汽车操纵稳定性试验标准对所建立模型的精度进行验证，确保模型可用于后续研究。</a:t>
            </a:r>
            <a:endParaRPr lang="zh-CN" altLang="en-US" dirty="0">
              <a:latin typeface="微软雅黑" panose="020B0503020204020204" pitchFamily="34" charset="-122"/>
              <a:ea typeface="微软雅黑" panose="020B0503020204020204" pitchFamily="34" charset="-122"/>
            </a:endParaRPr>
          </a:p>
        </p:txBody>
      </p:sp>
      <p:graphicFrame>
        <p:nvGraphicFramePr>
          <p:cNvPr id="8" name="对象 7">
            <a:extLst>
              <a:ext uri="{FF2B5EF4-FFF2-40B4-BE49-F238E27FC236}">
                <a16:creationId xmlns:a16="http://schemas.microsoft.com/office/drawing/2014/main" id="{766A8ED7-7007-42DC-AC04-1AFBBDA839F4}"/>
              </a:ext>
            </a:extLst>
          </p:cNvPr>
          <p:cNvGraphicFramePr>
            <a:graphicFrameLocks noChangeAspect="1"/>
          </p:cNvGraphicFramePr>
          <p:nvPr>
            <p:extLst>
              <p:ext uri="{D42A27DB-BD31-4B8C-83A1-F6EECF244321}">
                <p14:modId xmlns:p14="http://schemas.microsoft.com/office/powerpoint/2010/main" val="2915151257"/>
              </p:ext>
            </p:extLst>
          </p:nvPr>
        </p:nvGraphicFramePr>
        <p:xfrm>
          <a:off x="5462541" y="2421710"/>
          <a:ext cx="6005559" cy="3090647"/>
        </p:xfrm>
        <a:graphic>
          <a:graphicData uri="http://schemas.openxmlformats.org/presentationml/2006/ole">
            <mc:AlternateContent xmlns:mc="http://schemas.openxmlformats.org/markup-compatibility/2006">
              <mc:Choice xmlns:v="urn:schemas-microsoft-com:vml" Requires="v">
                <p:oleObj name="Visio" r:id="rId2" imgW="3992738" imgH="2057400" progId="Visio.Drawing.15">
                  <p:embed/>
                </p:oleObj>
              </mc:Choice>
              <mc:Fallback>
                <p:oleObj name="Visio" r:id="rId2" imgW="3992738" imgH="2057400" progId="Visio.Drawing.15">
                  <p:embed/>
                  <p:pic>
                    <p:nvPicPr>
                      <p:cNvPr id="8" name="对象 7">
                        <a:extLst>
                          <a:ext uri="{FF2B5EF4-FFF2-40B4-BE49-F238E27FC236}">
                            <a16:creationId xmlns:a16="http://schemas.microsoft.com/office/drawing/2014/main" id="{766A8ED7-7007-42DC-AC04-1AFBBDA839F4}"/>
                          </a:ext>
                        </a:extLst>
                      </p:cNvPr>
                      <p:cNvPicPr>
                        <a:picLocks noChangeAspect="1" noChangeArrowheads="1"/>
                      </p:cNvPicPr>
                      <p:nvPr/>
                    </p:nvPicPr>
                    <p:blipFill>
                      <a:blip r:embed="rId3"/>
                      <a:srcRect/>
                      <a:stretch>
                        <a:fillRect/>
                      </a:stretch>
                    </p:blipFill>
                    <p:spPr bwMode="auto">
                      <a:xfrm>
                        <a:off x="5462541" y="2421710"/>
                        <a:ext cx="6005559" cy="3090647"/>
                      </a:xfrm>
                      <a:prstGeom prst="rect">
                        <a:avLst/>
                      </a:prstGeom>
                      <a:noFill/>
                    </p:spPr>
                  </p:pic>
                </p:oleObj>
              </mc:Fallback>
            </mc:AlternateContent>
          </a:graphicData>
        </a:graphic>
      </p:graphicFrame>
    </p:spTree>
    <p:extLst>
      <p:ext uri="{BB962C8B-B14F-4D97-AF65-F5344CB8AC3E}">
        <p14:creationId xmlns:p14="http://schemas.microsoft.com/office/powerpoint/2010/main" val="1011260752"/>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F36438BE-FC38-48A6-0380-1D058E4ED7C8}"/>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15</a:t>
            </a:fld>
            <a:endParaRPr lang="zh-HK" altLang="en-US">
              <a:solidFill>
                <a:prstClr val="black">
                  <a:tint val="75000"/>
                </a:prstClr>
              </a:solidFill>
            </a:endParaRPr>
          </a:p>
        </p:txBody>
      </p:sp>
      <p:sp>
        <p:nvSpPr>
          <p:cNvPr id="3" name="Rectangle 3">
            <a:extLst>
              <a:ext uri="{FF2B5EF4-FFF2-40B4-BE49-F238E27FC236}">
                <a16:creationId xmlns:a16="http://schemas.microsoft.com/office/drawing/2014/main" id="{EF408DB0-A1AD-8A54-15F7-6BF478D490F8}"/>
              </a:ext>
            </a:extLst>
          </p:cNvPr>
          <p:cNvSpPr>
            <a:spLocks noChangeArrowheads="1"/>
          </p:cNvSpPr>
          <p:nvPr/>
        </p:nvSpPr>
        <p:spPr bwMode="auto">
          <a:xfrm>
            <a:off x="670229" y="1291070"/>
            <a:ext cx="8991601" cy="522092"/>
          </a:xfrm>
          <a:prstGeom prst="rect">
            <a:avLst/>
          </a:prstGeom>
          <a:noFill/>
          <a:ln w="9525">
            <a:noFill/>
            <a:miter lim="800000"/>
          </a:ln>
        </p:spPr>
        <p:txBody>
          <a:bodyPr/>
          <a:lstStyle/>
          <a:p>
            <a:pPr marL="342900" indent="-342900">
              <a:lnSpc>
                <a:spcPct val="80000"/>
              </a:lnSpc>
              <a:spcBef>
                <a:spcPct val="20000"/>
              </a:spcBef>
              <a:buClr>
                <a:schemeClr val="hlink"/>
              </a:buClr>
              <a:buFont typeface="Wingdings" panose="05000000000000000000" pitchFamily="2" charset="2"/>
              <a:buChar char="Ø"/>
            </a:pPr>
            <a:r>
              <a:rPr lang="zh-CN" altLang="en-US" sz="2400" b="1" dirty="0">
                <a:solidFill>
                  <a:schemeClr val="accent1">
                    <a:lumMod val="75000"/>
                  </a:schemeClr>
                </a:solidFill>
                <a:latin typeface="微软雅黑" panose="020B0503020204020204" pitchFamily="34" charset="-122"/>
                <a:ea typeface="微软雅黑" panose="020B0503020204020204" pitchFamily="34" charset="-122"/>
              </a:rPr>
              <a:t>研究方案</a:t>
            </a:r>
            <a:r>
              <a:rPr lang="en-US" altLang="zh-CN" sz="2400" b="1"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分布式线控底盘汽车在紧急避障工况下的轨迹规划</a:t>
            </a:r>
            <a:endParaRPr lang="en-US" altLang="zh-CN" sz="2800" b="1" dirty="0">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9B842B56-2EA9-AB40-0BFF-39667420FB86}"/>
              </a:ext>
            </a:extLst>
          </p:cNvPr>
          <p:cNvSpPr txBox="1"/>
          <p:nvPr/>
        </p:nvSpPr>
        <p:spPr>
          <a:xfrm>
            <a:off x="1033669" y="1782533"/>
            <a:ext cx="5310809" cy="4939814"/>
          </a:xfrm>
          <a:prstGeom prst="rect">
            <a:avLst/>
          </a:prstGeom>
          <a:noFill/>
        </p:spPr>
        <p:txBody>
          <a:bodyPr wrap="square" rtlCol="0">
            <a:spAutoFit/>
          </a:bodyPr>
          <a:lstStyle/>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在存在动态障碍物的紧急避障场景下，依据感知模块输出的周边障碍物与行驶环境信息构建三维时空栅格地图。采用基于改进</a:t>
            </a:r>
            <a:r>
              <a:rPr lang="en-US" altLang="zh-CN" sz="1800" dirty="0">
                <a:effectLst/>
                <a:latin typeface="微软雅黑" panose="020B0503020204020204" pitchFamily="34" charset="-122"/>
                <a:ea typeface="微软雅黑" panose="020B0503020204020204" pitchFamily="34" charset="-122"/>
              </a:rPr>
              <a:t> Hybrid A * </a:t>
            </a:r>
            <a:r>
              <a:rPr lang="zh-CN" altLang="zh-CN" sz="1800" dirty="0">
                <a:effectLst/>
                <a:latin typeface="微软雅黑" panose="020B0503020204020204" pitchFamily="34" charset="-122"/>
                <a:ea typeface="微软雅黑" panose="020B0503020204020204" pitchFamily="34" charset="-122"/>
              </a:rPr>
              <a:t>的粗轨迹搜索算法来搜索出既满足碰撞安全又符合动力学要求的紧急避障粗轨迹。</a:t>
            </a:r>
          </a:p>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依据搜索到的粗轨迹，构建有效的线性安全走廊约束。利用无侧偏车辆预测模型，依照安全走廊信息以及分布式线控底盘的运动能力边界约束，经由</a:t>
            </a:r>
            <a:r>
              <a:rPr lang="en-US" altLang="zh-CN" sz="1800" dirty="0">
                <a:effectLst/>
                <a:latin typeface="微软雅黑" panose="020B0503020204020204" pitchFamily="34" charset="-122"/>
                <a:ea typeface="微软雅黑" panose="020B0503020204020204" pitchFamily="34" charset="-122"/>
              </a:rPr>
              <a:t> MPC</a:t>
            </a:r>
            <a:r>
              <a:rPr lang="zh-CN" altLang="zh-CN" sz="1800" dirty="0">
                <a:effectLst/>
                <a:latin typeface="微软雅黑" panose="020B0503020204020204" pitchFamily="34" charset="-122"/>
                <a:ea typeface="微软雅黑" panose="020B0503020204020204" pitchFamily="34" charset="-122"/>
              </a:rPr>
              <a:t>优化求解，得出既能安全避障又满足车辆动力学约束的避障轨迹，同时达到紧急避障轨迹规划的实时性要求。</a:t>
            </a:r>
          </a:p>
          <a:p>
            <a:pPr algn="just"/>
            <a:endParaRPr lang="zh-CN" altLang="en-US" dirty="0">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E1AF50E1-46F7-0EE0-0128-E5E69CACEB7D}"/>
              </a:ext>
            </a:extLst>
          </p:cNvPr>
          <p:cNvPicPr>
            <a:picLocks noChangeAspect="1"/>
          </p:cNvPicPr>
          <p:nvPr/>
        </p:nvPicPr>
        <p:blipFill>
          <a:blip r:embed="rId2"/>
          <a:stretch>
            <a:fillRect/>
          </a:stretch>
        </p:blipFill>
        <p:spPr>
          <a:xfrm>
            <a:off x="6953251" y="1782533"/>
            <a:ext cx="4701540" cy="4343400"/>
          </a:xfrm>
          <a:prstGeom prst="rect">
            <a:avLst/>
          </a:prstGeom>
        </p:spPr>
      </p:pic>
    </p:spTree>
    <p:extLst>
      <p:ext uri="{BB962C8B-B14F-4D97-AF65-F5344CB8AC3E}">
        <p14:creationId xmlns:p14="http://schemas.microsoft.com/office/powerpoint/2010/main" val="56252174"/>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422DAE2-6A08-35EA-C1FC-D8C72CD6AB1D}"/>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16</a:t>
            </a:fld>
            <a:endParaRPr lang="zh-HK" altLang="en-US">
              <a:solidFill>
                <a:prstClr val="black">
                  <a:tint val="75000"/>
                </a:prstClr>
              </a:solidFill>
            </a:endParaRPr>
          </a:p>
        </p:txBody>
      </p:sp>
      <p:sp>
        <p:nvSpPr>
          <p:cNvPr id="3" name="Rectangle 3">
            <a:extLst>
              <a:ext uri="{FF2B5EF4-FFF2-40B4-BE49-F238E27FC236}">
                <a16:creationId xmlns:a16="http://schemas.microsoft.com/office/drawing/2014/main" id="{9817B808-A502-6CFF-4F55-6227BF5FF379}"/>
              </a:ext>
            </a:extLst>
          </p:cNvPr>
          <p:cNvSpPr>
            <a:spLocks noChangeArrowheads="1"/>
          </p:cNvSpPr>
          <p:nvPr/>
        </p:nvSpPr>
        <p:spPr bwMode="auto">
          <a:xfrm>
            <a:off x="670474" y="1350583"/>
            <a:ext cx="8991601" cy="522092"/>
          </a:xfrm>
          <a:prstGeom prst="rect">
            <a:avLst/>
          </a:prstGeom>
          <a:noFill/>
          <a:ln w="9525">
            <a:noFill/>
            <a:miter lim="800000"/>
          </a:ln>
        </p:spPr>
        <p:txBody>
          <a:bodyPr/>
          <a:lstStyle/>
          <a:p>
            <a:pPr marL="342900" indent="-342900">
              <a:lnSpc>
                <a:spcPct val="80000"/>
              </a:lnSpc>
              <a:spcBef>
                <a:spcPct val="20000"/>
              </a:spcBef>
              <a:buClr>
                <a:schemeClr val="hlink"/>
              </a:buClr>
              <a:buFont typeface="Wingdings" panose="05000000000000000000" pitchFamily="2" charset="2"/>
              <a:buChar char="Ø"/>
            </a:pPr>
            <a:r>
              <a:rPr lang="zh-CN" altLang="en-US" sz="2400" b="1" dirty="0">
                <a:solidFill>
                  <a:schemeClr val="accent1">
                    <a:lumMod val="75000"/>
                  </a:schemeClr>
                </a:solidFill>
                <a:latin typeface="微软雅黑" panose="020B0503020204020204" pitchFamily="34" charset="-122"/>
                <a:ea typeface="微软雅黑" panose="020B0503020204020204" pitchFamily="34" charset="-122"/>
              </a:rPr>
              <a:t>研究方案</a:t>
            </a:r>
            <a:r>
              <a:rPr lang="en-US" altLang="zh-CN" sz="2400" b="1"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 分布式线控底盘耦合运动控制</a:t>
            </a:r>
            <a:endParaRPr lang="en-US" altLang="zh-CN" sz="2800" b="1" dirty="0">
              <a:latin typeface="微软雅黑" panose="020B0503020204020204" pitchFamily="34" charset="-122"/>
              <a:ea typeface="微软雅黑" panose="020B0503020204020204" pitchFamily="34" charset="-122"/>
            </a:endParaRPr>
          </a:p>
        </p:txBody>
      </p:sp>
      <p:sp>
        <p:nvSpPr>
          <p:cNvPr id="9" name="文本框 8">
            <a:extLst>
              <a:ext uri="{FF2B5EF4-FFF2-40B4-BE49-F238E27FC236}">
                <a16:creationId xmlns:a16="http://schemas.microsoft.com/office/drawing/2014/main" id="{DBAFE23D-C534-97E2-52B3-48AAC441B36F}"/>
              </a:ext>
            </a:extLst>
          </p:cNvPr>
          <p:cNvSpPr txBox="1"/>
          <p:nvPr/>
        </p:nvSpPr>
        <p:spPr>
          <a:xfrm>
            <a:off x="925768" y="2150280"/>
            <a:ext cx="5276249" cy="3782895"/>
          </a:xfrm>
          <a:prstGeom prst="rect">
            <a:avLst/>
          </a:prstGeom>
          <a:noFill/>
        </p:spPr>
        <p:txBody>
          <a:bodyPr wrap="square">
            <a:spAutoFit/>
          </a:bodyPr>
          <a:lstStyle/>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针对具备高可控、多余度特性的分布式线控底盘，拟设计一种基于分层架构的耦合运动控制方法。</a:t>
            </a:r>
          </a:p>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基于可变步长离散线性时变模型预测控制</a:t>
            </a:r>
            <a:r>
              <a:rPr lang="zh-CN" altLang="en-US" sz="1800" dirty="0">
                <a:effectLst/>
                <a:latin typeface="微软雅黑" panose="020B0503020204020204" pitchFamily="34" charset="-122"/>
                <a:ea typeface="微软雅黑" panose="020B0503020204020204" pitchFamily="34" charset="-122"/>
              </a:rPr>
              <a:t>，</a:t>
            </a:r>
            <a:r>
              <a:rPr lang="zh-CN" altLang="zh-CN" sz="1800" dirty="0">
                <a:effectLst/>
                <a:latin typeface="微软雅黑" panose="020B0503020204020204" pitchFamily="34" charset="-122"/>
                <a:ea typeface="微软雅黑" panose="020B0503020204020204" pitchFamily="34" charset="-122"/>
              </a:rPr>
              <a:t>依据上一时刻的预测状态与控制序列信息，对线性化工作点进行自适应调整，从而提高预测模型的精度。通过</a:t>
            </a:r>
            <a:r>
              <a:rPr lang="en-US" altLang="zh-CN" sz="1800" dirty="0">
                <a:effectLst/>
                <a:latin typeface="微软雅黑" panose="020B0503020204020204" pitchFamily="34" charset="-122"/>
                <a:ea typeface="微软雅黑" panose="020B0503020204020204" pitchFamily="34" charset="-122"/>
              </a:rPr>
              <a:t>MPC</a:t>
            </a:r>
            <a:r>
              <a:rPr lang="zh-CN" altLang="zh-CN" sz="1800" dirty="0">
                <a:effectLst/>
                <a:latin typeface="微软雅黑" panose="020B0503020204020204" pitchFamily="34" charset="-122"/>
                <a:ea typeface="微软雅黑" panose="020B0503020204020204" pitchFamily="34" charset="-122"/>
              </a:rPr>
              <a:t>求解计算出目标整车控制量。</a:t>
            </a:r>
          </a:p>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在控制分配层，考虑垂向载荷转移并确保各轮摩擦圆约束，借助二次规划算法计算得出各轮的目标驱动力以及前、后轴的目标侧向力。</a:t>
            </a:r>
          </a:p>
        </p:txBody>
      </p:sp>
      <p:pic>
        <p:nvPicPr>
          <p:cNvPr id="6" name="图片 5">
            <a:extLst>
              <a:ext uri="{FF2B5EF4-FFF2-40B4-BE49-F238E27FC236}">
                <a16:creationId xmlns:a16="http://schemas.microsoft.com/office/drawing/2014/main" id="{5A440AAF-1826-A36C-645C-D5FE4319D612}"/>
              </a:ext>
            </a:extLst>
          </p:cNvPr>
          <p:cNvPicPr>
            <a:picLocks noChangeAspect="1"/>
          </p:cNvPicPr>
          <p:nvPr/>
        </p:nvPicPr>
        <p:blipFill>
          <a:blip r:embed="rId2"/>
          <a:stretch>
            <a:fillRect/>
          </a:stretch>
        </p:blipFill>
        <p:spPr>
          <a:xfrm>
            <a:off x="6606662" y="2057400"/>
            <a:ext cx="4858352" cy="3743739"/>
          </a:xfrm>
          <a:prstGeom prst="rect">
            <a:avLst/>
          </a:prstGeom>
        </p:spPr>
      </p:pic>
    </p:spTree>
    <p:extLst>
      <p:ext uri="{BB962C8B-B14F-4D97-AF65-F5344CB8AC3E}">
        <p14:creationId xmlns:p14="http://schemas.microsoft.com/office/powerpoint/2010/main" val="3484009535"/>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6CC87D50-CF15-D855-64D6-F953B61C6308}"/>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17</a:t>
            </a:fld>
            <a:endParaRPr lang="zh-HK" altLang="en-US">
              <a:solidFill>
                <a:prstClr val="black">
                  <a:tint val="75000"/>
                </a:prstClr>
              </a:solidFill>
            </a:endParaRPr>
          </a:p>
        </p:txBody>
      </p:sp>
      <p:sp>
        <p:nvSpPr>
          <p:cNvPr id="3" name="Rectangle 3">
            <a:extLst>
              <a:ext uri="{FF2B5EF4-FFF2-40B4-BE49-F238E27FC236}">
                <a16:creationId xmlns:a16="http://schemas.microsoft.com/office/drawing/2014/main" id="{A29AF0F0-E37C-A838-8A88-24E94472DB3C}"/>
              </a:ext>
            </a:extLst>
          </p:cNvPr>
          <p:cNvSpPr>
            <a:spLocks noChangeArrowheads="1"/>
          </p:cNvSpPr>
          <p:nvPr/>
        </p:nvSpPr>
        <p:spPr bwMode="auto">
          <a:xfrm>
            <a:off x="699878" y="1360782"/>
            <a:ext cx="8991601" cy="522092"/>
          </a:xfrm>
          <a:prstGeom prst="rect">
            <a:avLst/>
          </a:prstGeom>
          <a:noFill/>
          <a:ln w="9525">
            <a:noFill/>
            <a:miter lim="800000"/>
          </a:ln>
        </p:spPr>
        <p:txBody>
          <a:bodyPr/>
          <a:lstStyle/>
          <a:p>
            <a:pPr marL="342900" indent="-342900">
              <a:lnSpc>
                <a:spcPct val="80000"/>
              </a:lnSpc>
              <a:spcBef>
                <a:spcPct val="20000"/>
              </a:spcBef>
              <a:buClr>
                <a:schemeClr val="hlink"/>
              </a:buClr>
              <a:buFont typeface="Wingdings" panose="05000000000000000000" pitchFamily="2" charset="2"/>
              <a:buChar char="Ø"/>
            </a:pPr>
            <a:r>
              <a:rPr lang="zh-CN" altLang="en-US" sz="2400" b="1" dirty="0">
                <a:solidFill>
                  <a:schemeClr val="accent1">
                    <a:lumMod val="75000"/>
                  </a:schemeClr>
                </a:solidFill>
                <a:latin typeface="微软雅黑" panose="020B0503020204020204" pitchFamily="34" charset="-122"/>
                <a:ea typeface="微软雅黑" panose="020B0503020204020204" pitchFamily="34" charset="-122"/>
              </a:rPr>
              <a:t>研究方案</a:t>
            </a:r>
            <a:r>
              <a:rPr lang="en-US" altLang="zh-CN" sz="2400" b="1" dirty="0">
                <a:latin typeface="微软雅黑" panose="020B0503020204020204" pitchFamily="34" charset="-122"/>
                <a:ea typeface="微软雅黑" panose="020B0503020204020204" pitchFamily="34" charset="-122"/>
              </a:rPr>
              <a:t>-</a:t>
            </a:r>
            <a:r>
              <a:rPr lang="zh-CN" altLang="en-US" sz="2400" dirty="0">
                <a:latin typeface="微软雅黑" panose="020B0503020204020204" pitchFamily="34" charset="-122"/>
                <a:ea typeface="微软雅黑" panose="020B0503020204020204" pitchFamily="34" charset="-122"/>
              </a:rPr>
              <a:t>  综合工况台架验证</a:t>
            </a:r>
            <a:endParaRPr lang="en-US" altLang="zh-CN" sz="2800" b="1" dirty="0">
              <a:latin typeface="微软雅黑" panose="020B0503020204020204" pitchFamily="34" charset="-122"/>
              <a:ea typeface="微软雅黑" panose="020B0503020204020204" pitchFamily="34" charset="-122"/>
            </a:endParaRPr>
          </a:p>
        </p:txBody>
      </p:sp>
      <p:graphicFrame>
        <p:nvGraphicFramePr>
          <p:cNvPr id="4" name="对象 3">
            <a:extLst>
              <a:ext uri="{FF2B5EF4-FFF2-40B4-BE49-F238E27FC236}">
                <a16:creationId xmlns:a16="http://schemas.microsoft.com/office/drawing/2014/main" id="{9C4F058D-0259-7E16-10AF-9D1804FF6B19}"/>
              </a:ext>
            </a:extLst>
          </p:cNvPr>
          <p:cNvGraphicFramePr>
            <a:graphicFrameLocks noChangeAspect="1"/>
          </p:cNvGraphicFramePr>
          <p:nvPr>
            <p:extLst>
              <p:ext uri="{D42A27DB-BD31-4B8C-83A1-F6EECF244321}">
                <p14:modId xmlns:p14="http://schemas.microsoft.com/office/powerpoint/2010/main" val="1604158269"/>
              </p:ext>
            </p:extLst>
          </p:nvPr>
        </p:nvGraphicFramePr>
        <p:xfrm>
          <a:off x="6715125" y="2849563"/>
          <a:ext cx="4556125" cy="2095500"/>
        </p:xfrm>
        <a:graphic>
          <a:graphicData uri="http://schemas.openxmlformats.org/presentationml/2006/ole">
            <mc:AlternateContent xmlns:mc="http://schemas.openxmlformats.org/markup-compatibility/2006">
              <mc:Choice xmlns:v="urn:schemas-microsoft-com:vml" Requires="v">
                <p:oleObj name="Visio" r:id="rId3" imgW="4564345" imgH="2095154" progId="Visio.Drawing.15">
                  <p:embed/>
                </p:oleObj>
              </mc:Choice>
              <mc:Fallback>
                <p:oleObj name="Visio" r:id="rId3" imgW="4564345" imgH="2095154" progId="Visio.Drawing.15">
                  <p:embed/>
                  <p:pic>
                    <p:nvPicPr>
                      <p:cNvPr id="4" name="对象 3">
                        <a:extLst>
                          <a:ext uri="{FF2B5EF4-FFF2-40B4-BE49-F238E27FC236}">
                            <a16:creationId xmlns:a16="http://schemas.microsoft.com/office/drawing/2014/main" id="{9C4F058D-0259-7E16-10AF-9D1804FF6B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15125" y="2849563"/>
                        <a:ext cx="4556125" cy="2095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文本框 6">
            <a:extLst>
              <a:ext uri="{FF2B5EF4-FFF2-40B4-BE49-F238E27FC236}">
                <a16:creationId xmlns:a16="http://schemas.microsoft.com/office/drawing/2014/main" id="{506AE883-2A4E-1791-7888-B967AA3580DE}"/>
              </a:ext>
            </a:extLst>
          </p:cNvPr>
          <p:cNvSpPr txBox="1"/>
          <p:nvPr/>
        </p:nvSpPr>
        <p:spPr>
          <a:xfrm>
            <a:off x="920750" y="2005865"/>
            <a:ext cx="5257799" cy="3782895"/>
          </a:xfrm>
          <a:prstGeom prst="rect">
            <a:avLst/>
          </a:prstGeom>
          <a:noFill/>
        </p:spPr>
        <p:txBody>
          <a:bodyPr wrap="square">
            <a:spAutoFit/>
          </a:bodyPr>
          <a:lstStyle/>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针对分布式线控底盘电动汽车稳定性协调控制策略的试验验证，确定了研究方案：</a:t>
            </a:r>
          </a:p>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第一部分，驾驶模拟器验证。使用主控计算机、控制器硬件、驾驶员操作台等搭建驾驶模拟器，通过驾驶模拟器完成分布式线控底盘电动汽车</a:t>
            </a:r>
            <a:r>
              <a:rPr lang="zh-CN" altLang="en-US" sz="1800" dirty="0">
                <a:effectLst/>
                <a:latin typeface="微软雅黑" panose="020B0503020204020204" pitchFamily="34" charset="-122"/>
                <a:ea typeface="微软雅黑" panose="020B0503020204020204" pitchFamily="34" charset="-122"/>
              </a:rPr>
              <a:t>运动规划与控制算法</a:t>
            </a:r>
            <a:r>
              <a:rPr lang="zh-CN" altLang="zh-CN" sz="1800" dirty="0">
                <a:effectLst/>
                <a:latin typeface="微软雅黑" panose="020B0503020204020204" pitchFamily="34" charset="-122"/>
                <a:ea typeface="微软雅黑" panose="020B0503020204020204" pitchFamily="34" charset="-122"/>
              </a:rPr>
              <a:t>的硬件在环试验验证。</a:t>
            </a:r>
          </a:p>
          <a:p>
            <a:pPr indent="304800" algn="just">
              <a:lnSpc>
                <a:spcPct val="150000"/>
              </a:lnSpc>
            </a:pPr>
            <a:r>
              <a:rPr lang="zh-CN" altLang="zh-CN" sz="1800" dirty="0">
                <a:effectLst/>
                <a:latin typeface="微软雅黑" panose="020B0503020204020204" pitchFamily="34" charset="-122"/>
                <a:ea typeface="微软雅黑" panose="020B0503020204020204" pitchFamily="34" charset="-122"/>
              </a:rPr>
              <a:t>第二部分，实车验证。基于分布式线控底盘电动汽车试验平台</a:t>
            </a:r>
            <a:r>
              <a:rPr lang="zh-CN" altLang="en-US" sz="1800" dirty="0">
                <a:effectLst/>
                <a:latin typeface="微软雅黑" panose="020B0503020204020204" pitchFamily="34" charset="-122"/>
                <a:ea typeface="微软雅黑" panose="020B0503020204020204" pitchFamily="34" charset="-122"/>
              </a:rPr>
              <a:t>在紧急避障场景下</a:t>
            </a:r>
            <a:r>
              <a:rPr lang="zh-CN" altLang="zh-CN" sz="1800" dirty="0">
                <a:effectLst/>
                <a:latin typeface="微软雅黑" panose="020B0503020204020204" pitchFamily="34" charset="-122"/>
                <a:ea typeface="微软雅黑" panose="020B0503020204020204" pitchFamily="34" charset="-122"/>
              </a:rPr>
              <a:t>对</a:t>
            </a:r>
            <a:r>
              <a:rPr lang="zh-CN" altLang="en-US" sz="1800" dirty="0">
                <a:effectLst/>
                <a:latin typeface="微软雅黑" panose="020B0503020204020204" pitchFamily="34" charset="-122"/>
                <a:ea typeface="微软雅黑" panose="020B0503020204020204" pitchFamily="34" charset="-122"/>
              </a:rPr>
              <a:t>运动规划与控制算法</a:t>
            </a:r>
            <a:r>
              <a:rPr lang="zh-CN" altLang="zh-CN" sz="1800" dirty="0">
                <a:effectLst/>
                <a:latin typeface="微软雅黑" panose="020B0503020204020204" pitchFamily="34" charset="-122"/>
                <a:ea typeface="微软雅黑" panose="020B0503020204020204" pitchFamily="34" charset="-122"/>
              </a:rPr>
              <a:t>进行实车试验，验证</a:t>
            </a:r>
            <a:r>
              <a:rPr lang="zh-CN" altLang="en-US" sz="1800" dirty="0">
                <a:effectLst/>
                <a:latin typeface="微软雅黑" panose="020B0503020204020204" pitchFamily="34" charset="-122"/>
                <a:ea typeface="微软雅黑" panose="020B0503020204020204" pitchFamily="34" charset="-122"/>
              </a:rPr>
              <a:t>算法</a:t>
            </a:r>
            <a:r>
              <a:rPr lang="zh-CN" altLang="zh-CN" sz="1800" dirty="0">
                <a:effectLst/>
                <a:latin typeface="微软雅黑" panose="020B0503020204020204" pitchFamily="34" charset="-122"/>
                <a:ea typeface="微软雅黑" panose="020B0503020204020204" pitchFamily="34" charset="-122"/>
              </a:rPr>
              <a:t>的有效性。</a:t>
            </a:r>
          </a:p>
        </p:txBody>
      </p:sp>
    </p:spTree>
    <p:extLst>
      <p:ext uri="{BB962C8B-B14F-4D97-AF65-F5344CB8AC3E}">
        <p14:creationId xmlns:p14="http://schemas.microsoft.com/office/powerpoint/2010/main" val="2021362712"/>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BA35345F-CEDB-3E8E-2782-2F5315D8B0E4}"/>
              </a:ext>
            </a:extLst>
          </p:cNvPr>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18</a:t>
            </a:fld>
            <a:endParaRPr lang="zh-HK" altLang="en-US">
              <a:solidFill>
                <a:prstClr val="black">
                  <a:tint val="75000"/>
                </a:prstClr>
              </a:solidFill>
            </a:endParaRPr>
          </a:p>
        </p:txBody>
      </p:sp>
      <p:pic>
        <p:nvPicPr>
          <p:cNvPr id="4" name="图片 3">
            <a:extLst>
              <a:ext uri="{FF2B5EF4-FFF2-40B4-BE49-F238E27FC236}">
                <a16:creationId xmlns:a16="http://schemas.microsoft.com/office/drawing/2014/main" id="{B739BA95-F69E-A139-CA4A-5CACAA807627}"/>
              </a:ext>
            </a:extLst>
          </p:cNvPr>
          <p:cNvPicPr>
            <a:picLocks noChangeAspect="1"/>
          </p:cNvPicPr>
          <p:nvPr/>
        </p:nvPicPr>
        <p:blipFill>
          <a:blip r:embed="rId2"/>
          <a:stretch>
            <a:fillRect/>
          </a:stretch>
        </p:blipFill>
        <p:spPr>
          <a:xfrm>
            <a:off x="271669" y="1054227"/>
            <a:ext cx="11648661" cy="5027841"/>
          </a:xfrm>
          <a:prstGeom prst="rect">
            <a:avLst/>
          </a:prstGeom>
        </p:spPr>
      </p:pic>
    </p:spTree>
    <p:extLst>
      <p:ext uri="{BB962C8B-B14F-4D97-AF65-F5344CB8AC3E}">
        <p14:creationId xmlns:p14="http://schemas.microsoft.com/office/powerpoint/2010/main" val="3043386979"/>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5A8B61DC-75C8-16BD-CBFF-1CAFB8C8E9C7}"/>
              </a:ext>
            </a:extLst>
          </p:cNvPr>
          <p:cNvGrpSpPr/>
          <p:nvPr/>
        </p:nvGrpSpPr>
        <p:grpSpPr>
          <a:xfrm>
            <a:off x="1842266" y="2783283"/>
            <a:ext cx="11041608" cy="1720850"/>
            <a:chOff x="1184275" y="2717410"/>
            <a:chExt cx="11041027" cy="1720986"/>
          </a:xfrm>
        </p:grpSpPr>
        <p:grpSp>
          <p:nvGrpSpPr>
            <p:cNvPr id="21" name="Group 4">
              <a:extLst>
                <a:ext uri="{FF2B5EF4-FFF2-40B4-BE49-F238E27FC236}">
                  <a16:creationId xmlns:a16="http://schemas.microsoft.com/office/drawing/2014/main" id="{6D2EA53C-4710-C10B-E481-1F1BDA7CF89C}"/>
                </a:ext>
              </a:extLst>
            </p:cNvPr>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23" name="Freeform 6">
                <a:extLst>
                  <a:ext uri="{FF2B5EF4-FFF2-40B4-BE49-F238E27FC236}">
                    <a16:creationId xmlns:a16="http://schemas.microsoft.com/office/drawing/2014/main" id="{CFEC55CC-F890-DD02-6C97-AEDCF6415341}"/>
                  </a:ext>
                </a:extLst>
              </p:cNvPr>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24" name="Freeform 7">
                <a:extLst>
                  <a:ext uri="{FF2B5EF4-FFF2-40B4-BE49-F238E27FC236}">
                    <a16:creationId xmlns:a16="http://schemas.microsoft.com/office/drawing/2014/main" id="{2EFFA23E-FDD6-3BCE-946C-1CA31452670B}"/>
                  </a:ext>
                </a:extLst>
              </p:cNvPr>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22" name="文本框 21">
              <a:extLst>
                <a:ext uri="{FF2B5EF4-FFF2-40B4-BE49-F238E27FC236}">
                  <a16:creationId xmlns:a16="http://schemas.microsoft.com/office/drawing/2014/main" id="{FD18BFEF-0124-B1BA-69E0-29F501B829C8}"/>
                </a:ext>
              </a:extLst>
            </p:cNvPr>
            <p:cNvSpPr txBox="1"/>
            <p:nvPr/>
          </p:nvSpPr>
          <p:spPr>
            <a:xfrm>
              <a:off x="3187698" y="2847430"/>
              <a:ext cx="9037604" cy="1108084"/>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阶段性研究成果</a:t>
              </a:r>
            </a:p>
          </p:txBody>
        </p:sp>
      </p:grpSp>
    </p:spTree>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20</a:t>
            </a:fld>
            <a:endParaRPr lang="zh-HK" altLang="en-US" dirty="0">
              <a:solidFill>
                <a:prstClr val="black">
                  <a:tint val="75000"/>
                </a:prstClr>
              </a:solidFill>
            </a:endParaRPr>
          </a:p>
        </p:txBody>
      </p:sp>
      <p:sp>
        <p:nvSpPr>
          <p:cNvPr id="3" name="矩形 3">
            <a:extLst>
              <a:ext uri="{FF2B5EF4-FFF2-40B4-BE49-F238E27FC236}">
                <a16:creationId xmlns:a16="http://schemas.microsoft.com/office/drawing/2014/main" id="{94D98629-3559-CC30-2625-DFF2547770A8}"/>
              </a:ext>
            </a:extLst>
          </p:cNvPr>
          <p:cNvSpPr/>
          <p:nvPr/>
        </p:nvSpPr>
        <p:spPr>
          <a:xfrm>
            <a:off x="849713" y="2731577"/>
            <a:ext cx="2571571"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B"/>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5" name="TextBox 74">
            <a:extLst>
              <a:ext uri="{FF2B5EF4-FFF2-40B4-BE49-F238E27FC236}">
                <a16:creationId xmlns:a16="http://schemas.microsoft.com/office/drawing/2014/main" id="{FE1F2EEC-7B0A-745C-B2F9-E4286DFF3F32}"/>
              </a:ext>
            </a:extLst>
          </p:cNvPr>
          <p:cNvSpPr txBox="1"/>
          <p:nvPr/>
        </p:nvSpPr>
        <p:spPr>
          <a:xfrm>
            <a:off x="3517802" y="5677022"/>
            <a:ext cx="8266656" cy="492443"/>
          </a:xfrm>
          <a:prstGeom prst="rect">
            <a:avLst/>
          </a:prstGeom>
          <a:noFill/>
        </p:spPr>
        <p:txBody>
          <a:bodyPr wrap="square" lIns="0" tIns="0" rIns="0" bIns="0" rtlCol="0">
            <a:spAutoFit/>
          </a:bodyPr>
          <a:lstStyle/>
          <a:p>
            <a:pPr marL="285750" indent="-285750">
              <a:buFont typeface="Arial" panose="020B0604020202020204" pitchFamily="34" charset="0"/>
              <a:buChar char="•"/>
            </a:pP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通过阅读大量文献，对不同的稳定性控制算法有所了解，掌握了模型预测控制算法的设计方法并在</a:t>
            </a:r>
            <a:r>
              <a:rPr lang="en-US" altLang="zh-CN"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MATLAB</a:t>
            </a: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中实现。</a:t>
            </a:r>
          </a:p>
        </p:txBody>
      </p:sp>
      <p:sp>
        <p:nvSpPr>
          <p:cNvPr id="6" name="矩形 3">
            <a:extLst>
              <a:ext uri="{FF2B5EF4-FFF2-40B4-BE49-F238E27FC236}">
                <a16:creationId xmlns:a16="http://schemas.microsoft.com/office/drawing/2014/main" id="{1610EDA5-5615-0995-0E11-87A4E25E7BCA}"/>
              </a:ext>
            </a:extLst>
          </p:cNvPr>
          <p:cNvSpPr/>
          <p:nvPr/>
        </p:nvSpPr>
        <p:spPr>
          <a:xfrm>
            <a:off x="849714" y="1405918"/>
            <a:ext cx="2571571"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B"/>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nvGrpSpPr>
          <p:cNvPr id="7" name="组合 6">
            <a:extLst>
              <a:ext uri="{FF2B5EF4-FFF2-40B4-BE49-F238E27FC236}">
                <a16:creationId xmlns:a16="http://schemas.microsoft.com/office/drawing/2014/main" id="{F0B31D53-FDD9-48F1-2D26-92871793E890}"/>
              </a:ext>
            </a:extLst>
          </p:cNvPr>
          <p:cNvGrpSpPr/>
          <p:nvPr/>
        </p:nvGrpSpPr>
        <p:grpSpPr>
          <a:xfrm>
            <a:off x="544648" y="1520806"/>
            <a:ext cx="672074" cy="672075"/>
            <a:chOff x="2769119" y="1848492"/>
            <a:chExt cx="504056" cy="504056"/>
          </a:xfrm>
        </p:grpSpPr>
        <p:sp>
          <p:nvSpPr>
            <p:cNvPr id="8" name="椭圆 7">
              <a:extLst>
                <a:ext uri="{FF2B5EF4-FFF2-40B4-BE49-F238E27FC236}">
                  <a16:creationId xmlns:a16="http://schemas.microsoft.com/office/drawing/2014/main" id="{F7C9B77D-E208-2A20-F7B9-ED4B144189FB}"/>
                </a:ext>
              </a:extLst>
            </p:cNvPr>
            <p:cNvSpPr/>
            <p:nvPr/>
          </p:nvSpPr>
          <p:spPr>
            <a:xfrm>
              <a:off x="2769119" y="1848492"/>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9" name="TextBox 66">
              <a:extLst>
                <a:ext uri="{FF2B5EF4-FFF2-40B4-BE49-F238E27FC236}">
                  <a16:creationId xmlns:a16="http://schemas.microsoft.com/office/drawing/2014/main" id="{3EA8C87A-012B-DAFF-07FB-5DEA6B21A874}"/>
                </a:ext>
              </a:extLst>
            </p:cNvPr>
            <p:cNvSpPr txBox="1"/>
            <p:nvPr/>
          </p:nvSpPr>
          <p:spPr>
            <a:xfrm>
              <a:off x="2808589" y="1931243"/>
              <a:ext cx="372939"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01</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sp>
        <p:nvSpPr>
          <p:cNvPr id="10" name="矩形 3">
            <a:extLst>
              <a:ext uri="{FF2B5EF4-FFF2-40B4-BE49-F238E27FC236}">
                <a16:creationId xmlns:a16="http://schemas.microsoft.com/office/drawing/2014/main" id="{78BFA278-D254-63E8-A68A-42F3B0C785CB}"/>
              </a:ext>
            </a:extLst>
          </p:cNvPr>
          <p:cNvSpPr/>
          <p:nvPr/>
        </p:nvSpPr>
        <p:spPr>
          <a:xfrm>
            <a:off x="847692" y="4057236"/>
            <a:ext cx="2533359"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B"/>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nvGrpSpPr>
          <p:cNvPr id="11" name="组合 10">
            <a:extLst>
              <a:ext uri="{FF2B5EF4-FFF2-40B4-BE49-F238E27FC236}">
                <a16:creationId xmlns:a16="http://schemas.microsoft.com/office/drawing/2014/main" id="{E9DFACFD-7BDC-617A-F9C2-D84F935A625F}"/>
              </a:ext>
            </a:extLst>
          </p:cNvPr>
          <p:cNvGrpSpPr/>
          <p:nvPr/>
        </p:nvGrpSpPr>
        <p:grpSpPr>
          <a:xfrm>
            <a:off x="536097" y="2830369"/>
            <a:ext cx="672074" cy="672075"/>
            <a:chOff x="2471142" y="2586760"/>
            <a:chExt cx="504056" cy="504056"/>
          </a:xfrm>
        </p:grpSpPr>
        <p:sp>
          <p:nvSpPr>
            <p:cNvPr id="12" name="椭圆 11">
              <a:extLst>
                <a:ext uri="{FF2B5EF4-FFF2-40B4-BE49-F238E27FC236}">
                  <a16:creationId xmlns:a16="http://schemas.microsoft.com/office/drawing/2014/main" id="{ED0B3229-E8A6-5D67-5940-32B16C2F81AD}"/>
                </a:ext>
              </a:extLst>
            </p:cNvPr>
            <p:cNvSpPr/>
            <p:nvPr/>
          </p:nvSpPr>
          <p:spPr>
            <a:xfrm>
              <a:off x="2471142" y="2586760"/>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13" name="TextBox 69">
              <a:extLst>
                <a:ext uri="{FF2B5EF4-FFF2-40B4-BE49-F238E27FC236}">
                  <a16:creationId xmlns:a16="http://schemas.microsoft.com/office/drawing/2014/main" id="{124264F4-410D-F614-E201-2C92D867A7DC}"/>
                </a:ext>
              </a:extLst>
            </p:cNvPr>
            <p:cNvSpPr txBox="1"/>
            <p:nvPr/>
          </p:nvSpPr>
          <p:spPr>
            <a:xfrm>
              <a:off x="2510612" y="2669511"/>
              <a:ext cx="372939"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02</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grpSp>
        <p:nvGrpSpPr>
          <p:cNvPr id="14" name="组合 13">
            <a:extLst>
              <a:ext uri="{FF2B5EF4-FFF2-40B4-BE49-F238E27FC236}">
                <a16:creationId xmlns:a16="http://schemas.microsoft.com/office/drawing/2014/main" id="{CAB959C7-B871-55D0-9382-990441A12EDF}"/>
              </a:ext>
            </a:extLst>
          </p:cNvPr>
          <p:cNvGrpSpPr/>
          <p:nvPr/>
        </p:nvGrpSpPr>
        <p:grpSpPr>
          <a:xfrm>
            <a:off x="574524" y="4156028"/>
            <a:ext cx="672074" cy="672075"/>
            <a:chOff x="2769119" y="3325028"/>
            <a:chExt cx="504056" cy="504056"/>
          </a:xfrm>
        </p:grpSpPr>
        <p:sp>
          <p:nvSpPr>
            <p:cNvPr id="15" name="椭圆 14">
              <a:extLst>
                <a:ext uri="{FF2B5EF4-FFF2-40B4-BE49-F238E27FC236}">
                  <a16:creationId xmlns:a16="http://schemas.microsoft.com/office/drawing/2014/main" id="{CA3CE594-3389-F201-A506-5E5618B2CB46}"/>
                </a:ext>
              </a:extLst>
            </p:cNvPr>
            <p:cNvSpPr/>
            <p:nvPr/>
          </p:nvSpPr>
          <p:spPr>
            <a:xfrm>
              <a:off x="2769119" y="3325028"/>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16" name="TextBox 72">
              <a:extLst>
                <a:ext uri="{FF2B5EF4-FFF2-40B4-BE49-F238E27FC236}">
                  <a16:creationId xmlns:a16="http://schemas.microsoft.com/office/drawing/2014/main" id="{17729B06-5E16-4A09-8C18-CECF956218F1}"/>
                </a:ext>
              </a:extLst>
            </p:cNvPr>
            <p:cNvSpPr txBox="1"/>
            <p:nvPr/>
          </p:nvSpPr>
          <p:spPr>
            <a:xfrm>
              <a:off x="2808589" y="3407779"/>
              <a:ext cx="370535"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03</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sp>
        <p:nvSpPr>
          <p:cNvPr id="17" name="TextBox 82">
            <a:extLst>
              <a:ext uri="{FF2B5EF4-FFF2-40B4-BE49-F238E27FC236}">
                <a16:creationId xmlns:a16="http://schemas.microsoft.com/office/drawing/2014/main" id="{3BD7202E-F4F1-11A5-A8C5-2BF54A9D9BDD}"/>
              </a:ext>
            </a:extLst>
          </p:cNvPr>
          <p:cNvSpPr txBox="1"/>
          <p:nvPr/>
        </p:nvSpPr>
        <p:spPr>
          <a:xfrm>
            <a:off x="974793" y="1631141"/>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发明专利</a:t>
            </a:r>
          </a:p>
        </p:txBody>
      </p:sp>
      <p:sp>
        <p:nvSpPr>
          <p:cNvPr id="18" name="TextBox 83">
            <a:extLst>
              <a:ext uri="{FF2B5EF4-FFF2-40B4-BE49-F238E27FC236}">
                <a16:creationId xmlns:a16="http://schemas.microsoft.com/office/drawing/2014/main" id="{E55E425A-E07F-9AED-835A-3E48D46A02F3}"/>
              </a:ext>
            </a:extLst>
          </p:cNvPr>
          <p:cNvSpPr txBox="1"/>
          <p:nvPr/>
        </p:nvSpPr>
        <p:spPr>
          <a:xfrm>
            <a:off x="1123218" y="2930027"/>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软件著作权</a:t>
            </a:r>
          </a:p>
        </p:txBody>
      </p:sp>
      <p:sp>
        <p:nvSpPr>
          <p:cNvPr id="19" name="TextBox 84">
            <a:extLst>
              <a:ext uri="{FF2B5EF4-FFF2-40B4-BE49-F238E27FC236}">
                <a16:creationId xmlns:a16="http://schemas.microsoft.com/office/drawing/2014/main" id="{2C789F1D-5C40-9A29-E42F-7B5B9F624CFF}"/>
              </a:ext>
            </a:extLst>
          </p:cNvPr>
          <p:cNvSpPr txBox="1"/>
          <p:nvPr/>
        </p:nvSpPr>
        <p:spPr>
          <a:xfrm>
            <a:off x="984443" y="4266363"/>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模型搭建</a:t>
            </a:r>
          </a:p>
        </p:txBody>
      </p:sp>
      <p:sp>
        <p:nvSpPr>
          <p:cNvPr id="21" name="矩形 3">
            <a:extLst>
              <a:ext uri="{FF2B5EF4-FFF2-40B4-BE49-F238E27FC236}">
                <a16:creationId xmlns:a16="http://schemas.microsoft.com/office/drawing/2014/main" id="{9FFFDED0-DE8E-F9C6-9475-E14AD7BE42B8}"/>
              </a:ext>
            </a:extLst>
          </p:cNvPr>
          <p:cNvSpPr/>
          <p:nvPr/>
        </p:nvSpPr>
        <p:spPr>
          <a:xfrm>
            <a:off x="847692" y="5382895"/>
            <a:ext cx="2533359" cy="869659"/>
          </a:xfrm>
          <a:custGeom>
            <a:avLst/>
            <a:gdLst/>
            <a:ahLst/>
            <a:cxnLst/>
            <a:rect l="l" t="t" r="r" b="b"/>
            <a:pathLst>
              <a:path w="5192450" h="1305562">
                <a:moveTo>
                  <a:pt x="648072" y="0"/>
                </a:moveTo>
                <a:lnTo>
                  <a:pt x="4680520" y="0"/>
                </a:lnTo>
                <a:lnTo>
                  <a:pt x="4680520" y="534"/>
                </a:lnTo>
                <a:lnTo>
                  <a:pt x="4756983" y="534"/>
                </a:lnTo>
                <a:cubicBezTo>
                  <a:pt x="4781822" y="0"/>
                  <a:pt x="4807189" y="5871"/>
                  <a:pt x="4830442" y="19749"/>
                </a:cubicBezTo>
                <a:cubicBezTo>
                  <a:pt x="4852109" y="32025"/>
                  <a:pt x="4869549" y="49639"/>
                  <a:pt x="4881176" y="70456"/>
                </a:cubicBezTo>
                <a:lnTo>
                  <a:pt x="5172368" y="579657"/>
                </a:lnTo>
                <a:cubicBezTo>
                  <a:pt x="5185051" y="601007"/>
                  <a:pt x="5192450" y="626093"/>
                  <a:pt x="5192450" y="652781"/>
                </a:cubicBezTo>
                <a:cubicBezTo>
                  <a:pt x="5192450" y="680003"/>
                  <a:pt x="5185051" y="705089"/>
                  <a:pt x="5171839" y="726439"/>
                </a:cubicBezTo>
                <a:lnTo>
                  <a:pt x="4881176" y="1235640"/>
                </a:lnTo>
                <a:cubicBezTo>
                  <a:pt x="4869021" y="1255923"/>
                  <a:pt x="4852109" y="1273537"/>
                  <a:pt x="4830442" y="1286347"/>
                </a:cubicBezTo>
                <a:cubicBezTo>
                  <a:pt x="4807717" y="1299691"/>
                  <a:pt x="4782879" y="1305562"/>
                  <a:pt x="4758040" y="1305028"/>
                </a:cubicBezTo>
                <a:lnTo>
                  <a:pt x="4680520" y="1305028"/>
                </a:lnTo>
                <a:lnTo>
                  <a:pt x="4680520" y="1305562"/>
                </a:lnTo>
                <a:lnTo>
                  <a:pt x="648072" y="1305562"/>
                </a:lnTo>
                <a:lnTo>
                  <a:pt x="648072" y="1305028"/>
                </a:lnTo>
                <a:lnTo>
                  <a:pt x="431239" y="1305028"/>
                </a:lnTo>
                <a:cubicBezTo>
                  <a:pt x="407986" y="1305028"/>
                  <a:pt x="383676" y="1299157"/>
                  <a:pt x="362008" y="1286347"/>
                </a:cubicBezTo>
                <a:cubicBezTo>
                  <a:pt x="340341" y="1273537"/>
                  <a:pt x="322901" y="1255923"/>
                  <a:pt x="311274" y="1235107"/>
                </a:cubicBezTo>
                <a:lnTo>
                  <a:pt x="19025" y="723770"/>
                </a:lnTo>
                <a:cubicBezTo>
                  <a:pt x="6870" y="702954"/>
                  <a:pt x="0" y="678935"/>
                  <a:pt x="0" y="652781"/>
                </a:cubicBezTo>
                <a:cubicBezTo>
                  <a:pt x="0" y="626627"/>
                  <a:pt x="6870" y="602608"/>
                  <a:pt x="19025" y="581258"/>
                </a:cubicBezTo>
                <a:lnTo>
                  <a:pt x="310217" y="72057"/>
                </a:lnTo>
                <a:cubicBezTo>
                  <a:pt x="322372" y="51240"/>
                  <a:pt x="339812" y="32559"/>
                  <a:pt x="362008" y="19749"/>
                </a:cubicBezTo>
                <a:cubicBezTo>
                  <a:pt x="382619" y="7473"/>
                  <a:pt x="405344" y="1068"/>
                  <a:pt x="428068" y="534"/>
                </a:cubicBezTo>
                <a:lnTo>
                  <a:pt x="648072" y="534"/>
                </a:lnTo>
                <a:close/>
              </a:path>
            </a:pathLst>
          </a:custGeom>
          <a:solidFill>
            <a:srgbClr val="0A2B7B"/>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nvGrpSpPr>
          <p:cNvPr id="22" name="组合 21">
            <a:extLst>
              <a:ext uri="{FF2B5EF4-FFF2-40B4-BE49-F238E27FC236}">
                <a16:creationId xmlns:a16="http://schemas.microsoft.com/office/drawing/2014/main" id="{E69AC4C0-9D3D-B6F4-A88C-04DEC2B3E676}"/>
              </a:ext>
            </a:extLst>
          </p:cNvPr>
          <p:cNvGrpSpPr/>
          <p:nvPr/>
        </p:nvGrpSpPr>
        <p:grpSpPr>
          <a:xfrm>
            <a:off x="574524" y="5481687"/>
            <a:ext cx="672074" cy="672075"/>
            <a:chOff x="2769119" y="3325028"/>
            <a:chExt cx="504056" cy="504056"/>
          </a:xfrm>
        </p:grpSpPr>
        <p:sp>
          <p:nvSpPr>
            <p:cNvPr id="23" name="椭圆 22">
              <a:extLst>
                <a:ext uri="{FF2B5EF4-FFF2-40B4-BE49-F238E27FC236}">
                  <a16:creationId xmlns:a16="http://schemas.microsoft.com/office/drawing/2014/main" id="{C5B5C404-A883-75F9-9B94-64BB6FEBB44E}"/>
                </a:ext>
              </a:extLst>
            </p:cNvPr>
            <p:cNvSpPr/>
            <p:nvPr/>
          </p:nvSpPr>
          <p:spPr>
            <a:xfrm>
              <a:off x="2769119" y="3325028"/>
              <a:ext cx="504056" cy="504056"/>
            </a:xfrm>
            <a:prstGeom prst="ellipse">
              <a:avLst/>
            </a:prstGeom>
            <a:solidFill>
              <a:srgbClr val="28384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sp>
          <p:nvSpPr>
            <p:cNvPr id="24" name="TextBox 72">
              <a:extLst>
                <a:ext uri="{FF2B5EF4-FFF2-40B4-BE49-F238E27FC236}">
                  <a16:creationId xmlns:a16="http://schemas.microsoft.com/office/drawing/2014/main" id="{84E7BECD-E31F-920F-D8BE-99E70860DD21}"/>
                </a:ext>
              </a:extLst>
            </p:cNvPr>
            <p:cNvSpPr txBox="1"/>
            <p:nvPr/>
          </p:nvSpPr>
          <p:spPr>
            <a:xfrm>
              <a:off x="2808589" y="3407779"/>
              <a:ext cx="390973" cy="315423"/>
            </a:xfrm>
            <a:prstGeom prst="rect">
              <a:avLst/>
            </a:prstGeom>
            <a:noFill/>
          </p:spPr>
          <p:txBody>
            <a:bodyPr wrap="none" rtlCol="0">
              <a:spAutoFit/>
            </a:bodyPr>
            <a:lstStyle/>
            <a:p>
              <a:r>
                <a:rPr lang="en-US" altLang="zh-CN"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04</a:t>
              </a:r>
              <a:endParaRPr lang="zh-CN" altLang="en-US" sz="2133" b="1"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endParaRPr>
            </a:p>
          </p:txBody>
        </p:sp>
      </p:grpSp>
      <p:sp>
        <p:nvSpPr>
          <p:cNvPr id="25" name="TextBox 84">
            <a:extLst>
              <a:ext uri="{FF2B5EF4-FFF2-40B4-BE49-F238E27FC236}">
                <a16:creationId xmlns:a16="http://schemas.microsoft.com/office/drawing/2014/main" id="{9D6CE128-3CFF-ADBA-768A-67C6ED0F52CD}"/>
              </a:ext>
            </a:extLst>
          </p:cNvPr>
          <p:cNvSpPr txBox="1"/>
          <p:nvPr/>
        </p:nvSpPr>
        <p:spPr>
          <a:xfrm>
            <a:off x="984443" y="5592022"/>
            <a:ext cx="2298067" cy="451342"/>
          </a:xfrm>
          <a:prstGeom prst="rect">
            <a:avLst/>
          </a:prstGeom>
          <a:noFill/>
        </p:spPr>
        <p:txBody>
          <a:bodyPr wrap="square" lIns="0" tIns="0" rIns="0" bIns="0" rtlCol="0">
            <a:spAutoFit/>
          </a:bodyPr>
          <a:lstStyle>
            <a:defPPr>
              <a:defRPr lang="zh-CN"/>
            </a:defPPr>
            <a:lvl1pPr algn="ctr">
              <a:defRPr sz="2000" b="1">
                <a:solidFill>
                  <a:schemeClr val="tx2"/>
                </a:solidFill>
                <a:latin typeface="微软雅黑" pitchFamily="34" charset="-122"/>
                <a:ea typeface="微软雅黑" pitchFamily="34" charset="-122"/>
              </a:defRPr>
            </a:lvl1pPr>
          </a:lstStyle>
          <a:p>
            <a:r>
              <a:rPr lang="zh-CN" altLang="en-US" sz="2933" dirty="0">
                <a:solidFill>
                  <a:schemeClr val="bg1"/>
                </a:solidFill>
                <a:latin typeface="字魂105号-简雅黑" panose="00000500000000000000" pitchFamily="2" charset="-122"/>
                <a:ea typeface="字魂105号-简雅黑" panose="00000500000000000000" pitchFamily="2" charset="-122"/>
                <a:sym typeface="字魂105号-简雅黑" panose="00000500000000000000" pitchFamily="2" charset="-122"/>
              </a:rPr>
              <a:t>算法学习</a:t>
            </a:r>
          </a:p>
        </p:txBody>
      </p:sp>
      <p:sp>
        <p:nvSpPr>
          <p:cNvPr id="4" name="文本框 3">
            <a:extLst>
              <a:ext uri="{FF2B5EF4-FFF2-40B4-BE49-F238E27FC236}">
                <a16:creationId xmlns:a16="http://schemas.microsoft.com/office/drawing/2014/main" id="{8208FC82-17C5-13B7-BA9D-ED025DA8DE50}"/>
              </a:ext>
            </a:extLst>
          </p:cNvPr>
          <p:cNvSpPr txBox="1"/>
          <p:nvPr/>
        </p:nvSpPr>
        <p:spPr>
          <a:xfrm>
            <a:off x="3428655" y="1230876"/>
            <a:ext cx="8537915" cy="2585323"/>
          </a:xfrm>
          <a:prstGeom prst="rect">
            <a:avLst/>
          </a:prstGeom>
          <a:noFill/>
        </p:spPr>
        <p:txBody>
          <a:bodyPr wrap="none" rtlCol="0">
            <a:spAutoFit/>
          </a:bodyPr>
          <a:lstStyle/>
          <a:p>
            <a:pPr marL="285750" indent="-285750" algn="just">
              <a:lnSpc>
                <a:spcPct val="150000"/>
              </a:lnSpc>
              <a:buFont typeface="Arial" panose="020B0604020202020204" pitchFamily="34" charset="0"/>
              <a:buChar char="•"/>
            </a:pP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已公开分布式线控底盘电动汽车运动控制相关的发明专利</a:t>
            </a:r>
            <a:r>
              <a:rPr lang="en-US" altLang="zh-CN"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2</a:t>
            </a: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项：</a:t>
            </a:r>
            <a:endParaRPr lang="en-US" altLang="zh-CN" sz="1600" dirty="0">
              <a:latin typeface="字魂105号-简雅黑" panose="00000500000000000000" pitchFamily="2" charset="-122"/>
              <a:ea typeface="字魂105号-简雅黑" panose="00000500000000000000" pitchFamily="2" charset="-122"/>
              <a:sym typeface="字魂105号-简雅黑" panose="00000500000000000000" pitchFamily="2" charset="-122"/>
            </a:endParaRPr>
          </a:p>
          <a:p>
            <a:pPr lvl="1">
              <a:lnSpc>
                <a:spcPct val="150000"/>
              </a:lnSpc>
            </a:pPr>
            <a:r>
              <a:rPr lang="zh-CN" altLang="en-US" sz="1600" dirty="0">
                <a:latin typeface="微软雅黑" panose="020B0503020204020204" pitchFamily="34" charset="-122"/>
                <a:ea typeface="微软雅黑" panose="020B0503020204020204" pitchFamily="34" charset="-122"/>
              </a:rPr>
              <a:t>一种四轮主动转向控制模式切换系统（公开号：</a:t>
            </a:r>
            <a:r>
              <a:rPr lang="en-US" altLang="zh-CN" sz="1600" dirty="0">
                <a:latin typeface="微软雅黑" panose="020B0503020204020204" pitchFamily="34" charset="-122"/>
                <a:ea typeface="微软雅黑" panose="020B0503020204020204" pitchFamily="34" charset="-122"/>
              </a:rPr>
              <a:t>CN117341812A</a:t>
            </a:r>
            <a:r>
              <a:rPr lang="zh-CN" altLang="en-US" sz="1600" dirty="0">
                <a:latin typeface="微软雅黑" panose="020B0503020204020204" pitchFamily="34" charset="-122"/>
                <a:ea typeface="微软雅黑" panose="020B0503020204020204" pitchFamily="34" charset="-122"/>
              </a:rPr>
              <a:t>）</a:t>
            </a:r>
          </a:p>
          <a:p>
            <a:pPr lvl="1">
              <a:lnSpc>
                <a:spcPct val="150000"/>
              </a:lnSpc>
            </a:pPr>
            <a:r>
              <a:rPr lang="zh-CN" altLang="en-US" sz="1600" dirty="0">
                <a:latin typeface="微软雅黑" panose="020B0503020204020204" pitchFamily="34" charset="-122"/>
                <a:ea typeface="微软雅黑" panose="020B0503020204020204" pitchFamily="34" charset="-122"/>
              </a:rPr>
              <a:t>一种四轮转向模式动态切换控制系统（公开号：</a:t>
            </a:r>
            <a:r>
              <a:rPr lang="en-US" altLang="zh-CN" sz="1600" dirty="0">
                <a:latin typeface="微软雅黑" panose="020B0503020204020204" pitchFamily="34" charset="-122"/>
                <a:ea typeface="微软雅黑" panose="020B0503020204020204" pitchFamily="34" charset="-122"/>
              </a:rPr>
              <a:t>CN117584940A</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marL="285750" indent="-285750">
              <a:lnSpc>
                <a:spcPct val="150000"/>
              </a:lnSpc>
              <a:buFont typeface="Arial" panose="020B0604020202020204" pitchFamily="34" charset="0"/>
              <a:buChar char="•"/>
            </a:pP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已公开轨迹规划相关的发明专利</a:t>
            </a:r>
            <a:r>
              <a:rPr lang="en-US" altLang="zh-CN"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2</a:t>
            </a:r>
            <a:r>
              <a:rPr lang="zh-CN" altLang="en-US" sz="1600" dirty="0">
                <a:latin typeface="字魂105号-简雅黑" panose="00000500000000000000" pitchFamily="2" charset="-122"/>
                <a:ea typeface="字魂105号-简雅黑" panose="00000500000000000000" pitchFamily="2" charset="-122"/>
                <a:sym typeface="字魂105号-简雅黑" panose="00000500000000000000" pitchFamily="2" charset="-122"/>
              </a:rPr>
              <a:t>项：</a:t>
            </a:r>
            <a:endParaRPr lang="en-US" altLang="zh-CN" sz="1600" dirty="0">
              <a:latin typeface="字魂105号-简雅黑" panose="00000500000000000000" pitchFamily="2" charset="-122"/>
              <a:ea typeface="字魂105号-简雅黑" panose="00000500000000000000" pitchFamily="2" charset="-122"/>
              <a:sym typeface="字魂105号-简雅黑" panose="00000500000000000000" pitchFamily="2" charset="-122"/>
            </a:endParaRPr>
          </a:p>
          <a:p>
            <a:pPr lvl="1">
              <a:lnSpc>
                <a:spcPct val="150000"/>
              </a:lnSpc>
            </a:pPr>
            <a:r>
              <a:rPr lang="zh-CN" altLang="en-US" sz="1600" dirty="0">
                <a:latin typeface="微软雅黑" panose="020B0503020204020204" pitchFamily="34" charset="-122"/>
                <a:ea typeface="微软雅黑" panose="020B0503020204020204" pitchFamily="34" charset="-122"/>
              </a:rPr>
              <a:t>基于车联网通信的四轮转向智能汽车超车轨迹规划方法（公开号：</a:t>
            </a:r>
            <a:r>
              <a:rPr lang="en-US" altLang="zh-CN" sz="1600" dirty="0">
                <a:latin typeface="微软雅黑" panose="020B0503020204020204" pitchFamily="34" charset="-122"/>
                <a:ea typeface="微软雅黑" panose="020B0503020204020204" pitchFamily="34" charset="-122"/>
              </a:rPr>
              <a:t>CN117962893A</a:t>
            </a:r>
            <a:r>
              <a:rPr lang="zh-CN" altLang="en-US" sz="1600" dirty="0">
                <a:latin typeface="微软雅黑" panose="020B0503020204020204" pitchFamily="34" charset="-122"/>
                <a:ea typeface="微软雅黑" panose="020B0503020204020204" pitchFamily="34" charset="-122"/>
              </a:rPr>
              <a:t>）</a:t>
            </a:r>
          </a:p>
          <a:p>
            <a:pPr lvl="1">
              <a:lnSpc>
                <a:spcPct val="150000"/>
              </a:lnSpc>
            </a:pPr>
            <a:r>
              <a:rPr lang="zh-CN" altLang="en-US" sz="1600" dirty="0">
                <a:latin typeface="微软雅黑" panose="020B0503020204020204" pitchFamily="34" charset="-122"/>
                <a:ea typeface="微软雅黑" panose="020B0503020204020204" pitchFamily="34" charset="-122"/>
              </a:rPr>
              <a:t>一种基于驾驶意图预测模型的智能汽车行驶轨迹规划方法（公开号：</a:t>
            </a:r>
            <a:r>
              <a:rPr lang="en-US" altLang="zh-CN" sz="1600" dirty="0">
                <a:latin typeface="微软雅黑" panose="020B0503020204020204" pitchFamily="34" charset="-122"/>
                <a:ea typeface="微软雅黑" panose="020B0503020204020204" pitchFamily="34" charset="-122"/>
              </a:rPr>
              <a:t>CN118665532A</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endParaRPr lang="zh-CN" altLang="en-US" dirty="0"/>
          </a:p>
        </p:txBody>
      </p:sp>
      <p:sp>
        <p:nvSpPr>
          <p:cNvPr id="20" name="文本框 19">
            <a:extLst>
              <a:ext uri="{FF2B5EF4-FFF2-40B4-BE49-F238E27FC236}">
                <a16:creationId xmlns:a16="http://schemas.microsoft.com/office/drawing/2014/main" id="{EA6F1606-EBB3-C849-CFEC-65EC8061F93B}"/>
              </a:ext>
            </a:extLst>
          </p:cNvPr>
          <p:cNvSpPr txBox="1"/>
          <p:nvPr/>
        </p:nvSpPr>
        <p:spPr>
          <a:xfrm>
            <a:off x="3419261" y="3601236"/>
            <a:ext cx="7967246" cy="1477328"/>
          </a:xfrm>
          <a:prstGeom prst="rect">
            <a:avLst/>
          </a:prstGeom>
          <a:noFill/>
        </p:spPr>
        <p:txBody>
          <a:bodyPr wrap="none" rtlCol="0">
            <a:spAutoFit/>
          </a:bodyPr>
          <a:lstStyle/>
          <a:p>
            <a:pPr marL="285750" indent="-285750">
              <a:lnSpc>
                <a:spcPct val="150000"/>
              </a:lnSpc>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已登记分布式线控底盘电动汽车运动控制相关的软件著作权两项：</a:t>
            </a:r>
          </a:p>
          <a:p>
            <a:pPr lvl="1">
              <a:lnSpc>
                <a:spcPct val="150000"/>
              </a:lnSpc>
            </a:pPr>
            <a:r>
              <a:rPr lang="zh-CN" altLang="en-US" sz="1600" dirty="0">
                <a:latin typeface="微软雅黑" panose="020B0503020204020204" pitchFamily="34" charset="-122"/>
                <a:ea typeface="微软雅黑" panose="020B0503020204020204" pitchFamily="34" charset="-122"/>
              </a:rPr>
              <a:t>智能电动四轮转向汽车主动后轮转角控制软件（登记号：</a:t>
            </a:r>
            <a:r>
              <a:rPr lang="en-US" altLang="zh-CN" sz="1600" dirty="0">
                <a:latin typeface="微软雅黑" panose="020B0503020204020204" pitchFamily="34" charset="-122"/>
                <a:ea typeface="微软雅黑" panose="020B0503020204020204" pitchFamily="34" charset="-122"/>
              </a:rPr>
              <a:t>2024SR1240567</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lvl="1">
              <a:lnSpc>
                <a:spcPct val="150000"/>
              </a:lnSpc>
            </a:pPr>
            <a:r>
              <a:rPr lang="zh-CN" altLang="en-US" sz="1600" dirty="0">
                <a:latin typeface="微软雅黑" panose="020B0503020204020204" pitchFamily="34" charset="-122"/>
                <a:ea typeface="微软雅黑" panose="020B0503020204020204" pitchFamily="34" charset="-122"/>
              </a:rPr>
              <a:t>四轮转向智能电动汽车后轮主动转向转角计算软件（登记号：</a:t>
            </a:r>
            <a:r>
              <a:rPr lang="en-US" altLang="zh-CN" sz="1600" dirty="0">
                <a:latin typeface="微软雅黑" panose="020B0503020204020204" pitchFamily="34" charset="-122"/>
                <a:ea typeface="微软雅黑" panose="020B0503020204020204" pitchFamily="34" charset="-122"/>
              </a:rPr>
              <a:t>2024SR1240555</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endParaRPr lang="zh-CN" altLang="en-US" dirty="0"/>
          </a:p>
        </p:txBody>
      </p:sp>
      <p:sp>
        <p:nvSpPr>
          <p:cNvPr id="26" name="文本框 25">
            <a:extLst>
              <a:ext uri="{FF2B5EF4-FFF2-40B4-BE49-F238E27FC236}">
                <a16:creationId xmlns:a16="http://schemas.microsoft.com/office/drawing/2014/main" id="{95BD39AE-0E6E-52B9-2A98-C136B70AB129}"/>
              </a:ext>
            </a:extLst>
          </p:cNvPr>
          <p:cNvSpPr txBox="1"/>
          <p:nvPr/>
        </p:nvSpPr>
        <p:spPr>
          <a:xfrm>
            <a:off x="3419260" y="4926895"/>
            <a:ext cx="8365198" cy="584775"/>
          </a:xfrm>
          <a:prstGeom prst="rect">
            <a:avLst/>
          </a:prstGeom>
          <a:noFill/>
        </p:spPr>
        <p:txBody>
          <a:bodyPr wrap="square" rtlCol="0">
            <a:spAutoFit/>
          </a:bodyPr>
          <a:lstStyle/>
          <a:p>
            <a:pPr marL="285750" indent="-285750">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已经搭建了四轮独立驱动</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转向</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制动的分布式线控底盘电动汽车动力学模型，后续基于该模型进行规划算法以及运动控制策略的设计。</a:t>
            </a:r>
          </a:p>
        </p:txBody>
      </p:sp>
    </p:spTree>
    <p:extLst>
      <p:ext uri="{BB962C8B-B14F-4D97-AF65-F5344CB8AC3E}">
        <p14:creationId xmlns:p14="http://schemas.microsoft.com/office/powerpoint/2010/main" val="4206428679"/>
      </p:ext>
    </p:extLst>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组合 13"/>
          <p:cNvGrpSpPr/>
          <p:nvPr/>
        </p:nvGrpSpPr>
        <p:grpSpPr>
          <a:xfrm>
            <a:off x="2176019" y="2754072"/>
            <a:ext cx="8662085" cy="1720850"/>
            <a:chOff x="1184275" y="2717410"/>
            <a:chExt cx="8661629" cy="1720986"/>
          </a:xfrm>
        </p:grpSpPr>
        <p:grpSp>
          <p:nvGrpSpPr>
            <p:cNvPr id="10" name="Group 4"/>
            <p:cNvGrpSpPr>
              <a:grpSpLocks noChangeAspect="1"/>
            </p:cNvGrpSpPr>
            <p:nvPr/>
          </p:nvGrpSpPr>
          <p:grpSpPr bwMode="auto">
            <a:xfrm>
              <a:off x="1184275" y="2717410"/>
              <a:ext cx="1847850" cy="1720986"/>
              <a:chOff x="1164" y="687"/>
              <a:chExt cx="3219" cy="2998"/>
            </a:xfrm>
            <a:solidFill>
              <a:schemeClr val="bg1"/>
            </a:solidFill>
            <a:effectLst>
              <a:outerShdw blurRad="50800" dist="38100" dir="2700000" algn="tl" rotWithShape="0">
                <a:prstClr val="black">
                  <a:alpha val="40000"/>
                </a:prstClr>
              </a:outerShdw>
            </a:effectLst>
          </p:grpSpPr>
          <p:sp>
            <p:nvSpPr>
              <p:cNvPr id="11" name="Freeform 6"/>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12" name="Freeform 7"/>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13" name="文本框 12"/>
            <p:cNvSpPr txBox="1"/>
            <p:nvPr/>
          </p:nvSpPr>
          <p:spPr>
            <a:xfrm>
              <a:off x="3187699" y="2847430"/>
              <a:ext cx="6658205" cy="1108084"/>
            </a:xfrm>
            <a:prstGeom prst="rect">
              <a:avLst/>
            </a:prstGeom>
            <a:noFill/>
          </p:spPr>
          <p:txBody>
            <a:bodyPr wrap="square" rtlCol="0">
              <a:spAutoFit/>
            </a:bodyPr>
            <a:lstStyle/>
            <a:p>
              <a:r>
                <a:rPr lang="zh-CN" altLang="en-US" sz="6600" b="1" spc="300" dirty="0">
                  <a:solidFill>
                    <a:schemeClr val="bg1"/>
                  </a:solidFill>
                  <a:latin typeface="微软雅黑" panose="020B0503020204020204" pitchFamily="34" charset="-122"/>
                  <a:ea typeface="微软雅黑" panose="020B0503020204020204" pitchFamily="34" charset="-122"/>
                </a:rPr>
                <a:t>下一步工作计划</a:t>
              </a:r>
            </a:p>
          </p:txBody>
        </p:sp>
      </p:grpSp>
    </p:spTree>
    <p:extLst>
      <p:ext uri="{BB962C8B-B14F-4D97-AF65-F5344CB8AC3E}">
        <p14:creationId xmlns:p14="http://schemas.microsoft.com/office/powerpoint/2010/main" val="3992255507"/>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8592E714-8771-4256-B120-A1444CD7D5F3}" type="slidenum">
              <a:rPr lang="zh-HK" altLang="en-US" smtClean="0">
                <a:solidFill>
                  <a:prstClr val="black">
                    <a:tint val="75000"/>
                  </a:prstClr>
                </a:solidFill>
              </a:rPr>
              <a:t>22</a:t>
            </a:fld>
            <a:endParaRPr lang="zh-HK" altLang="en-US">
              <a:solidFill>
                <a:prstClr val="black">
                  <a:tint val="75000"/>
                </a:prstClr>
              </a:solidFill>
            </a:endParaRPr>
          </a:p>
        </p:txBody>
      </p:sp>
      <p:graphicFrame>
        <p:nvGraphicFramePr>
          <p:cNvPr id="3" name="表格 2">
            <a:extLst>
              <a:ext uri="{FF2B5EF4-FFF2-40B4-BE49-F238E27FC236}">
                <a16:creationId xmlns:a16="http://schemas.microsoft.com/office/drawing/2014/main" id="{2CD37F92-BFBB-E237-2CB7-2316DD9EC7C4}"/>
              </a:ext>
            </a:extLst>
          </p:cNvPr>
          <p:cNvGraphicFramePr>
            <a:graphicFrameLocks noGrp="1"/>
          </p:cNvGraphicFramePr>
          <p:nvPr>
            <p:custDataLst>
              <p:tags r:id="rId1"/>
            </p:custDataLst>
            <p:extLst>
              <p:ext uri="{D42A27DB-BD31-4B8C-83A1-F6EECF244321}">
                <p14:modId xmlns:p14="http://schemas.microsoft.com/office/powerpoint/2010/main" val="3426029524"/>
              </p:ext>
            </p:extLst>
          </p:nvPr>
        </p:nvGraphicFramePr>
        <p:xfrm>
          <a:off x="746991" y="1095027"/>
          <a:ext cx="10698018" cy="5192861"/>
        </p:xfrm>
        <a:graphic>
          <a:graphicData uri="http://schemas.openxmlformats.org/drawingml/2006/table">
            <a:tbl>
              <a:tblPr firstRow="1" firstCol="1" bandRow="1">
                <a:tableStyleId>{5C22544A-7EE6-4342-B048-85BDC9FD1C3A}</a:tableStyleId>
              </a:tblPr>
              <a:tblGrid>
                <a:gridCol w="900834">
                  <a:extLst>
                    <a:ext uri="{9D8B030D-6E8A-4147-A177-3AD203B41FA5}">
                      <a16:colId xmlns:a16="http://schemas.microsoft.com/office/drawing/2014/main" val="20000"/>
                    </a:ext>
                  </a:extLst>
                </a:gridCol>
                <a:gridCol w="6305550">
                  <a:extLst>
                    <a:ext uri="{9D8B030D-6E8A-4147-A177-3AD203B41FA5}">
                      <a16:colId xmlns:a16="http://schemas.microsoft.com/office/drawing/2014/main" val="20001"/>
                    </a:ext>
                  </a:extLst>
                </a:gridCol>
                <a:gridCol w="2343150">
                  <a:extLst>
                    <a:ext uri="{9D8B030D-6E8A-4147-A177-3AD203B41FA5}">
                      <a16:colId xmlns:a16="http://schemas.microsoft.com/office/drawing/2014/main" val="20002"/>
                    </a:ext>
                  </a:extLst>
                </a:gridCol>
                <a:gridCol w="1148484">
                  <a:extLst>
                    <a:ext uri="{9D8B030D-6E8A-4147-A177-3AD203B41FA5}">
                      <a16:colId xmlns:a16="http://schemas.microsoft.com/office/drawing/2014/main" val="20003"/>
                    </a:ext>
                  </a:extLst>
                </a:gridCol>
              </a:tblGrid>
              <a:tr h="628429">
                <a:tc>
                  <a:txBody>
                    <a:bodyPr/>
                    <a:lstStyle/>
                    <a:p>
                      <a:pPr algn="ctr">
                        <a:lnSpc>
                          <a:spcPct val="150000"/>
                        </a:lnSpc>
                        <a:spcAft>
                          <a:spcPts val="0"/>
                        </a:spcAft>
                      </a:pPr>
                      <a:r>
                        <a:rPr lang="zh-CN" sz="1600" kern="100" dirty="0">
                          <a:effectLst/>
                          <a:latin typeface="微软雅黑" panose="020B0503020204020204" pitchFamily="34" charset="-122"/>
                          <a:ea typeface="微软雅黑" panose="020B0503020204020204" pitchFamily="34" charset="-122"/>
                        </a:rPr>
                        <a:t>阶段</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indent="304800" algn="ctr" defTabSz="914400" rtl="0" eaLnBrk="1" latinLnBrk="0" hangingPunct="1">
                        <a:lnSpc>
                          <a:spcPct val="150000"/>
                        </a:lnSpc>
                        <a:spcAft>
                          <a:spcPts val="0"/>
                        </a:spcAft>
                      </a:pPr>
                      <a:r>
                        <a:rPr lang="zh-CN" altLang="en-US" sz="1600" b="1" kern="100" dirty="0">
                          <a:solidFill>
                            <a:schemeClr val="lt1"/>
                          </a:solidFill>
                          <a:effectLst/>
                          <a:latin typeface="微软雅黑" panose="020B0503020204020204" pitchFamily="34" charset="-122"/>
                          <a:ea typeface="微软雅黑" panose="020B0503020204020204" pitchFamily="34" charset="-122"/>
                          <a:cs typeface="+mn-cs"/>
                        </a:rPr>
                        <a:t>主要任务</a:t>
                      </a:r>
                    </a:p>
                  </a:txBody>
                  <a:tcPr marL="68580" marR="68580" marT="0" marB="0" anchor="ctr"/>
                </a:tc>
                <a:tc>
                  <a:txBody>
                    <a:bodyPr/>
                    <a:lstStyle/>
                    <a:p>
                      <a:pPr marL="0" indent="304800" algn="ctr" defTabSz="914400" rtl="0" eaLnBrk="1" latinLnBrk="0" hangingPunct="1">
                        <a:lnSpc>
                          <a:spcPct val="150000"/>
                        </a:lnSpc>
                        <a:spcAft>
                          <a:spcPts val="0"/>
                        </a:spcAft>
                      </a:pPr>
                      <a:r>
                        <a:rPr lang="zh-CN" altLang="en-US" sz="1600" b="1" kern="100" dirty="0">
                          <a:solidFill>
                            <a:schemeClr val="lt1"/>
                          </a:solidFill>
                          <a:effectLst/>
                          <a:latin typeface="微软雅黑" panose="020B0503020204020204" pitchFamily="34" charset="-122"/>
                          <a:ea typeface="微软雅黑" panose="020B0503020204020204" pitchFamily="34" charset="-122"/>
                          <a:cs typeface="+mn-cs"/>
                        </a:rPr>
                        <a:t>时间安排</a:t>
                      </a:r>
                    </a:p>
                  </a:txBody>
                  <a:tcPr marL="68580" marR="68580" marT="0" marB="0" anchor="ctr"/>
                </a:tc>
                <a:tc>
                  <a:txBody>
                    <a:bodyPr/>
                    <a:lstStyle/>
                    <a:p>
                      <a:pPr marL="0" algn="ctr" defTabSz="914400" rtl="0" eaLnBrk="1" latinLnBrk="0" hangingPunct="1">
                        <a:lnSpc>
                          <a:spcPct val="150000"/>
                        </a:lnSpc>
                        <a:spcAft>
                          <a:spcPts val="0"/>
                        </a:spcAft>
                      </a:pPr>
                      <a:r>
                        <a:rPr lang="zh-CN" altLang="en-US" sz="1600" b="1" kern="100" dirty="0">
                          <a:solidFill>
                            <a:schemeClr val="lt1"/>
                          </a:solidFill>
                          <a:effectLst/>
                          <a:latin typeface="微软雅黑" panose="020B0503020204020204" pitchFamily="34" charset="-122"/>
                          <a:ea typeface="微软雅黑" panose="020B0503020204020204" pitchFamily="34" charset="-122"/>
                          <a:cs typeface="+mn-cs"/>
                        </a:rPr>
                        <a:t>完成情况</a:t>
                      </a:r>
                    </a:p>
                  </a:txBody>
                  <a:tcPr marL="65282" marR="65282" marT="0" marB="0" anchor="ctr"/>
                </a:tc>
                <a:extLst>
                  <a:ext uri="{0D108BD9-81ED-4DB2-BD59-A6C34878D82A}">
                    <a16:rowId xmlns:a16="http://schemas.microsoft.com/office/drawing/2014/main" val="10000"/>
                  </a:ext>
                </a:extLst>
              </a:tr>
              <a:tr h="481953">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1</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查阅相关文献，调研国内外分布式线控底盘、危险工况下的运动规划、跟踪控制与运动控制的相关研究现状</a:t>
                      </a:r>
                    </a:p>
                  </a:txBody>
                  <a:tcPr marL="45720" marR="4572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a:solidFill>
                            <a:schemeClr val="dk1"/>
                          </a:solidFill>
                          <a:effectLst/>
                          <a:latin typeface="微软雅黑" panose="020B0503020204020204" pitchFamily="34" charset="-122"/>
                          <a:ea typeface="微软雅黑" panose="020B0503020204020204" pitchFamily="34" charset="-122"/>
                          <a:cs typeface="+mn-cs"/>
                        </a:rPr>
                        <a:t>2024.05</a:t>
                      </a:r>
                      <a:r>
                        <a:rPr lang="zh-CN" altLang="en-US" sz="1600" kern="100">
                          <a:solidFill>
                            <a:schemeClr val="dk1"/>
                          </a:solidFill>
                          <a:effectLst/>
                          <a:latin typeface="微软雅黑" panose="020B0503020204020204" pitchFamily="34" charset="-122"/>
                          <a:ea typeface="微软雅黑" panose="020B0503020204020204" pitchFamily="34" charset="-122"/>
                          <a:cs typeface="+mn-cs"/>
                        </a:rPr>
                        <a:t>～</a:t>
                      </a:r>
                      <a:r>
                        <a:rPr lang="en-US" sz="1600" kern="100">
                          <a:solidFill>
                            <a:schemeClr val="dk1"/>
                          </a:solidFill>
                          <a:effectLst/>
                          <a:latin typeface="微软雅黑" panose="020B0503020204020204" pitchFamily="34" charset="-122"/>
                          <a:ea typeface="微软雅黑" panose="020B0503020204020204" pitchFamily="34" charset="-122"/>
                          <a:cs typeface="+mn-cs"/>
                        </a:rPr>
                        <a:t>2024.10</a:t>
                      </a:r>
                      <a:endParaRPr lang="zh-CN" altLang="en-US" sz="1600" kern="10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完成</a:t>
                      </a:r>
                    </a:p>
                  </a:txBody>
                  <a:tcPr marL="65282" marR="65282" marT="0" marB="0" anchor="ctr"/>
                </a:tc>
                <a:extLst>
                  <a:ext uri="{0D108BD9-81ED-4DB2-BD59-A6C34878D82A}">
                    <a16:rowId xmlns:a16="http://schemas.microsoft.com/office/drawing/2014/main" val="10001"/>
                  </a:ext>
                </a:extLst>
              </a:tr>
              <a:tr h="604805">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2</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四轮独立驱动</a:t>
                      </a:r>
                      <a:r>
                        <a:rPr lang="en-US" sz="1600" kern="100" dirty="0">
                          <a:solidFill>
                            <a:schemeClr val="dk1"/>
                          </a:solidFill>
                          <a:effectLst/>
                          <a:latin typeface="微软雅黑" panose="020B0503020204020204" pitchFamily="34" charset="-122"/>
                          <a:ea typeface="微软雅黑" panose="020B0503020204020204" pitchFamily="34" charset="-122"/>
                          <a:cs typeface="+mn-cs"/>
                        </a:rPr>
                        <a:t>/</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转向的分布式线控底盘电动汽车动力学模型搭建及模型精度验证</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a:solidFill>
                            <a:schemeClr val="dk1"/>
                          </a:solidFill>
                          <a:effectLst/>
                          <a:latin typeface="微软雅黑" panose="020B0503020204020204" pitchFamily="34" charset="-122"/>
                          <a:ea typeface="微软雅黑" panose="020B0503020204020204" pitchFamily="34" charset="-122"/>
                          <a:cs typeface="+mn-cs"/>
                        </a:rPr>
                        <a:t>2024.10</a:t>
                      </a:r>
                      <a:r>
                        <a:rPr lang="zh-CN" altLang="en-US" sz="1600" kern="100">
                          <a:solidFill>
                            <a:schemeClr val="dk1"/>
                          </a:solidFill>
                          <a:effectLst/>
                          <a:latin typeface="微软雅黑" panose="020B0503020204020204" pitchFamily="34" charset="-122"/>
                          <a:ea typeface="微软雅黑" panose="020B0503020204020204" pitchFamily="34" charset="-122"/>
                          <a:cs typeface="+mn-cs"/>
                        </a:rPr>
                        <a:t>～</a:t>
                      </a:r>
                      <a:r>
                        <a:rPr lang="en-US" sz="1600" kern="100">
                          <a:solidFill>
                            <a:schemeClr val="dk1"/>
                          </a:solidFill>
                          <a:effectLst/>
                          <a:latin typeface="微软雅黑" panose="020B0503020204020204" pitchFamily="34" charset="-122"/>
                          <a:ea typeface="微软雅黑" panose="020B0503020204020204" pitchFamily="34" charset="-122"/>
                          <a:cs typeface="+mn-cs"/>
                        </a:rPr>
                        <a:t>2024.11</a:t>
                      </a:r>
                      <a:endParaRPr lang="zh-CN" altLang="en-US" sz="1600" kern="10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完成</a:t>
                      </a:r>
                    </a:p>
                  </a:txBody>
                  <a:tcPr marL="65282" marR="65282" marT="0" marB="0" anchor="ctr"/>
                </a:tc>
                <a:extLst>
                  <a:ext uri="{0D108BD9-81ED-4DB2-BD59-A6C34878D82A}">
                    <a16:rowId xmlns:a16="http://schemas.microsoft.com/office/drawing/2014/main" val="10002"/>
                  </a:ext>
                </a:extLst>
              </a:tr>
              <a:tr h="521329">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3</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基于改进混合</a:t>
                      </a:r>
                      <a:r>
                        <a:rPr lang="en-US" sz="1600" kern="100" dirty="0">
                          <a:solidFill>
                            <a:schemeClr val="dk1"/>
                          </a:solidFill>
                          <a:effectLst/>
                          <a:latin typeface="微软雅黑" panose="020B0503020204020204" pitchFamily="34" charset="-122"/>
                          <a:ea typeface="微软雅黑" panose="020B0503020204020204" pitchFamily="34" charset="-122"/>
                          <a:cs typeface="+mn-cs"/>
                        </a:rPr>
                        <a:t>A*</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的粗轨迹搜索算法设计</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a:solidFill>
                            <a:schemeClr val="dk1"/>
                          </a:solidFill>
                          <a:effectLst/>
                          <a:latin typeface="微软雅黑" panose="020B0503020204020204" pitchFamily="34" charset="-122"/>
                          <a:ea typeface="微软雅黑" panose="020B0503020204020204" pitchFamily="34" charset="-122"/>
                          <a:cs typeface="+mn-cs"/>
                        </a:rPr>
                        <a:t>2024.11</a:t>
                      </a:r>
                      <a:r>
                        <a:rPr lang="zh-CN" altLang="en-US" sz="1600" kern="100">
                          <a:solidFill>
                            <a:schemeClr val="dk1"/>
                          </a:solidFill>
                          <a:effectLst/>
                          <a:latin typeface="微软雅黑" panose="020B0503020204020204" pitchFamily="34" charset="-122"/>
                          <a:ea typeface="微软雅黑" panose="020B0503020204020204" pitchFamily="34" charset="-122"/>
                          <a:cs typeface="+mn-cs"/>
                        </a:rPr>
                        <a:t>～</a:t>
                      </a:r>
                      <a:r>
                        <a:rPr lang="en-US" sz="1600" kern="100">
                          <a:solidFill>
                            <a:schemeClr val="dk1"/>
                          </a:solidFill>
                          <a:effectLst/>
                          <a:latin typeface="微软雅黑" panose="020B0503020204020204" pitchFamily="34" charset="-122"/>
                          <a:ea typeface="微软雅黑" panose="020B0503020204020204" pitchFamily="34" charset="-122"/>
                          <a:cs typeface="+mn-cs"/>
                        </a:rPr>
                        <a:t>2025.01</a:t>
                      </a:r>
                      <a:endParaRPr lang="zh-CN" altLang="en-US" sz="1600" kern="10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10003"/>
                  </a:ext>
                </a:extLst>
              </a:tr>
              <a:tr h="233136">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4</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基于搜索粗轨迹的安全走廊区域生成、基于模型预测控制的紧急避障轨迹生成</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dirty="0">
                          <a:solidFill>
                            <a:schemeClr val="dk1"/>
                          </a:solidFill>
                          <a:effectLst/>
                          <a:latin typeface="微软雅黑" panose="020B0503020204020204" pitchFamily="34" charset="-122"/>
                          <a:ea typeface="微软雅黑" panose="020B0503020204020204" pitchFamily="34" charset="-122"/>
                          <a:cs typeface="+mn-cs"/>
                        </a:rPr>
                        <a:t>2025.01</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a:t>
                      </a:r>
                      <a:r>
                        <a:rPr lang="en-US" sz="1600" kern="100" dirty="0">
                          <a:solidFill>
                            <a:schemeClr val="dk1"/>
                          </a:solidFill>
                          <a:effectLst/>
                          <a:latin typeface="微软雅黑" panose="020B0503020204020204" pitchFamily="34" charset="-122"/>
                          <a:ea typeface="微软雅黑" panose="020B0503020204020204" pitchFamily="34" charset="-122"/>
                          <a:cs typeface="+mn-cs"/>
                        </a:rPr>
                        <a:t>2025.05</a:t>
                      </a:r>
                      <a:endParaRPr lang="zh-CN" altLang="en-US" sz="1600" kern="100" dirty="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10004"/>
                  </a:ext>
                </a:extLst>
              </a:tr>
              <a:tr h="399265">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6</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基于可变步长离散线性时变的运动跟踪层设计、基于二次规划算法的控制分配层设计</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dirty="0">
                          <a:solidFill>
                            <a:schemeClr val="dk1"/>
                          </a:solidFill>
                          <a:effectLst/>
                          <a:latin typeface="微软雅黑" panose="020B0503020204020204" pitchFamily="34" charset="-122"/>
                          <a:ea typeface="微软雅黑" panose="020B0503020204020204" pitchFamily="34" charset="-122"/>
                          <a:cs typeface="+mn-cs"/>
                        </a:rPr>
                        <a:t>2025.05</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a:t>
                      </a:r>
                      <a:r>
                        <a:rPr lang="en-US" sz="1600" kern="100" dirty="0">
                          <a:solidFill>
                            <a:schemeClr val="dk1"/>
                          </a:solidFill>
                          <a:effectLst/>
                          <a:latin typeface="微软雅黑" panose="020B0503020204020204" pitchFamily="34" charset="-122"/>
                          <a:ea typeface="微软雅黑" panose="020B0503020204020204" pitchFamily="34" charset="-122"/>
                          <a:cs typeface="+mn-cs"/>
                        </a:rPr>
                        <a:t>2025.09</a:t>
                      </a:r>
                      <a:endParaRPr lang="zh-CN" altLang="en-US" sz="1600" kern="100" dirty="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10006"/>
                  </a:ext>
                </a:extLst>
              </a:tr>
              <a:tr h="399265">
                <a:tc>
                  <a:txBody>
                    <a:bodyPr/>
                    <a:lstStyle/>
                    <a:p>
                      <a:pPr algn="ctr">
                        <a:lnSpc>
                          <a:spcPct val="150000"/>
                        </a:lnSpc>
                        <a:spcAft>
                          <a:spcPts val="0"/>
                        </a:spcAft>
                      </a:pPr>
                      <a:r>
                        <a:rPr lang="en-US" sz="1600" kern="100" dirty="0">
                          <a:effectLst/>
                          <a:latin typeface="微软雅黑" panose="020B0503020204020204" pitchFamily="34" charset="-122"/>
                          <a:ea typeface="微软雅黑" panose="020B0503020204020204" pitchFamily="34" charset="-122"/>
                        </a:rPr>
                        <a:t>8</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基于</a:t>
                      </a:r>
                      <a:r>
                        <a:rPr lang="en-US" sz="1600" kern="100" dirty="0" err="1">
                          <a:solidFill>
                            <a:schemeClr val="dk1"/>
                          </a:solidFill>
                          <a:effectLst/>
                          <a:latin typeface="微软雅黑" panose="020B0503020204020204" pitchFamily="34" charset="-122"/>
                          <a:ea typeface="微软雅黑" panose="020B0503020204020204" pitchFamily="34" charset="-122"/>
                          <a:cs typeface="+mn-cs"/>
                        </a:rPr>
                        <a:t>CarSim</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和</a:t>
                      </a:r>
                      <a:r>
                        <a:rPr lang="en-US" sz="1600" kern="100" dirty="0">
                          <a:solidFill>
                            <a:schemeClr val="dk1"/>
                          </a:solidFill>
                          <a:effectLst/>
                          <a:latin typeface="微软雅黑" panose="020B0503020204020204" pitchFamily="34" charset="-122"/>
                          <a:ea typeface="微软雅黑" panose="020B0503020204020204" pitchFamily="34" charset="-122"/>
                          <a:cs typeface="+mn-cs"/>
                        </a:rPr>
                        <a:t>MATLAB/Simulink</a:t>
                      </a: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的联合仿真验证</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dirty="0">
                          <a:solidFill>
                            <a:schemeClr val="dk1"/>
                          </a:solidFill>
                          <a:effectLst/>
                          <a:latin typeface="微软雅黑" panose="020B0503020204020204" pitchFamily="34" charset="-122"/>
                          <a:ea typeface="微软雅黑" panose="020B0503020204020204" pitchFamily="34" charset="-122"/>
                          <a:cs typeface="+mn-cs"/>
                        </a:rPr>
                        <a:t>2025.09~2025.10</a:t>
                      </a:r>
                      <a:endParaRPr lang="zh-CN" altLang="en-US" sz="1600" kern="100" dirty="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10008"/>
                  </a:ext>
                </a:extLst>
              </a:tr>
              <a:tr h="399265">
                <a:tc>
                  <a:txBody>
                    <a:bodyPr/>
                    <a:lstStyle/>
                    <a:p>
                      <a:pPr algn="ctr">
                        <a:lnSpc>
                          <a:spcPct val="150000"/>
                        </a:lnSpc>
                        <a:spcAft>
                          <a:spcPts val="0"/>
                        </a:spcAft>
                      </a:pPr>
                      <a:r>
                        <a:rPr lang="en-US" altLang="zh-CN" sz="1600" kern="100" dirty="0">
                          <a:effectLst/>
                          <a:latin typeface="微软雅黑" panose="020B0503020204020204" pitchFamily="34" charset="-122"/>
                          <a:ea typeface="微软雅黑" panose="020B0503020204020204" pitchFamily="34" charset="-122"/>
                          <a:cs typeface="Times New Roman" panose="02020603050405020304" pitchFamily="18" charset="0"/>
                        </a:rPr>
                        <a:t>9</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驾驶模拟器和实车试验验证</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dirty="0">
                          <a:solidFill>
                            <a:schemeClr val="dk1"/>
                          </a:solidFill>
                          <a:effectLst/>
                          <a:latin typeface="微软雅黑" panose="020B0503020204020204" pitchFamily="34" charset="-122"/>
                          <a:ea typeface="微软雅黑" panose="020B0503020204020204" pitchFamily="34" charset="-122"/>
                          <a:cs typeface="+mn-cs"/>
                        </a:rPr>
                        <a:t>2025.10~2025.11</a:t>
                      </a:r>
                      <a:endParaRPr lang="zh-CN" altLang="en-US" sz="1600" kern="100" dirty="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zh-CN"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2930500252"/>
                  </a:ext>
                </a:extLst>
              </a:tr>
              <a:tr h="399265">
                <a:tc>
                  <a:txBody>
                    <a:bodyPr/>
                    <a:lstStyle/>
                    <a:p>
                      <a:pPr algn="ctr">
                        <a:lnSpc>
                          <a:spcPct val="150000"/>
                        </a:lnSpc>
                        <a:spcAft>
                          <a:spcPts val="0"/>
                        </a:spcAft>
                      </a:pPr>
                      <a:r>
                        <a:rPr lang="en-US" altLang="zh-CN" sz="1600" kern="100" dirty="0">
                          <a:effectLst/>
                          <a:latin typeface="微软雅黑" panose="020B0503020204020204" pitchFamily="34" charset="-122"/>
                          <a:ea typeface="微软雅黑" panose="020B0503020204020204" pitchFamily="34" charset="-122"/>
                          <a:cs typeface="Times New Roman" panose="02020603050405020304" pitchFamily="18" charset="0"/>
                        </a:rPr>
                        <a:t>10</a:t>
                      </a:r>
                      <a:endParaRPr lang="zh-CN" sz="1600" kern="1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5282" marR="65282"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en-US" sz="1600" kern="100" dirty="0">
                          <a:solidFill>
                            <a:schemeClr val="dk1"/>
                          </a:solidFill>
                          <a:effectLst/>
                          <a:latin typeface="微软雅黑" panose="020B0503020204020204" pitchFamily="34" charset="-122"/>
                          <a:ea typeface="微软雅黑" panose="020B0503020204020204" pitchFamily="34" charset="-122"/>
                          <a:cs typeface="+mn-cs"/>
                        </a:rPr>
                        <a:t>撰写毕业论文</a:t>
                      </a: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sz="1600" kern="100" dirty="0">
                          <a:solidFill>
                            <a:schemeClr val="dk1"/>
                          </a:solidFill>
                          <a:effectLst/>
                          <a:latin typeface="微软雅黑" panose="020B0503020204020204" pitchFamily="34" charset="-122"/>
                          <a:ea typeface="微软雅黑" panose="020B0503020204020204" pitchFamily="34" charset="-122"/>
                          <a:cs typeface="+mn-cs"/>
                        </a:rPr>
                        <a:t>2025.12~2026.04</a:t>
                      </a:r>
                      <a:endParaRPr lang="zh-CN" altLang="en-US" sz="1600" kern="100" dirty="0">
                        <a:solidFill>
                          <a:schemeClr val="dk1"/>
                        </a:solidFill>
                        <a:effectLst/>
                        <a:latin typeface="微软雅黑" panose="020B0503020204020204" pitchFamily="34" charset="-122"/>
                        <a:ea typeface="微软雅黑" panose="020B0503020204020204" pitchFamily="34" charset="-122"/>
                        <a:cs typeface="+mn-cs"/>
                      </a:endParaRPr>
                    </a:p>
                  </a:txBody>
                  <a:tcPr marL="68580" marR="68580" marT="0" marB="0"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CN" altLang="zh-CN" sz="1600" kern="100" dirty="0">
                          <a:solidFill>
                            <a:schemeClr val="dk1"/>
                          </a:solidFill>
                          <a:effectLst/>
                          <a:latin typeface="微软雅黑" panose="020B0503020204020204" pitchFamily="34" charset="-122"/>
                          <a:ea typeface="微软雅黑" panose="020B0503020204020204" pitchFamily="34" charset="-122"/>
                          <a:cs typeface="+mn-cs"/>
                        </a:rPr>
                        <a:t>未完成</a:t>
                      </a:r>
                    </a:p>
                  </a:txBody>
                  <a:tcPr marL="65282" marR="65282" marT="0" marB="0" anchor="ctr"/>
                </a:tc>
                <a:extLst>
                  <a:ext uri="{0D108BD9-81ED-4DB2-BD59-A6C34878D82A}">
                    <a16:rowId xmlns:a16="http://schemas.microsoft.com/office/drawing/2014/main" val="1184560793"/>
                  </a:ext>
                </a:extLst>
              </a:tr>
            </a:tbl>
          </a:graphicData>
        </a:graphic>
      </p:graphicFrame>
    </p:spTree>
    <p:extLst>
      <p:ext uri="{BB962C8B-B14F-4D97-AF65-F5344CB8AC3E}">
        <p14:creationId xmlns:p14="http://schemas.microsoft.com/office/powerpoint/2010/main" val="1172850378"/>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矩形 1"/>
          <p:cNvSpPr/>
          <p:nvPr/>
        </p:nvSpPr>
        <p:spPr>
          <a:xfrm>
            <a:off x="0" y="2453006"/>
            <a:ext cx="12191999" cy="2376805"/>
          </a:xfrm>
          <a:prstGeom prst="rect">
            <a:avLst/>
          </a:prstGeom>
          <a:gradFill>
            <a:gsLst>
              <a:gs pos="0">
                <a:srgbClr val="012D86"/>
              </a:gs>
              <a:gs pos="100000">
                <a:srgbClr val="0E2557"/>
              </a:gs>
            </a:gsLst>
            <a:lin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US" altLang="zh-CN" sz="6600" b="1" spc="300" dirty="0">
              <a:latin typeface="微软雅黑" panose="020B0503020204020204" pitchFamily="34" charset="-122"/>
              <a:ea typeface="微软雅黑" panose="020B0503020204020204" pitchFamily="34" charset="-122"/>
            </a:endParaRPr>
          </a:p>
        </p:txBody>
      </p:sp>
      <p:grpSp>
        <p:nvGrpSpPr>
          <p:cNvPr id="7" name="Group 4"/>
          <p:cNvGrpSpPr>
            <a:grpSpLocks noChangeAspect="1"/>
          </p:cNvGrpSpPr>
          <p:nvPr/>
        </p:nvGrpSpPr>
        <p:grpSpPr bwMode="auto">
          <a:xfrm>
            <a:off x="5125332" y="386646"/>
            <a:ext cx="1847850" cy="1720986"/>
            <a:chOff x="1164" y="687"/>
            <a:chExt cx="3219" cy="2998"/>
          </a:xfrm>
          <a:gradFill>
            <a:gsLst>
              <a:gs pos="0">
                <a:srgbClr val="012D86"/>
              </a:gs>
              <a:gs pos="100000">
                <a:srgbClr val="0E2557"/>
              </a:gs>
            </a:gsLst>
            <a:lin scaled="0"/>
          </a:gradFill>
        </p:grpSpPr>
        <p:sp>
          <p:nvSpPr>
            <p:cNvPr id="10" name="Freeform 6"/>
            <p:cNvSpPr/>
            <p:nvPr/>
          </p:nvSpPr>
          <p:spPr bwMode="auto">
            <a:xfrm>
              <a:off x="1164" y="687"/>
              <a:ext cx="3219" cy="2998"/>
            </a:xfrm>
            <a:custGeom>
              <a:avLst/>
              <a:gdLst>
                <a:gd name="T0" fmla="*/ 96 w 1360"/>
                <a:gd name="T1" fmla="*/ 404 h 1266"/>
                <a:gd name="T2" fmla="*/ 96 w 1360"/>
                <a:gd name="T3" fmla="*/ 527 h 1266"/>
                <a:gd name="T4" fmla="*/ 105 w 1360"/>
                <a:gd name="T5" fmla="*/ 537 h 1266"/>
                <a:gd name="T6" fmla="*/ 123 w 1360"/>
                <a:gd name="T7" fmla="*/ 616 h 1266"/>
                <a:gd name="T8" fmla="*/ 119 w 1360"/>
                <a:gd name="T9" fmla="*/ 629 h 1266"/>
                <a:gd name="T10" fmla="*/ 147 w 1360"/>
                <a:gd name="T11" fmla="*/ 940 h 1266"/>
                <a:gd name="T12" fmla="*/ 169 w 1360"/>
                <a:gd name="T13" fmla="*/ 1194 h 1266"/>
                <a:gd name="T14" fmla="*/ 175 w 1360"/>
                <a:gd name="T15" fmla="*/ 1266 h 1266"/>
                <a:gd name="T16" fmla="*/ 0 w 1360"/>
                <a:gd name="T17" fmla="*/ 1266 h 1266"/>
                <a:gd name="T18" fmla="*/ 6 w 1360"/>
                <a:gd name="T19" fmla="*/ 1197 h 1266"/>
                <a:gd name="T20" fmla="*/ 38 w 1360"/>
                <a:gd name="T21" fmla="*/ 811 h 1266"/>
                <a:gd name="T22" fmla="*/ 54 w 1360"/>
                <a:gd name="T23" fmla="*/ 629 h 1266"/>
                <a:gd name="T24" fmla="*/ 50 w 1360"/>
                <a:gd name="T25" fmla="*/ 613 h 1266"/>
                <a:gd name="T26" fmla="*/ 71 w 1360"/>
                <a:gd name="T27" fmla="*/ 537 h 1266"/>
                <a:gd name="T28" fmla="*/ 79 w 1360"/>
                <a:gd name="T29" fmla="*/ 525 h 1266"/>
                <a:gd name="T30" fmla="*/ 79 w 1360"/>
                <a:gd name="T31" fmla="*/ 407 h 1266"/>
                <a:gd name="T32" fmla="*/ 70 w 1360"/>
                <a:gd name="T33" fmla="*/ 392 h 1266"/>
                <a:gd name="T34" fmla="*/ 31 w 1360"/>
                <a:gd name="T35" fmla="*/ 374 h 1266"/>
                <a:gd name="T36" fmla="*/ 44 w 1360"/>
                <a:gd name="T37" fmla="*/ 366 h 1266"/>
                <a:gd name="T38" fmla="*/ 624 w 1360"/>
                <a:gd name="T39" fmla="*/ 44 h 1266"/>
                <a:gd name="T40" fmla="*/ 692 w 1360"/>
                <a:gd name="T41" fmla="*/ 5 h 1266"/>
                <a:gd name="T42" fmla="*/ 718 w 1360"/>
                <a:gd name="T43" fmla="*/ 5 h 1266"/>
                <a:gd name="T44" fmla="*/ 1255 w 1360"/>
                <a:gd name="T45" fmla="*/ 275 h 1266"/>
                <a:gd name="T46" fmla="*/ 1360 w 1360"/>
                <a:gd name="T47" fmla="*/ 328 h 1266"/>
                <a:gd name="T48" fmla="*/ 1302 w 1360"/>
                <a:gd name="T49" fmla="*/ 360 h 1266"/>
                <a:gd name="T50" fmla="*/ 723 w 1360"/>
                <a:gd name="T51" fmla="*/ 666 h 1266"/>
                <a:gd name="T52" fmla="*/ 688 w 1360"/>
                <a:gd name="T53" fmla="*/ 668 h 1266"/>
                <a:gd name="T54" fmla="*/ 112 w 1360"/>
                <a:gd name="T55" fmla="*/ 411 h 1266"/>
                <a:gd name="T56" fmla="*/ 96 w 1360"/>
                <a:gd name="T57" fmla="*/ 404 h 1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60" h="1266">
                  <a:moveTo>
                    <a:pt x="96" y="404"/>
                  </a:moveTo>
                  <a:cubicBezTo>
                    <a:pt x="96" y="447"/>
                    <a:pt x="96" y="487"/>
                    <a:pt x="96" y="527"/>
                  </a:cubicBezTo>
                  <a:cubicBezTo>
                    <a:pt x="96" y="531"/>
                    <a:pt x="101" y="535"/>
                    <a:pt x="105" y="537"/>
                  </a:cubicBezTo>
                  <a:cubicBezTo>
                    <a:pt x="136" y="555"/>
                    <a:pt x="144" y="585"/>
                    <a:pt x="123" y="616"/>
                  </a:cubicBezTo>
                  <a:cubicBezTo>
                    <a:pt x="121" y="620"/>
                    <a:pt x="119" y="625"/>
                    <a:pt x="119" y="629"/>
                  </a:cubicBezTo>
                  <a:cubicBezTo>
                    <a:pt x="128" y="733"/>
                    <a:pt x="138" y="836"/>
                    <a:pt x="147" y="940"/>
                  </a:cubicBezTo>
                  <a:cubicBezTo>
                    <a:pt x="154" y="1024"/>
                    <a:pt x="162" y="1109"/>
                    <a:pt x="169" y="1194"/>
                  </a:cubicBezTo>
                  <a:cubicBezTo>
                    <a:pt x="171" y="1217"/>
                    <a:pt x="173" y="1239"/>
                    <a:pt x="175" y="1266"/>
                  </a:cubicBezTo>
                  <a:cubicBezTo>
                    <a:pt x="117" y="1266"/>
                    <a:pt x="60" y="1266"/>
                    <a:pt x="0" y="1266"/>
                  </a:cubicBezTo>
                  <a:cubicBezTo>
                    <a:pt x="2" y="1244"/>
                    <a:pt x="4" y="1220"/>
                    <a:pt x="6" y="1197"/>
                  </a:cubicBezTo>
                  <a:cubicBezTo>
                    <a:pt x="16" y="1068"/>
                    <a:pt x="27" y="940"/>
                    <a:pt x="38" y="811"/>
                  </a:cubicBezTo>
                  <a:cubicBezTo>
                    <a:pt x="43" y="750"/>
                    <a:pt x="49" y="690"/>
                    <a:pt x="54" y="629"/>
                  </a:cubicBezTo>
                  <a:cubicBezTo>
                    <a:pt x="54" y="624"/>
                    <a:pt x="52" y="617"/>
                    <a:pt x="50" y="613"/>
                  </a:cubicBezTo>
                  <a:cubicBezTo>
                    <a:pt x="32" y="583"/>
                    <a:pt x="40" y="553"/>
                    <a:pt x="71" y="537"/>
                  </a:cubicBezTo>
                  <a:cubicBezTo>
                    <a:pt x="75" y="535"/>
                    <a:pt x="79" y="529"/>
                    <a:pt x="79" y="525"/>
                  </a:cubicBezTo>
                  <a:cubicBezTo>
                    <a:pt x="79" y="486"/>
                    <a:pt x="80" y="446"/>
                    <a:pt x="79" y="407"/>
                  </a:cubicBezTo>
                  <a:cubicBezTo>
                    <a:pt x="79" y="402"/>
                    <a:pt x="74" y="395"/>
                    <a:pt x="70" y="392"/>
                  </a:cubicBezTo>
                  <a:cubicBezTo>
                    <a:pt x="58" y="386"/>
                    <a:pt x="45" y="381"/>
                    <a:pt x="31" y="374"/>
                  </a:cubicBezTo>
                  <a:cubicBezTo>
                    <a:pt x="36" y="371"/>
                    <a:pt x="40" y="368"/>
                    <a:pt x="44" y="366"/>
                  </a:cubicBezTo>
                  <a:cubicBezTo>
                    <a:pt x="237" y="259"/>
                    <a:pt x="431" y="151"/>
                    <a:pt x="624" y="44"/>
                  </a:cubicBezTo>
                  <a:cubicBezTo>
                    <a:pt x="647" y="31"/>
                    <a:pt x="670" y="19"/>
                    <a:pt x="692" y="5"/>
                  </a:cubicBezTo>
                  <a:cubicBezTo>
                    <a:pt x="702" y="0"/>
                    <a:pt x="709" y="1"/>
                    <a:pt x="718" y="5"/>
                  </a:cubicBezTo>
                  <a:cubicBezTo>
                    <a:pt x="897" y="96"/>
                    <a:pt x="1076" y="185"/>
                    <a:pt x="1255" y="275"/>
                  </a:cubicBezTo>
                  <a:cubicBezTo>
                    <a:pt x="1289" y="293"/>
                    <a:pt x="1324" y="310"/>
                    <a:pt x="1360" y="328"/>
                  </a:cubicBezTo>
                  <a:cubicBezTo>
                    <a:pt x="1339" y="340"/>
                    <a:pt x="1320" y="350"/>
                    <a:pt x="1302" y="360"/>
                  </a:cubicBezTo>
                  <a:cubicBezTo>
                    <a:pt x="1109" y="462"/>
                    <a:pt x="916" y="564"/>
                    <a:pt x="723" y="666"/>
                  </a:cubicBezTo>
                  <a:cubicBezTo>
                    <a:pt x="711" y="672"/>
                    <a:pt x="701" y="674"/>
                    <a:pt x="688" y="668"/>
                  </a:cubicBezTo>
                  <a:cubicBezTo>
                    <a:pt x="496" y="582"/>
                    <a:pt x="304" y="496"/>
                    <a:pt x="112" y="411"/>
                  </a:cubicBezTo>
                  <a:cubicBezTo>
                    <a:pt x="108" y="409"/>
                    <a:pt x="103" y="407"/>
                    <a:pt x="96" y="40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sp>
          <p:nvSpPr>
            <p:cNvPr id="11" name="Freeform 7"/>
            <p:cNvSpPr/>
            <p:nvPr/>
          </p:nvSpPr>
          <p:spPr bwMode="auto">
            <a:xfrm>
              <a:off x="1829" y="1959"/>
              <a:ext cx="2000" cy="947"/>
            </a:xfrm>
            <a:custGeom>
              <a:avLst/>
              <a:gdLst>
                <a:gd name="T0" fmla="*/ 0 w 845"/>
                <a:gd name="T1" fmla="*/ 147 h 400"/>
                <a:gd name="T2" fmla="*/ 78 w 845"/>
                <a:gd name="T3" fmla="*/ 32 h 400"/>
                <a:gd name="T4" fmla="*/ 96 w 845"/>
                <a:gd name="T5" fmla="*/ 28 h 400"/>
                <a:gd name="T6" fmla="*/ 262 w 845"/>
                <a:gd name="T7" fmla="*/ 101 h 400"/>
                <a:gd name="T8" fmla="*/ 417 w 845"/>
                <a:gd name="T9" fmla="*/ 170 h 400"/>
                <a:gd name="T10" fmla="*/ 434 w 845"/>
                <a:gd name="T11" fmla="*/ 167 h 400"/>
                <a:gd name="T12" fmla="*/ 724 w 845"/>
                <a:gd name="T13" fmla="*/ 13 h 400"/>
                <a:gd name="T14" fmla="*/ 749 w 845"/>
                <a:gd name="T15" fmla="*/ 0 h 400"/>
                <a:gd name="T16" fmla="*/ 845 w 845"/>
                <a:gd name="T17" fmla="*/ 143 h 400"/>
                <a:gd name="T18" fmla="*/ 743 w 845"/>
                <a:gd name="T19" fmla="*/ 207 h 400"/>
                <a:gd name="T20" fmla="*/ 448 w 845"/>
                <a:gd name="T21" fmla="*/ 393 h 400"/>
                <a:gd name="T22" fmla="*/ 421 w 845"/>
                <a:gd name="T23" fmla="*/ 394 h 400"/>
                <a:gd name="T24" fmla="*/ 8 w 845"/>
                <a:gd name="T25" fmla="*/ 153 h 400"/>
                <a:gd name="T26" fmla="*/ 0 w 845"/>
                <a:gd name="T27" fmla="*/ 14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45" h="400">
                  <a:moveTo>
                    <a:pt x="0" y="147"/>
                  </a:moveTo>
                  <a:cubicBezTo>
                    <a:pt x="27" y="108"/>
                    <a:pt x="53" y="70"/>
                    <a:pt x="78" y="32"/>
                  </a:cubicBezTo>
                  <a:cubicBezTo>
                    <a:pt x="84" y="24"/>
                    <a:pt x="89" y="25"/>
                    <a:pt x="96" y="28"/>
                  </a:cubicBezTo>
                  <a:cubicBezTo>
                    <a:pt x="151" y="53"/>
                    <a:pt x="206" y="77"/>
                    <a:pt x="262" y="101"/>
                  </a:cubicBezTo>
                  <a:cubicBezTo>
                    <a:pt x="313" y="124"/>
                    <a:pt x="365" y="147"/>
                    <a:pt x="417" y="170"/>
                  </a:cubicBezTo>
                  <a:cubicBezTo>
                    <a:pt x="421" y="172"/>
                    <a:pt x="429" y="170"/>
                    <a:pt x="434" y="167"/>
                  </a:cubicBezTo>
                  <a:cubicBezTo>
                    <a:pt x="531" y="116"/>
                    <a:pt x="627" y="65"/>
                    <a:pt x="724" y="13"/>
                  </a:cubicBezTo>
                  <a:cubicBezTo>
                    <a:pt x="732" y="9"/>
                    <a:pt x="740" y="5"/>
                    <a:pt x="749" y="0"/>
                  </a:cubicBezTo>
                  <a:cubicBezTo>
                    <a:pt x="781" y="48"/>
                    <a:pt x="813" y="95"/>
                    <a:pt x="845" y="143"/>
                  </a:cubicBezTo>
                  <a:cubicBezTo>
                    <a:pt x="811" y="165"/>
                    <a:pt x="777" y="186"/>
                    <a:pt x="743" y="207"/>
                  </a:cubicBezTo>
                  <a:cubicBezTo>
                    <a:pt x="645" y="269"/>
                    <a:pt x="546" y="331"/>
                    <a:pt x="448" y="393"/>
                  </a:cubicBezTo>
                  <a:cubicBezTo>
                    <a:pt x="438" y="399"/>
                    <a:pt x="431" y="400"/>
                    <a:pt x="421" y="394"/>
                  </a:cubicBezTo>
                  <a:cubicBezTo>
                    <a:pt x="284" y="313"/>
                    <a:pt x="146" y="233"/>
                    <a:pt x="8" y="153"/>
                  </a:cubicBezTo>
                  <a:cubicBezTo>
                    <a:pt x="6" y="151"/>
                    <a:pt x="3" y="149"/>
                    <a:pt x="0" y="1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HK" altLang="en-US"/>
            </a:p>
          </p:txBody>
        </p:sp>
      </p:grpSp>
      <p:sp>
        <p:nvSpPr>
          <p:cNvPr id="5" name="文本框 4">
            <a:extLst>
              <a:ext uri="{FF2B5EF4-FFF2-40B4-BE49-F238E27FC236}">
                <a16:creationId xmlns:a16="http://schemas.microsoft.com/office/drawing/2014/main" id="{FD691DC4-6BB6-7E9E-466F-AE239F230EC1}"/>
              </a:ext>
            </a:extLst>
          </p:cNvPr>
          <p:cNvSpPr txBox="1"/>
          <p:nvPr/>
        </p:nvSpPr>
        <p:spPr>
          <a:xfrm>
            <a:off x="2576944" y="2948910"/>
            <a:ext cx="9615055" cy="1384995"/>
          </a:xfrm>
          <a:prstGeom prst="rect">
            <a:avLst/>
          </a:prstGeom>
          <a:noFill/>
        </p:spPr>
        <p:txBody>
          <a:bodyPr wrap="square" rtlCol="0">
            <a:spAutoFit/>
          </a:bodyPr>
          <a:lstStyle/>
          <a:p>
            <a:r>
              <a:rPr lang="zh-CN" altLang="en-US" sz="6600" b="1" spc="300" dirty="0">
                <a:solidFill>
                  <a:schemeClr val="lt1"/>
                </a:solidFill>
                <a:latin typeface="微软雅黑" panose="020B0503020204020204" pitchFamily="34" charset="-122"/>
                <a:ea typeface="微软雅黑" panose="020B0503020204020204" pitchFamily="34" charset="-122"/>
              </a:rPr>
              <a:t>感谢各位老师指导</a:t>
            </a:r>
            <a:endParaRPr lang="en-US" altLang="zh-CN" sz="6600" b="1" spc="300" dirty="0">
              <a:solidFill>
                <a:schemeClr val="lt1"/>
              </a:solidFill>
              <a:latin typeface="微软雅黑" panose="020B0503020204020204" pitchFamily="34" charset="-122"/>
              <a:ea typeface="微软雅黑" panose="020B0503020204020204" pitchFamily="34" charset="-122"/>
            </a:endParaRPr>
          </a:p>
          <a:p>
            <a:endParaRPr lang="zh-CN" altLang="en-US" dirty="0"/>
          </a:p>
        </p:txBody>
      </p:sp>
      <p:sp>
        <p:nvSpPr>
          <p:cNvPr id="3" name="矩形 2">
            <a:extLst>
              <a:ext uri="{FF2B5EF4-FFF2-40B4-BE49-F238E27FC236}">
                <a16:creationId xmlns:a16="http://schemas.microsoft.com/office/drawing/2014/main" id="{578DBF44-EB12-3803-FD5A-1715DCE45F6F}"/>
              </a:ext>
            </a:extLst>
          </p:cNvPr>
          <p:cNvSpPr/>
          <p:nvPr/>
        </p:nvSpPr>
        <p:spPr>
          <a:xfrm>
            <a:off x="6619759" y="5187046"/>
            <a:ext cx="3312000"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rPr>
              <a:t>学号：</a:t>
            </a:r>
            <a:r>
              <a:rPr lang="en-US" altLang="zh-CN" sz="2000" b="1" dirty="0">
                <a:solidFill>
                  <a:schemeClr val="bg1"/>
                </a:solidFill>
                <a:latin typeface="微软雅黑" panose="020B0503020204020204" pitchFamily="34" charset="-122"/>
                <a:ea typeface="微软雅黑" panose="020B0503020204020204" pitchFamily="34" charset="-122"/>
              </a:rPr>
              <a:t>2023424062</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6" name="矩形 5">
            <a:extLst>
              <a:ext uri="{FF2B5EF4-FFF2-40B4-BE49-F238E27FC236}">
                <a16:creationId xmlns:a16="http://schemas.microsoft.com/office/drawing/2014/main" id="{A9B670CB-44FA-49B5-A208-99C4219C5369}"/>
              </a:ext>
            </a:extLst>
          </p:cNvPr>
          <p:cNvSpPr/>
          <p:nvPr/>
        </p:nvSpPr>
        <p:spPr>
          <a:xfrm>
            <a:off x="1989736" y="5170292"/>
            <a:ext cx="3313786"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rPr>
              <a:t>汇报人：张毅</a:t>
            </a:r>
          </a:p>
        </p:txBody>
      </p:sp>
      <p:sp>
        <p:nvSpPr>
          <p:cNvPr id="9" name="矩形 8">
            <a:extLst>
              <a:ext uri="{FF2B5EF4-FFF2-40B4-BE49-F238E27FC236}">
                <a16:creationId xmlns:a16="http://schemas.microsoft.com/office/drawing/2014/main" id="{D06C2585-5611-2933-E992-431B0E77F284}"/>
              </a:ext>
            </a:extLst>
          </p:cNvPr>
          <p:cNvSpPr/>
          <p:nvPr/>
        </p:nvSpPr>
        <p:spPr>
          <a:xfrm>
            <a:off x="6619760" y="6000422"/>
            <a:ext cx="3312000"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fld id="{E0C9D230-84E1-4F2B-990A-9E9CD7B7D2F6}" type="datetime2">
              <a:rPr lang="zh-CN" altLang="en-US" sz="2000" b="1">
                <a:solidFill>
                  <a:schemeClr val="bg1"/>
                </a:solidFill>
                <a:latin typeface="微软雅黑" panose="020B0503020204020204" pitchFamily="34" charset="-122"/>
                <a:ea typeface="微软雅黑" panose="020B0503020204020204" pitchFamily="34" charset="-122"/>
              </a:rPr>
              <a:t>2025年5月31日</a:t>
            </a:fld>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8567A025-1B5E-2FDC-A669-D3902AE192B7}"/>
              </a:ext>
            </a:extLst>
          </p:cNvPr>
          <p:cNvSpPr/>
          <p:nvPr/>
        </p:nvSpPr>
        <p:spPr>
          <a:xfrm>
            <a:off x="1989736" y="6000422"/>
            <a:ext cx="3313786" cy="400050"/>
          </a:xfrm>
          <a:prstGeom prst="rect">
            <a:avLst/>
          </a:prstGeom>
          <a:solidFill>
            <a:srgbClr val="92D14F"/>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微软雅黑" panose="020B0503020204020204" pitchFamily="34" charset="-122"/>
                <a:ea typeface="微软雅黑" panose="020B0503020204020204" pitchFamily="34" charset="-122"/>
              </a:rPr>
              <a:t>导师：宗长富 教授</a:t>
            </a:r>
          </a:p>
        </p:txBody>
      </p:sp>
    </p:spTree>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COMMONDATA" val="eyJoZGlkIjoiNmJiZTFiZGRmMWZkMjg4MDVhZmFkMWY1OTU2YWUyZjYifQ=="/>
</p:tagLst>
</file>

<file path=ppt/tags/tag2.xml><?xml version="1.0" encoding="utf-8"?>
<p:tagLst xmlns:a="http://schemas.openxmlformats.org/drawingml/2006/main" xmlns:r="http://schemas.openxmlformats.org/officeDocument/2006/relationships" xmlns:p="http://schemas.openxmlformats.org/presentationml/2006/main">
  <p:tag name="KSO_WM_UNIT_TABLE_BEAUTIFY" val="smartTable{6336da60-f06b-4155-9f7f-70822a286663}"/>
  <p:tag name="TABLE_ENDDRAG_ORIGIN_RECT" val="663*284"/>
  <p:tag name="TABLE_ENDDRAG_RECT" val="10*58*663*284"/>
</p:tagLst>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1000</TotalTime>
  <Words>2495</Words>
  <Application>Microsoft Office PowerPoint</Application>
  <PresentationFormat>宽屏</PresentationFormat>
  <Paragraphs>206</Paragraphs>
  <Slides>23</Slides>
  <Notes>14</Notes>
  <HiddenSlides>0</HiddenSlides>
  <MMClips>0</MMClips>
  <ScaleCrop>false</ScaleCrop>
  <HeadingPairs>
    <vt:vector size="8" baseType="variant">
      <vt:variant>
        <vt:lpstr>已用的字体</vt:lpstr>
      </vt:variant>
      <vt:variant>
        <vt:i4>8</vt:i4>
      </vt:variant>
      <vt:variant>
        <vt:lpstr>主题</vt:lpstr>
      </vt:variant>
      <vt:variant>
        <vt:i4>2</vt:i4>
      </vt:variant>
      <vt:variant>
        <vt:lpstr>嵌入 OLE 服务器</vt:lpstr>
      </vt:variant>
      <vt:variant>
        <vt:i4>1</vt:i4>
      </vt:variant>
      <vt:variant>
        <vt:lpstr>幻灯片标题</vt:lpstr>
      </vt:variant>
      <vt:variant>
        <vt:i4>23</vt:i4>
      </vt:variant>
    </vt:vector>
  </HeadingPairs>
  <TitlesOfParts>
    <vt:vector size="34" baseType="lpstr">
      <vt:lpstr>Arial</vt:lpstr>
      <vt:lpstr>Times New Roman</vt:lpstr>
      <vt:lpstr>字魂105号-简雅黑</vt:lpstr>
      <vt:lpstr>Calibri</vt:lpstr>
      <vt:lpstr>楷体</vt:lpstr>
      <vt:lpstr>Wingdings</vt:lpstr>
      <vt:lpstr>微软雅黑</vt:lpstr>
      <vt:lpstr>Calibri Light</vt:lpstr>
      <vt:lpstr>Office 主题​​</vt:lpstr>
      <vt:lpstr>1_Office 主题​​</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zhangyi</dc:creator>
  <cp:lastModifiedBy>张毅</cp:lastModifiedBy>
  <cp:revision>173</cp:revision>
  <dcterms:created xsi:type="dcterms:W3CDTF">2021-05-07T15:41:00Z</dcterms:created>
  <dcterms:modified xsi:type="dcterms:W3CDTF">2025-05-31T08:41:56Z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2052-12.1.0.16910</vt:lpwstr>
  </property>
  <property fmtid="{D5CDD505-2E9C-101B-9397-08002B2CF9AE}" pid="3" name="ICV">
    <vt:lpwstr>DDEF25C0FA02431A82108160349A6248</vt:lpwstr>
  </property>
</Properties>
</file>