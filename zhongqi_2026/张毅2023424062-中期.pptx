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15">
  <p:sldMasterIdLst>
    <p:sldMasterId id="2147483648" r:id="rId1"/>
    <p:sldMasterId id="2147483660" r:id="rId2"/>
  </p:sldMasterIdLst>
  <p:notesMasterIdLst>
    <p:notesMasterId r:id="rId26"/>
  </p:notesMasterIdLst>
  <p:sldIdLst>
    <p:sldId id="260" r:id="rId3"/>
    <p:sldId id="257" r:id="rId4"/>
    <p:sldId id="294" r:id="rId5"/>
    <p:sldId id="389" r:id="rId6"/>
    <p:sldId id="421" r:id="rId7"/>
    <p:sldId id="422" r:id="rId8"/>
    <p:sldId id="293" r:id="rId9"/>
    <p:sldId id="431" r:id="rId10"/>
    <p:sldId id="432" r:id="rId11"/>
    <p:sldId id="292" r:id="rId12"/>
    <p:sldId id="433" r:id="rId13"/>
    <p:sldId id="435" r:id="rId14"/>
    <p:sldId id="291" r:id="rId15"/>
    <p:sldId id="436" r:id="rId16"/>
    <p:sldId id="437" r:id="rId17"/>
    <p:sldId id="438" r:id="rId18"/>
    <p:sldId id="439" r:id="rId19"/>
    <p:sldId id="430" r:id="rId20"/>
    <p:sldId id="388" r:id="rId21"/>
    <p:sldId id="416" r:id="rId22"/>
    <p:sldId id="418" r:id="rId23"/>
    <p:sldId id="419" r:id="rId24"/>
    <p:sldId id="288" r:id="rId25"/>
  </p:sldIdLst>
  <p:sldSz cx="12192000" cy="6858000"/>
  <p:notesSz cx="6858000" cy="9144000"/>
  <p:embeddedFontLst>
    <p:embeddedFont>
      <p:font typeface="楷体" panose="02010609060101010101" pitchFamily="49" charset="-122"/>
      <p:regular r:id="rId27"/>
    </p:embeddedFont>
    <p:embeddedFont>
      <p:font typeface="微软雅黑" panose="020B0503020204020204" pitchFamily="34" charset="-122"/>
      <p:regular r:id="rId28"/>
      <p:bold r:id="rId29"/>
    </p:embeddedFont>
  </p:embeddedFontLst>
  <p:custDataLst>
    <p:tags r:id="rId30"/>
  </p:custDataLst>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 userDrawn="1">
          <p15:clr>
            <a:srgbClr val="A4A3A4"/>
          </p15:clr>
        </p15:guide>
        <p15:guide id="2" orient="horz" pos="2469" userDrawn="1">
          <p15:clr>
            <a:srgbClr val="A4A3A4"/>
          </p15:clr>
        </p15:guide>
        <p15:guide id="3" orient="horz" pos="3228" userDrawn="1">
          <p15:clr>
            <a:srgbClr val="A4A3A4"/>
          </p15:clr>
        </p15:guide>
        <p15:guide id="4" pos="6943" userDrawn="1">
          <p15:clr>
            <a:srgbClr val="A4A3A4"/>
          </p15:clr>
        </p15:guide>
        <p15:guide id="5" pos="19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 yi" initials="zy" lastIdx="1" clrIdx="0"/>
  <p:cmAuthor id="2" name="毅 张" initials="毅"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B7B"/>
    <a:srgbClr val="0A2B7C"/>
    <a:srgbClr val="0D2971"/>
    <a:srgbClr val="062C82"/>
    <a:srgbClr val="0B2B78"/>
    <a:srgbClr val="666666"/>
    <a:srgbClr val="0A377B"/>
    <a:srgbClr val="0C2A73"/>
    <a:srgbClr val="0C2A75"/>
    <a:srgbClr val="92D1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5664" autoAdjust="0"/>
  </p:normalViewPr>
  <p:slideViewPr>
    <p:cSldViewPr snapToGrid="0" showGuides="1">
      <p:cViewPr varScale="1">
        <p:scale>
          <a:sx n="96" d="100"/>
          <a:sy n="96" d="100"/>
        </p:scale>
        <p:origin x="516" y="52"/>
      </p:cViewPr>
      <p:guideLst>
        <p:guide orient="horz" pos="270"/>
        <p:guide orient="horz" pos="2469"/>
        <p:guide orient="horz" pos="3228"/>
        <p:guide pos="6943"/>
        <p:guide pos="1952"/>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毅" userId="be8211fc-84c4-45de-9048-aad7380c219f" providerId="ADAL" clId="{F8AF9390-4132-45DA-A7F1-3ABFE3880586}"/>
    <pc:docChg chg="undo redo custSel addSld delSld modSld sldOrd modMainMaster">
      <pc:chgData name="张毅" userId="be8211fc-84c4-45de-9048-aad7380c219f" providerId="ADAL" clId="{F8AF9390-4132-45DA-A7F1-3ABFE3880586}" dt="2024-10-14T12:20:45.476" v="1637" actId="20577"/>
      <pc:docMkLst>
        <pc:docMk/>
      </pc:docMkLst>
      <pc:sldChg chg="modSp mod modNotesTx">
        <pc:chgData name="张毅" userId="be8211fc-84c4-45de-9048-aad7380c219f" providerId="ADAL" clId="{F8AF9390-4132-45DA-A7F1-3ABFE3880586}" dt="2024-10-13T13:23:30.713" v="1325" actId="20577"/>
        <pc:sldMkLst>
          <pc:docMk/>
          <pc:sldMk cId="0" sldId="257"/>
        </pc:sldMkLst>
      </pc:sldChg>
      <pc:sldChg chg="modSp mod modNotesTx">
        <pc:chgData name="张毅" userId="be8211fc-84c4-45de-9048-aad7380c219f" providerId="ADAL" clId="{F8AF9390-4132-45DA-A7F1-3ABFE3880586}" dt="2024-10-13T13:23:11.720" v="1309" actId="20577"/>
        <pc:sldMkLst>
          <pc:docMk/>
          <pc:sldMk cId="0" sldId="260"/>
        </pc:sldMkLst>
      </pc:sldChg>
      <pc:sldChg chg="delSp modSp add del mod modTransition modClrScheme chgLayout">
        <pc:chgData name="张毅" userId="be8211fc-84c4-45de-9048-aad7380c219f" providerId="ADAL" clId="{F8AF9390-4132-45DA-A7F1-3ABFE3880586}" dt="2024-10-12T13:40:16.522" v="668" actId="47"/>
        <pc:sldMkLst>
          <pc:docMk/>
          <pc:sldMk cId="911598386" sldId="261"/>
        </pc:sldMkLst>
      </pc:sldChg>
      <pc:sldChg chg="add del modTransition">
        <pc:chgData name="张毅" userId="be8211fc-84c4-45de-9048-aad7380c219f" providerId="ADAL" clId="{F8AF9390-4132-45DA-A7F1-3ABFE3880586}" dt="2024-10-12T14:42:59.663" v="1047"/>
        <pc:sldMkLst>
          <pc:docMk/>
          <pc:sldMk cId="4099270291" sldId="283"/>
        </pc:sldMkLst>
      </pc:sldChg>
      <pc:sldChg chg="addSp modSp mod">
        <pc:chgData name="张毅" userId="be8211fc-84c4-45de-9048-aad7380c219f" providerId="ADAL" clId="{F8AF9390-4132-45DA-A7F1-3ABFE3880586}" dt="2024-10-12T10:32:12.654" v="550" actId="2711"/>
        <pc:sldMkLst>
          <pc:docMk/>
          <pc:sldMk cId="0" sldId="288"/>
        </pc:sldMkLst>
      </pc:sldChg>
      <pc:sldChg chg="addSp delSp modSp mod">
        <pc:chgData name="张毅" userId="be8211fc-84c4-45de-9048-aad7380c219f" providerId="ADAL" clId="{F8AF9390-4132-45DA-A7F1-3ABFE3880586}" dt="2024-10-12T08:21:48.857" v="395" actId="478"/>
        <pc:sldMkLst>
          <pc:docMk/>
          <pc:sldMk cId="0" sldId="291"/>
        </pc:sldMkLst>
      </pc:sldChg>
      <pc:sldChg chg="addSp delSp modSp mod">
        <pc:chgData name="张毅" userId="be8211fc-84c4-45de-9048-aad7380c219f" providerId="ADAL" clId="{F8AF9390-4132-45DA-A7F1-3ABFE3880586}" dt="2024-10-12T08:21:46.361" v="394" actId="478"/>
        <pc:sldMkLst>
          <pc:docMk/>
          <pc:sldMk cId="0" sldId="292"/>
        </pc:sldMkLst>
      </pc:sldChg>
      <pc:sldChg chg="addSp delSp modSp mod">
        <pc:chgData name="张毅" userId="be8211fc-84c4-45de-9048-aad7380c219f" providerId="ADAL" clId="{F8AF9390-4132-45DA-A7F1-3ABFE3880586}" dt="2024-10-12T08:21:39.409" v="393" actId="478"/>
        <pc:sldMkLst>
          <pc:docMk/>
          <pc:sldMk cId="0" sldId="293"/>
        </pc:sldMkLst>
      </pc:sldChg>
      <pc:sldChg chg="addSp delSp modSp mod modNotesTx">
        <pc:chgData name="张毅" userId="be8211fc-84c4-45de-9048-aad7380c219f" providerId="ADAL" clId="{F8AF9390-4132-45DA-A7F1-3ABFE3880586}" dt="2024-10-14T08:53:42.794" v="1633" actId="1076"/>
        <pc:sldMkLst>
          <pc:docMk/>
          <pc:sldMk cId="0" sldId="294"/>
        </pc:sldMkLst>
      </pc:sldChg>
      <pc:sldChg chg="delSp add del mod modTransition">
        <pc:chgData name="张毅" userId="be8211fc-84c4-45de-9048-aad7380c219f" providerId="ADAL" clId="{F8AF9390-4132-45DA-A7F1-3ABFE3880586}" dt="2024-10-12T13:23:46.429" v="561" actId="47"/>
        <pc:sldMkLst>
          <pc:docMk/>
          <pc:sldMk cId="3240047404" sldId="295"/>
        </pc:sldMkLst>
      </pc:sldChg>
      <pc:sldChg chg="del">
        <pc:chgData name="张毅" userId="be8211fc-84c4-45de-9048-aad7380c219f" providerId="ADAL" clId="{F8AF9390-4132-45DA-A7F1-3ABFE3880586}" dt="2024-10-12T14:38:26.112" v="957" actId="47"/>
        <pc:sldMkLst>
          <pc:docMk/>
          <pc:sldMk cId="0" sldId="379"/>
        </pc:sldMkLst>
      </pc:sldChg>
      <pc:sldChg chg="del">
        <pc:chgData name="张毅" userId="be8211fc-84c4-45de-9048-aad7380c219f" providerId="ADAL" clId="{F8AF9390-4132-45DA-A7F1-3ABFE3880586}" dt="2024-10-12T14:39:06.254" v="969" actId="47"/>
        <pc:sldMkLst>
          <pc:docMk/>
          <pc:sldMk cId="0" sldId="380"/>
        </pc:sldMkLst>
      </pc:sldChg>
      <pc:sldChg chg="add del">
        <pc:chgData name="张毅" userId="be8211fc-84c4-45de-9048-aad7380c219f" providerId="ADAL" clId="{F8AF9390-4132-45DA-A7F1-3ABFE3880586}" dt="2024-10-12T14:39:38.045" v="975" actId="47"/>
        <pc:sldMkLst>
          <pc:docMk/>
          <pc:sldMk cId="0" sldId="382"/>
        </pc:sldMkLst>
      </pc:sldChg>
      <pc:sldChg chg="del">
        <pc:chgData name="张毅" userId="be8211fc-84c4-45de-9048-aad7380c219f" providerId="ADAL" clId="{F8AF9390-4132-45DA-A7F1-3ABFE3880586}" dt="2024-10-12T08:15:51.295" v="353" actId="47"/>
        <pc:sldMkLst>
          <pc:docMk/>
          <pc:sldMk cId="0" sldId="386"/>
        </pc:sldMkLst>
      </pc:sldChg>
      <pc:sldChg chg="addSp delSp modSp mod">
        <pc:chgData name="张毅" userId="be8211fc-84c4-45de-9048-aad7380c219f" providerId="ADAL" clId="{F8AF9390-4132-45DA-A7F1-3ABFE3880586}" dt="2024-10-12T08:26:18.062" v="429" actId="1076"/>
        <pc:sldMkLst>
          <pc:docMk/>
          <pc:sldMk cId="0" sldId="388"/>
        </pc:sldMkLst>
      </pc:sldChg>
      <pc:sldChg chg="addSp delSp modSp mod modNotesTx">
        <pc:chgData name="张毅" userId="be8211fc-84c4-45de-9048-aad7380c219f" providerId="ADAL" clId="{F8AF9390-4132-45DA-A7F1-3ABFE3880586}" dt="2024-10-14T08:53:52.432" v="1635" actId="1076"/>
        <pc:sldMkLst>
          <pc:docMk/>
          <pc:sldMk cId="0" sldId="389"/>
        </pc:sldMkLst>
      </pc:sldChg>
      <pc:sldChg chg="addSp delSp modSp add del mod">
        <pc:chgData name="张毅" userId="be8211fc-84c4-45de-9048-aad7380c219f" providerId="ADAL" clId="{F8AF9390-4132-45DA-A7F1-3ABFE3880586}" dt="2024-10-12T13:54:08.640" v="776" actId="47"/>
        <pc:sldMkLst>
          <pc:docMk/>
          <pc:sldMk cId="0" sldId="390"/>
        </pc:sldMkLst>
      </pc:sldChg>
      <pc:sldChg chg="del">
        <pc:chgData name="张毅" userId="be8211fc-84c4-45de-9048-aad7380c219f" providerId="ADAL" clId="{F8AF9390-4132-45DA-A7F1-3ABFE3880586}" dt="2024-10-12T13:54:07.743" v="775" actId="47"/>
        <pc:sldMkLst>
          <pc:docMk/>
          <pc:sldMk cId="0" sldId="391"/>
        </pc:sldMkLst>
      </pc:sldChg>
      <pc:sldChg chg="del">
        <pc:chgData name="张毅" userId="be8211fc-84c4-45de-9048-aad7380c219f" providerId="ADAL" clId="{F8AF9390-4132-45DA-A7F1-3ABFE3880586}" dt="2024-10-12T14:38:26.650" v="958" actId="47"/>
        <pc:sldMkLst>
          <pc:docMk/>
          <pc:sldMk cId="0" sldId="392"/>
        </pc:sldMkLst>
      </pc:sldChg>
      <pc:sldChg chg="del">
        <pc:chgData name="张毅" userId="be8211fc-84c4-45de-9048-aad7380c219f" providerId="ADAL" clId="{F8AF9390-4132-45DA-A7F1-3ABFE3880586}" dt="2024-10-12T14:38:27.201" v="959" actId="47"/>
        <pc:sldMkLst>
          <pc:docMk/>
          <pc:sldMk cId="0" sldId="408"/>
        </pc:sldMkLst>
      </pc:sldChg>
      <pc:sldChg chg="del">
        <pc:chgData name="张毅" userId="be8211fc-84c4-45de-9048-aad7380c219f" providerId="ADAL" clId="{F8AF9390-4132-45DA-A7F1-3ABFE3880586}" dt="2024-10-12T14:38:27.769" v="960" actId="47"/>
        <pc:sldMkLst>
          <pc:docMk/>
          <pc:sldMk cId="0" sldId="412"/>
        </pc:sldMkLst>
      </pc:sldChg>
      <pc:sldChg chg="del">
        <pc:chgData name="张毅" userId="be8211fc-84c4-45de-9048-aad7380c219f" providerId="ADAL" clId="{F8AF9390-4132-45DA-A7F1-3ABFE3880586}" dt="2024-10-12T14:38:28.375" v="961" actId="47"/>
        <pc:sldMkLst>
          <pc:docMk/>
          <pc:sldMk cId="0" sldId="413"/>
        </pc:sldMkLst>
      </pc:sldChg>
      <pc:sldChg chg="del">
        <pc:chgData name="张毅" userId="be8211fc-84c4-45de-9048-aad7380c219f" providerId="ADAL" clId="{F8AF9390-4132-45DA-A7F1-3ABFE3880586}" dt="2024-10-12T14:38:30.487" v="963" actId="47"/>
        <pc:sldMkLst>
          <pc:docMk/>
          <pc:sldMk cId="0" sldId="414"/>
        </pc:sldMkLst>
      </pc:sldChg>
      <pc:sldChg chg="addSp delSp modSp del mod">
        <pc:chgData name="张毅" userId="be8211fc-84c4-45de-9048-aad7380c219f" providerId="ADAL" clId="{F8AF9390-4132-45DA-A7F1-3ABFE3880586}" dt="2024-10-12T08:15:50.218" v="352" actId="47"/>
        <pc:sldMkLst>
          <pc:docMk/>
          <pc:sldMk cId="4274048392" sldId="415"/>
        </pc:sldMkLst>
      </pc:sldChg>
      <pc:sldChg chg="addSp delSp modSp add del mod modClrScheme chgLayout modNotesTx">
        <pc:chgData name="张毅" userId="be8211fc-84c4-45de-9048-aad7380c219f" providerId="ADAL" clId="{F8AF9390-4132-45DA-A7F1-3ABFE3880586}" dt="2024-10-14T12:20:45.476" v="1637" actId="20577"/>
        <pc:sldMkLst>
          <pc:docMk/>
          <pc:sldMk cId="4206428679" sldId="416"/>
        </pc:sldMkLst>
      </pc:sldChg>
      <pc:sldChg chg="delSp modSp mod">
        <pc:chgData name="张毅" userId="be8211fc-84c4-45de-9048-aad7380c219f" providerId="ADAL" clId="{F8AF9390-4132-45DA-A7F1-3ABFE3880586}" dt="2024-10-12T08:21:53.633" v="397" actId="478"/>
        <pc:sldMkLst>
          <pc:docMk/>
          <pc:sldMk cId="3992255507" sldId="418"/>
        </pc:sldMkLst>
      </pc:sldChg>
      <pc:sldChg chg="addSp delSp modSp mod modClrScheme chgLayout">
        <pc:chgData name="张毅" userId="be8211fc-84c4-45de-9048-aad7380c219f" providerId="ADAL" clId="{F8AF9390-4132-45DA-A7F1-3ABFE3880586}" dt="2024-10-12T14:53:23.699" v="1201" actId="948"/>
        <pc:sldMkLst>
          <pc:docMk/>
          <pc:sldMk cId="1172850378" sldId="419"/>
        </pc:sldMkLst>
      </pc:sldChg>
      <pc:sldChg chg="addSp modSp new del mod">
        <pc:chgData name="张毅" userId="be8211fc-84c4-45de-9048-aad7380c219f" providerId="ADAL" clId="{F8AF9390-4132-45DA-A7F1-3ABFE3880586}" dt="2024-10-12T14:50:32.715" v="1154" actId="47"/>
        <pc:sldMkLst>
          <pc:docMk/>
          <pc:sldMk cId="3915195759" sldId="420"/>
        </pc:sldMkLst>
      </pc:sldChg>
      <pc:sldChg chg="addSp delSp modSp new mod ord modNotesTx">
        <pc:chgData name="张毅" userId="be8211fc-84c4-45de-9048-aad7380c219f" providerId="ADAL" clId="{F8AF9390-4132-45DA-A7F1-3ABFE3880586}" dt="2024-10-13T13:27:13.593" v="1353" actId="20577"/>
        <pc:sldMkLst>
          <pc:docMk/>
          <pc:sldMk cId="2697568164" sldId="421"/>
        </pc:sldMkLst>
      </pc:sldChg>
      <pc:sldChg chg="addSp delSp modSp new mod modAnim modNotesTx">
        <pc:chgData name="张毅" userId="be8211fc-84c4-45de-9048-aad7380c219f" providerId="ADAL" clId="{F8AF9390-4132-45DA-A7F1-3ABFE3880586}" dt="2024-10-14T08:30:42.846" v="1610" actId="113"/>
        <pc:sldMkLst>
          <pc:docMk/>
          <pc:sldMk cId="3697287723" sldId="422"/>
        </pc:sldMkLst>
      </pc:sldChg>
      <pc:sldChg chg="addSp modSp new">
        <pc:chgData name="张毅" userId="be8211fc-84c4-45de-9048-aad7380c219f" providerId="ADAL" clId="{F8AF9390-4132-45DA-A7F1-3ABFE3880586}" dt="2024-10-12T14:38:37.854" v="964"/>
        <pc:sldMkLst>
          <pc:docMk/>
          <pc:sldMk cId="79449365" sldId="423"/>
        </pc:sldMkLst>
      </pc:sldChg>
      <pc:sldChg chg="addSp modSp new">
        <pc:chgData name="张毅" userId="be8211fc-84c4-45de-9048-aad7380c219f" providerId="ADAL" clId="{F8AF9390-4132-45DA-A7F1-3ABFE3880586}" dt="2024-10-12T14:38:49.673" v="967"/>
        <pc:sldMkLst>
          <pc:docMk/>
          <pc:sldMk cId="2575366981" sldId="424"/>
        </pc:sldMkLst>
      </pc:sldChg>
      <pc:sldChg chg="addSp modSp new mod">
        <pc:chgData name="张毅" userId="be8211fc-84c4-45de-9048-aad7380c219f" providerId="ADAL" clId="{F8AF9390-4132-45DA-A7F1-3ABFE3880586}" dt="2024-10-12T14:39:18.149" v="971"/>
        <pc:sldMkLst>
          <pc:docMk/>
          <pc:sldMk cId="3710972526" sldId="425"/>
        </pc:sldMkLst>
      </pc:sldChg>
      <pc:sldChg chg="addSp delSp modSp new mod">
        <pc:chgData name="张毅" userId="be8211fc-84c4-45de-9048-aad7380c219f" providerId="ADAL" clId="{F8AF9390-4132-45DA-A7F1-3ABFE3880586}" dt="2024-10-12T14:40:42.477" v="993" actId="1076"/>
        <pc:sldMkLst>
          <pc:docMk/>
          <pc:sldMk cId="1987890813" sldId="426"/>
        </pc:sldMkLst>
      </pc:sldChg>
      <pc:sldChg chg="addSp delSp modSp new mod">
        <pc:chgData name="张毅" userId="be8211fc-84c4-45de-9048-aad7380c219f" providerId="ADAL" clId="{F8AF9390-4132-45DA-A7F1-3ABFE3880586}" dt="2024-10-12T14:41:08.306" v="1007" actId="1076"/>
        <pc:sldMkLst>
          <pc:docMk/>
          <pc:sldMk cId="2138430623" sldId="427"/>
        </pc:sldMkLst>
      </pc:sldChg>
      <pc:sldChg chg="addSp delSp modSp new mod">
        <pc:chgData name="张毅" userId="be8211fc-84c4-45de-9048-aad7380c219f" providerId="ADAL" clId="{F8AF9390-4132-45DA-A7F1-3ABFE3880586}" dt="2024-10-12T14:41:33.422" v="1018" actId="1076"/>
        <pc:sldMkLst>
          <pc:docMk/>
          <pc:sldMk cId="2514388127" sldId="428"/>
        </pc:sldMkLst>
      </pc:sldChg>
      <pc:sldChg chg="addSp delSp modSp new mod">
        <pc:chgData name="张毅" userId="be8211fc-84c4-45de-9048-aad7380c219f" providerId="ADAL" clId="{F8AF9390-4132-45DA-A7F1-3ABFE3880586}" dt="2024-10-12T14:42:21.222" v="1034" actId="478"/>
        <pc:sldMkLst>
          <pc:docMk/>
          <pc:sldMk cId="2054742467" sldId="429"/>
        </pc:sldMkLst>
      </pc:sldChg>
      <pc:sldChg chg="addSp delSp modSp new mod">
        <pc:chgData name="张毅" userId="be8211fc-84c4-45de-9048-aad7380c219f" providerId="ADAL" clId="{F8AF9390-4132-45DA-A7F1-3ABFE3880586}" dt="2024-10-13T13:44:24.606" v="1523" actId="1076"/>
        <pc:sldMkLst>
          <pc:docMk/>
          <pc:sldMk cId="3043386979" sldId="430"/>
        </pc:sldMkLst>
      </pc:sldChg>
      <pc:sldChg chg="modNotes modNotesTx">
        <pc:chgData name="张毅" userId="be8211fc-84c4-45de-9048-aad7380c219f" providerId="ADAL" clId="{F8AF9390-4132-45DA-A7F1-3ABFE3880586}" dt="2024-10-13T13:37:19.463" v="1466" actId="20577"/>
        <pc:sldMkLst>
          <pc:docMk/>
          <pc:sldMk cId="4093501747" sldId="431"/>
        </pc:sldMkLst>
      </pc:sldChg>
      <pc:sldChg chg="modSp mod modNotesTx">
        <pc:chgData name="张毅" userId="be8211fc-84c4-45de-9048-aad7380c219f" providerId="ADAL" clId="{F8AF9390-4132-45DA-A7F1-3ABFE3880586}" dt="2024-10-14T08:35:13.590" v="1620"/>
        <pc:sldMkLst>
          <pc:docMk/>
          <pc:sldMk cId="2699842241" sldId="432"/>
        </pc:sldMkLst>
      </pc:sldChg>
      <pc:sldChg chg="modSp mod modNotesTx">
        <pc:chgData name="张毅" userId="be8211fc-84c4-45de-9048-aad7380c219f" providerId="ADAL" clId="{F8AF9390-4132-45DA-A7F1-3ABFE3880586}" dt="2024-10-13T14:08:46.565" v="1566" actId="20577"/>
        <pc:sldMkLst>
          <pc:docMk/>
          <pc:sldMk cId="528262655" sldId="433"/>
        </pc:sldMkLst>
      </pc:sldChg>
      <pc:sldChg chg="modSp mod modNotesTx">
        <pc:chgData name="张毅" userId="be8211fc-84c4-45de-9048-aad7380c219f" providerId="ADAL" clId="{F8AF9390-4132-45DA-A7F1-3ABFE3880586}" dt="2024-10-13T14:09:04.278" v="1567" actId="20577"/>
        <pc:sldMkLst>
          <pc:docMk/>
          <pc:sldMk cId="905923339" sldId="435"/>
        </pc:sldMkLst>
      </pc:sldChg>
      <pc:sldChg chg="modSp mod">
        <pc:chgData name="张毅" userId="be8211fc-84c4-45de-9048-aad7380c219f" providerId="ADAL" clId="{F8AF9390-4132-45DA-A7F1-3ABFE3880586}" dt="2024-10-13T13:50:28.445" v="1541" actId="1076"/>
        <pc:sldMkLst>
          <pc:docMk/>
          <pc:sldMk cId="56252174" sldId="437"/>
        </pc:sldMkLst>
      </pc:sldChg>
      <pc:sldChg chg="addSp delSp modSp mod">
        <pc:chgData name="张毅" userId="be8211fc-84c4-45de-9048-aad7380c219f" providerId="ADAL" clId="{F8AF9390-4132-45DA-A7F1-3ABFE3880586}" dt="2024-10-13T13:50:18.139" v="1540" actId="1076"/>
        <pc:sldMkLst>
          <pc:docMk/>
          <pc:sldMk cId="3484009535" sldId="438"/>
        </pc:sldMkLst>
      </pc:sldChg>
      <pc:sldChg chg="modSp mod">
        <pc:chgData name="张毅" userId="be8211fc-84c4-45de-9048-aad7380c219f" providerId="ADAL" clId="{F8AF9390-4132-45DA-A7F1-3ABFE3880586}" dt="2024-10-14T08:44:06.120" v="1622" actId="123"/>
        <pc:sldMkLst>
          <pc:docMk/>
          <pc:sldMk cId="2021362712" sldId="439"/>
        </pc:sldMkLst>
      </pc:sldChg>
      <pc:sldMasterChg chg="modSldLayout">
        <pc:chgData name="张毅" userId="be8211fc-84c4-45de-9048-aad7380c219f" providerId="ADAL" clId="{F8AF9390-4132-45DA-A7F1-3ABFE3880586}" dt="2024-10-12T08:31:45.716" v="526"/>
        <pc:sldMasterMkLst>
          <pc:docMk/>
          <pc:sldMasterMk cId="0" sldId="2147483660"/>
        </pc:sldMasterMkLst>
        <pc:sldLayoutChg chg="modSp mod">
          <pc:chgData name="张毅" userId="be8211fc-84c4-45de-9048-aad7380c219f" providerId="ADAL" clId="{F8AF9390-4132-45DA-A7F1-3ABFE3880586}" dt="2024-10-12T07:49:28.254" v="6"/>
          <pc:sldLayoutMkLst>
            <pc:docMk/>
            <pc:sldMasterMk cId="0" sldId="2147483660"/>
            <pc:sldLayoutMk cId="0" sldId="2147483667"/>
          </pc:sldLayoutMkLst>
        </pc:sldLayoutChg>
        <pc:sldLayoutChg chg="modSp mod">
          <pc:chgData name="张毅" userId="be8211fc-84c4-45de-9048-aad7380c219f" providerId="ADAL" clId="{F8AF9390-4132-45DA-A7F1-3ABFE3880586}" dt="2024-10-12T07:49:37.238" v="13"/>
          <pc:sldLayoutMkLst>
            <pc:docMk/>
            <pc:sldMasterMk cId="0" sldId="2147483660"/>
            <pc:sldLayoutMk cId="0" sldId="2147483668"/>
          </pc:sldLayoutMkLst>
        </pc:sldLayoutChg>
        <pc:sldLayoutChg chg="modSp mod">
          <pc:chgData name="张毅" userId="be8211fc-84c4-45de-9048-aad7380c219f" providerId="ADAL" clId="{F8AF9390-4132-45DA-A7F1-3ABFE3880586}" dt="2024-10-12T08:31:35.954" v="523" actId="20577"/>
          <pc:sldLayoutMkLst>
            <pc:docMk/>
            <pc:sldMasterMk cId="0" sldId="2147483660"/>
            <pc:sldLayoutMk cId="0" sldId="2147483669"/>
          </pc:sldLayoutMkLst>
        </pc:sldLayoutChg>
        <pc:sldLayoutChg chg="modSp mod">
          <pc:chgData name="张毅" userId="be8211fc-84c4-45de-9048-aad7380c219f" providerId="ADAL" clId="{F8AF9390-4132-45DA-A7F1-3ABFE3880586}" dt="2024-10-12T07:51:28.717" v="53"/>
          <pc:sldLayoutMkLst>
            <pc:docMk/>
            <pc:sldMasterMk cId="0" sldId="2147483660"/>
            <pc:sldLayoutMk cId="0" sldId="2147483670"/>
          </pc:sldLayoutMkLst>
        </pc:sldLayoutChg>
        <pc:sldLayoutChg chg="modSp mod">
          <pc:chgData name="张毅" userId="be8211fc-84c4-45de-9048-aad7380c219f" providerId="ADAL" clId="{F8AF9390-4132-45DA-A7F1-3ABFE3880586}" dt="2024-10-12T08:31:45.716" v="526"/>
          <pc:sldLayoutMkLst>
            <pc:docMk/>
            <pc:sldMasterMk cId="0" sldId="2147483660"/>
            <pc:sldLayoutMk cId="145804754" sldId="2147483677"/>
          </pc:sldLayoutMkLst>
        </pc:sldLayoutChg>
        <pc:sldLayoutChg chg="modSp mod">
          <pc:chgData name="张毅" userId="be8211fc-84c4-45de-9048-aad7380c219f" providerId="ADAL" clId="{F8AF9390-4132-45DA-A7F1-3ABFE3880586}" dt="2024-10-12T07:52:29.344" v="73"/>
          <pc:sldLayoutMkLst>
            <pc:docMk/>
            <pc:sldMasterMk cId="0" sldId="2147483660"/>
            <pc:sldLayoutMk cId="1759881592" sldId="2147483678"/>
          </pc:sldLayoutMkLst>
        </pc:sldLayoutChg>
      </pc:sldMasterChg>
    </pc:docChg>
  </pc:docChgLst>
  <pc:docChgLst>
    <pc:chgData name="张毅" userId="69cae116-6285-4673-9751-3d9922030ec4" providerId="ADAL" clId="{11B4EC6A-39CE-476B-8C2F-76630000AA77}"/>
    <pc:docChg chg="modSld">
      <pc:chgData name="张毅" userId="69cae116-6285-4673-9751-3d9922030ec4" providerId="ADAL" clId="{11B4EC6A-39CE-476B-8C2F-76630000AA77}" dt="2025-05-31T08:54:28.597" v="4" actId="1076"/>
      <pc:docMkLst>
        <pc:docMk/>
      </pc:docMkLst>
      <pc:sldChg chg="modSp mod">
        <pc:chgData name="张毅" userId="69cae116-6285-4673-9751-3d9922030ec4" providerId="ADAL" clId="{11B4EC6A-39CE-476B-8C2F-76630000AA77}" dt="2025-05-31T08:54:28.597" v="4" actId="1076"/>
        <pc:sldMkLst>
          <pc:docMk/>
          <pc:sldMk cId="0" sldId="260"/>
        </pc:sldMkLst>
        <pc:spChg chg="mod">
          <ac:chgData name="张毅" userId="69cae116-6285-4673-9751-3d9922030ec4" providerId="ADAL" clId="{11B4EC6A-39CE-476B-8C2F-76630000AA77}" dt="2025-05-20T11:58:19.014" v="2"/>
          <ac:spMkLst>
            <pc:docMk/>
            <pc:sldMk cId="0" sldId="260"/>
            <ac:spMk id="4" creationId="{00000000-0000-0000-0000-000000000000}"/>
          </ac:spMkLst>
        </pc:spChg>
        <pc:spChg chg="mod">
          <ac:chgData name="张毅" userId="69cae116-6285-4673-9751-3d9922030ec4" providerId="ADAL" clId="{11B4EC6A-39CE-476B-8C2F-76630000AA77}" dt="2025-05-31T08:54:28.597" v="4" actId="1076"/>
          <ac:spMkLst>
            <pc:docMk/>
            <pc:sldMk cId="0" sldId="260"/>
            <ac:spMk id="18" creationId="{00000000-0000-0000-0000-000000000000}"/>
          </ac:spMkLst>
        </pc:spChg>
      </pc:sldChg>
    </pc:docChg>
  </pc:docChgLst>
  <pc:docChgLst>
    <pc:chgData name="毅 张" userId="be8211fc-84c4-45de-9048-aad7380c219f" providerId="ADAL" clId="{964A2025-C917-4A0A-B633-8664B1B42571}"/>
    <pc:docChg chg="undo redo custSel delSld modSld">
      <pc:chgData name="毅 张" userId="be8211fc-84c4-45de-9048-aad7380c219f" providerId="ADAL" clId="{964A2025-C917-4A0A-B633-8664B1B42571}" dt="2024-05-17T02:57:10.070" v="428" actId="1076"/>
      <pc:docMkLst>
        <pc:docMk/>
      </pc:docMkLst>
      <pc:sldChg chg="modSp mod">
        <pc:chgData name="毅 张" userId="be8211fc-84c4-45de-9048-aad7380c219f" providerId="ADAL" clId="{964A2025-C917-4A0A-B633-8664B1B42571}" dt="2024-05-17T02:19:46.200" v="64" actId="207"/>
        <pc:sldMkLst>
          <pc:docMk/>
          <pc:sldMk cId="0" sldId="379"/>
        </pc:sldMkLst>
      </pc:sldChg>
      <pc:sldChg chg="modSp mod">
        <pc:chgData name="毅 张" userId="be8211fc-84c4-45de-9048-aad7380c219f" providerId="ADAL" clId="{964A2025-C917-4A0A-B633-8664B1B42571}" dt="2024-05-17T02:52:47.125" v="326" actId="14100"/>
        <pc:sldMkLst>
          <pc:docMk/>
          <pc:sldMk cId="0" sldId="380"/>
        </pc:sldMkLst>
      </pc:sldChg>
      <pc:sldChg chg="addSp delSp modSp mod">
        <pc:chgData name="毅 张" userId="be8211fc-84c4-45de-9048-aad7380c219f" providerId="ADAL" clId="{964A2025-C917-4A0A-B633-8664B1B42571}" dt="2024-05-17T02:53:46.870" v="347" actId="1076"/>
        <pc:sldMkLst>
          <pc:docMk/>
          <pc:sldMk cId="0" sldId="382"/>
        </pc:sldMkLst>
      </pc:sldChg>
      <pc:sldChg chg="addSp modSp mod">
        <pc:chgData name="毅 张" userId="be8211fc-84c4-45de-9048-aad7380c219f" providerId="ADAL" clId="{964A2025-C917-4A0A-B633-8664B1B42571}" dt="2024-05-17T02:57:10.070" v="428" actId="1076"/>
        <pc:sldMkLst>
          <pc:docMk/>
          <pc:sldMk cId="0" sldId="386"/>
        </pc:sldMkLst>
      </pc:sldChg>
      <pc:sldChg chg="del">
        <pc:chgData name="毅 张" userId="be8211fc-84c4-45de-9048-aad7380c219f" providerId="ADAL" clId="{964A2025-C917-4A0A-B633-8664B1B42571}" dt="2024-05-17T02:54:35.588" v="363" actId="47"/>
        <pc:sldMkLst>
          <pc:docMk/>
          <pc:sldMk cId="0" sldId="387"/>
        </pc:sldMkLst>
      </pc:sldChg>
      <pc:sldChg chg="modSp mod">
        <pc:chgData name="毅 张" userId="be8211fc-84c4-45de-9048-aad7380c219f" providerId="ADAL" clId="{964A2025-C917-4A0A-B633-8664B1B42571}" dt="2024-05-17T02:21:55.821" v="73" actId="1076"/>
        <pc:sldMkLst>
          <pc:docMk/>
          <pc:sldMk cId="0" sldId="392"/>
        </pc:sldMkLst>
      </pc:sldChg>
      <pc:sldChg chg="modSp mod">
        <pc:chgData name="毅 张" userId="be8211fc-84c4-45de-9048-aad7380c219f" providerId="ADAL" clId="{964A2025-C917-4A0A-B633-8664B1B42571}" dt="2024-05-17T02:30:12.626" v="140" actId="108"/>
        <pc:sldMkLst>
          <pc:docMk/>
          <pc:sldMk cId="0" sldId="408"/>
        </pc:sldMkLst>
      </pc:sldChg>
      <pc:sldChg chg="modSp mod">
        <pc:chgData name="毅 张" userId="be8211fc-84c4-45de-9048-aad7380c219f" providerId="ADAL" clId="{964A2025-C917-4A0A-B633-8664B1B42571}" dt="2024-05-17T02:33:30.861" v="181" actId="108"/>
        <pc:sldMkLst>
          <pc:docMk/>
          <pc:sldMk cId="0" sldId="412"/>
        </pc:sldMkLst>
      </pc:sldChg>
      <pc:sldChg chg="modSp mod">
        <pc:chgData name="毅 张" userId="be8211fc-84c4-45de-9048-aad7380c219f" providerId="ADAL" clId="{964A2025-C917-4A0A-B633-8664B1B42571}" dt="2024-05-17T02:43:39.992" v="227" actId="108"/>
        <pc:sldMkLst>
          <pc:docMk/>
          <pc:sldMk cId="0" sldId="413"/>
        </pc:sldMkLst>
      </pc:sldChg>
      <pc:sldChg chg="modSp mod">
        <pc:chgData name="毅 张" userId="be8211fc-84c4-45de-9048-aad7380c219f" providerId="ADAL" clId="{964A2025-C917-4A0A-B633-8664B1B42571}" dt="2024-05-17T02:47:05.507" v="283" actId="108"/>
        <pc:sldMkLst>
          <pc:docMk/>
          <pc:sldMk cId="0" sldId="414"/>
        </pc:sldMkLst>
      </pc:sldChg>
    </pc:docChg>
  </pc:docChgLst>
  <pc:docChgLst>
    <pc:chgData name="张毅" userId="539964a5-df36-45b0-8f08-3354a4827624" providerId="ADAL" clId="{902B4148-96EF-4A5E-9C3D-A74608945E98}"/>
    <pc:docChg chg="undo custSel addSld delSld modSld sldOrd">
      <pc:chgData name="张毅" userId="539964a5-df36-45b0-8f08-3354a4827624" providerId="ADAL" clId="{902B4148-96EF-4A5E-9C3D-A74608945E98}" dt="2024-10-06T10:21:17.492" v="106" actId="2711"/>
      <pc:docMkLst>
        <pc:docMk/>
      </pc:docMkLst>
      <pc:sldChg chg="addSp delSp modSp add mod setBg modNotes">
        <pc:chgData name="张毅" userId="539964a5-df36-45b0-8f08-3354a4827624" providerId="ADAL" clId="{902B4148-96EF-4A5E-9C3D-A74608945E98}" dt="2024-10-06T10:18:12.735" v="72" actId="478"/>
        <pc:sldMkLst>
          <pc:docMk/>
          <pc:sldMk cId="0" sldId="257"/>
        </pc:sldMkLst>
      </pc:sldChg>
      <pc:sldChg chg="modSp mod">
        <pc:chgData name="张毅" userId="539964a5-df36-45b0-8f08-3354a4827624" providerId="ADAL" clId="{902B4148-96EF-4A5E-9C3D-A74608945E98}" dt="2024-10-06T10:09:25.573" v="14" actId="1076"/>
        <pc:sldMkLst>
          <pc:docMk/>
          <pc:sldMk cId="0" sldId="260"/>
        </pc:sldMkLst>
      </pc:sldChg>
      <pc:sldChg chg="addSp delSp modSp mod">
        <pc:chgData name="张毅" userId="539964a5-df36-45b0-8f08-3354a4827624" providerId="ADAL" clId="{902B4148-96EF-4A5E-9C3D-A74608945E98}" dt="2024-10-06T10:10:04.642" v="21" actId="1076"/>
        <pc:sldMkLst>
          <pc:docMk/>
          <pc:sldMk cId="0" sldId="288"/>
        </pc:sldMkLst>
      </pc:sldChg>
      <pc:sldChg chg="addSp modSp">
        <pc:chgData name="张毅" userId="539964a5-df36-45b0-8f08-3354a4827624" providerId="ADAL" clId="{902B4148-96EF-4A5E-9C3D-A74608945E98}" dt="2024-10-06T10:15:35.491" v="38"/>
        <pc:sldMkLst>
          <pc:docMk/>
          <pc:sldMk cId="0" sldId="294"/>
        </pc:sldMkLst>
      </pc:sldChg>
      <pc:sldChg chg="addSp modSp del">
        <pc:chgData name="张毅" userId="539964a5-df36-45b0-8f08-3354a4827624" providerId="ADAL" clId="{902B4148-96EF-4A5E-9C3D-A74608945E98}" dt="2024-10-06T10:16:00.974" v="42" actId="47"/>
        <pc:sldMkLst>
          <pc:docMk/>
          <pc:sldMk cId="0" sldId="358"/>
        </pc:sldMkLst>
      </pc:sldChg>
      <pc:sldChg chg="ord">
        <pc:chgData name="张毅" userId="539964a5-df36-45b0-8f08-3354a4827624" providerId="ADAL" clId="{902B4148-96EF-4A5E-9C3D-A74608945E98}" dt="2024-10-06T10:19:09.663" v="81"/>
        <pc:sldMkLst>
          <pc:docMk/>
          <pc:sldMk cId="0" sldId="386"/>
        </pc:sldMkLst>
      </pc:sldChg>
      <pc:sldChg chg="delSp new del mod modClrScheme chgLayout">
        <pc:chgData name="张毅" userId="539964a5-df36-45b0-8f08-3354a4827624" providerId="ADAL" clId="{902B4148-96EF-4A5E-9C3D-A74608945E98}" dt="2024-10-06T10:14:58.713" v="27" actId="47"/>
        <pc:sldMkLst>
          <pc:docMk/>
          <pc:sldMk cId="2986209520" sldId="415"/>
        </pc:sldMkLst>
      </pc:sldChg>
      <pc:sldChg chg="addSp delSp modSp add del mod setBg">
        <pc:chgData name="张毅" userId="539964a5-df36-45b0-8f08-3354a4827624" providerId="ADAL" clId="{902B4148-96EF-4A5E-9C3D-A74608945E98}" dt="2024-10-06T10:15:34.385" v="37" actId="47"/>
        <pc:sldMkLst>
          <pc:docMk/>
          <pc:sldMk cId="4272449342" sldId="415"/>
        </pc:sldMkLst>
      </pc:sldChg>
      <pc:sldChg chg="add">
        <pc:chgData name="张毅" userId="539964a5-df36-45b0-8f08-3354a4827624" providerId="ADAL" clId="{902B4148-96EF-4A5E-9C3D-A74608945E98}" dt="2024-10-06T10:18:50.915" v="73"/>
        <pc:sldMkLst>
          <pc:docMk/>
          <pc:sldMk cId="4274048392" sldId="415"/>
        </pc:sldMkLst>
      </pc:sldChg>
      <pc:sldChg chg="add ord">
        <pc:chgData name="张毅" userId="539964a5-df36-45b0-8f08-3354a4827624" providerId="ADAL" clId="{902B4148-96EF-4A5E-9C3D-A74608945E98}" dt="2024-10-06T10:18:59.036" v="76"/>
        <pc:sldMkLst>
          <pc:docMk/>
          <pc:sldMk cId="4206428679" sldId="416"/>
        </pc:sldMkLst>
      </pc:sldChg>
      <pc:sldChg chg="delSp modSp new del mod ord modClrScheme chgLayout">
        <pc:chgData name="张毅" userId="539964a5-df36-45b0-8f08-3354a4827624" providerId="ADAL" clId="{902B4148-96EF-4A5E-9C3D-A74608945E98}" dt="2024-10-06T10:20:44.758" v="100" actId="47"/>
        <pc:sldMkLst>
          <pc:docMk/>
          <pc:sldMk cId="1922159430" sldId="417"/>
        </pc:sldMkLst>
      </pc:sldChg>
      <pc:sldChg chg="new del">
        <pc:chgData name="张毅" userId="539964a5-df36-45b0-8f08-3354a4827624" providerId="ADAL" clId="{902B4148-96EF-4A5E-9C3D-A74608945E98}" dt="2024-10-06T10:19:13.916" v="83" actId="680"/>
        <pc:sldMkLst>
          <pc:docMk/>
          <pc:sldMk cId="3651619159" sldId="418"/>
        </pc:sldMkLst>
      </pc:sldChg>
      <pc:sldChg chg="modSp add mod ord">
        <pc:chgData name="张毅" userId="539964a5-df36-45b0-8f08-3354a4827624" providerId="ADAL" clId="{902B4148-96EF-4A5E-9C3D-A74608945E98}" dt="2024-10-06T10:19:46.694" v="93" actId="1076"/>
        <pc:sldMkLst>
          <pc:docMk/>
          <pc:sldMk cId="3992255507" sldId="418"/>
        </pc:sldMkLst>
      </pc:sldChg>
      <pc:sldChg chg="addSp delSp modSp add mod ord">
        <pc:chgData name="张毅" userId="539964a5-df36-45b0-8f08-3354a4827624" providerId="ADAL" clId="{902B4148-96EF-4A5E-9C3D-A74608945E98}" dt="2024-10-06T10:21:17.492" v="106" actId="2711"/>
        <pc:sldMkLst>
          <pc:docMk/>
          <pc:sldMk cId="1172850378" sldId="4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各位评审老师，大家上午好，我是张毅，我拟定的题目基于高灵活性的分布式线控底盘车辆运动规划与控制研究 是在宗长富老师的指导下进行的</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接下来我将从以下</a:t>
            </a:r>
            <a:r>
              <a:rPr lang="en-US" altLang="zh-CN" dirty="0"/>
              <a:t>6</a:t>
            </a:r>
            <a:r>
              <a:rPr lang="zh-CN" altLang="en-US" dirty="0"/>
              <a:t>个方面来进行阐述</a:t>
            </a:r>
          </a:p>
        </p:txBody>
      </p:sp>
      <p:sp>
        <p:nvSpPr>
          <p:cNvPr id="4" name="灯片编号占位符 3"/>
          <p:cNvSpPr>
            <a:spLocks noGrp="1"/>
          </p:cNvSpPr>
          <p:nvPr>
            <p:ph type="sldNum" sz="quarter" idx="10"/>
          </p:nvPr>
        </p:nvSpPr>
        <p:spPr/>
        <p:txBody>
          <a:bodyPr/>
          <a:lstStyle/>
          <a:p>
            <a:fld id="{616D692C-C307-4C02-AC17-4596772F2DA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首先是研究背景及意义</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695257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我国汽车保有量在不断增长，但是随之而来的是交通事故发生的数量也不断提高，因此，对汽车主动安全性提出了更高的要求。</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099934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而且随着电动化和智能化的发展，对汽车底盘也提出了更高的要求，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sym typeface="字魂105号-简雅黑" panose="00000500000000000000" pitchFamily="2" charset="-122"/>
              </a:rPr>
              <a:t>同时目前阶段的智能电动汽车在高速行驶、紧急避撞等交通场景下，暴露出</a:t>
            </a:r>
            <a:r>
              <a:rPr lang="zh-CN" altLang="en-US" sz="1200" b="1" dirty="0">
                <a:latin typeface="微软雅黑" panose="020B0503020204020204" pitchFamily="34" charset="-122"/>
                <a:ea typeface="微软雅黑" panose="020B0503020204020204" pitchFamily="34" charset="-122"/>
                <a:sym typeface="字魂105号-简雅黑" panose="00000500000000000000" pitchFamily="2" charset="-122"/>
              </a:rPr>
              <a:t>安全性欠佳以及策略过于保守</a:t>
            </a:r>
            <a:r>
              <a:rPr lang="zh-CN" altLang="en-US" sz="1200" dirty="0">
                <a:latin typeface="微软雅黑" panose="020B0503020204020204" pitchFamily="34" charset="-122"/>
                <a:ea typeface="微软雅黑" panose="020B0503020204020204" pitchFamily="34" charset="-122"/>
                <a:sym typeface="字魂105号-简雅黑" panose="00000500000000000000" pitchFamily="2" charset="-122"/>
              </a:rPr>
              <a:t>等问题。</a:t>
            </a:r>
            <a:endParaRPr lang="en-US" altLang="zh-CN" sz="1200" dirty="0">
              <a:latin typeface="微软雅黑" panose="020B0503020204020204" pitchFamily="34" charset="-122"/>
              <a:ea typeface="微软雅黑" panose="020B0503020204020204" pitchFamily="34" charset="-122"/>
              <a:sym typeface="字魂105号-简雅黑" panose="00000500000000000000"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accent1"/>
                </a:solidFill>
                <a:effectLst/>
                <a:latin typeface="微软雅黑" panose="020B0503020204020204" pitchFamily="34" charset="-122"/>
                <a:ea typeface="微软雅黑" panose="020B0503020204020204" pitchFamily="34" charset="-122"/>
              </a:rPr>
              <a:t>分布式底盘电动汽车</a:t>
            </a:r>
            <a:r>
              <a:rPr lang="zh-CN" altLang="en-US" sz="1200" dirty="0">
                <a:latin typeface="微软雅黑" panose="020B0503020204020204" pitchFamily="34" charset="-122"/>
                <a:ea typeface="微软雅黑" panose="020B0503020204020204" pitchFamily="34" charset="-122"/>
                <a:sym typeface="字魂105号-简雅黑" panose="00000500000000000000" pitchFamily="2" charset="-122"/>
              </a:rPr>
              <a:t>凭借自身更为出色的动力学特性，</a:t>
            </a:r>
            <a:r>
              <a:rPr lang="zh-CN" altLang="en-US" sz="1200" b="1" dirty="0">
                <a:latin typeface="微软雅黑" panose="020B0503020204020204" pitchFamily="34" charset="-122"/>
                <a:ea typeface="微软雅黑" panose="020B0503020204020204" pitchFamily="34" charset="-122"/>
                <a:sym typeface="字魂105号-简雅黑" panose="00000500000000000000" pitchFamily="2" charset="-122"/>
              </a:rPr>
              <a:t>扩大了其稳定性边界，能够打破结构上固有的运动学约束</a:t>
            </a:r>
            <a:r>
              <a:rPr lang="zh-CN" altLang="en-US" sz="1200" dirty="0">
                <a:latin typeface="微软雅黑" panose="020B0503020204020204" pitchFamily="34" charset="-122"/>
                <a:ea typeface="微软雅黑" panose="020B0503020204020204" pitchFamily="34" charset="-122"/>
                <a:sym typeface="字魂105号-简雅黑" panose="00000500000000000000" pitchFamily="2" charset="-122"/>
              </a:rPr>
              <a:t>。</a:t>
            </a:r>
            <a:endParaRPr lang="en-US" altLang="zh-CN" sz="1200" dirty="0">
              <a:latin typeface="微软雅黑" panose="020B0503020204020204" pitchFamily="34" charset="-122"/>
              <a:ea typeface="微软雅黑" panose="020B0503020204020204" pitchFamily="34" charset="-122"/>
              <a:sym typeface="字魂105号-简雅黑" panose="00000500000000000000"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sym typeface="字魂105号-简雅黑" panose="00000500000000000000" pitchFamily="2" charset="-122"/>
              </a:rPr>
              <a:t>因此，它被广泛公认为</a:t>
            </a:r>
            <a:r>
              <a:rPr lang="zh-CN" altLang="en-US" sz="1200" b="1" dirty="0">
                <a:latin typeface="微软雅黑" panose="020B0503020204020204" pitchFamily="34" charset="-122"/>
                <a:ea typeface="微软雅黑" panose="020B0503020204020204" pitchFamily="34" charset="-122"/>
                <a:sym typeface="字魂105号-简雅黑" panose="00000500000000000000" pitchFamily="2" charset="-122"/>
              </a:rPr>
              <a:t>智能电动汽车的专用底盘以及智能驾驶的最佳载体。</a:t>
            </a:r>
            <a:endParaRPr lang="en-US" altLang="zh-CN" sz="1200" dirty="0">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3236332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sym typeface="字魂105号-简雅黑" panose="00000500000000000000" pitchFamily="2" charset="-122"/>
              </a:rPr>
              <a:t>本课题以分布式架构的线控底盘车辆为基本研究对象，</a:t>
            </a:r>
            <a:r>
              <a:rPr lang="zh-CN" altLang="en-US" sz="1200" b="1" dirty="0">
                <a:latin typeface="微软雅黑" panose="020B0503020204020204" pitchFamily="34" charset="-122"/>
                <a:ea typeface="微软雅黑" panose="020B0503020204020204" pitchFamily="34" charset="-122"/>
              </a:rPr>
              <a:t>因其具有超高可靠性和执行能力，为车辆智能化的实现提供了更便利的载体。</a:t>
            </a:r>
            <a:endParaRPr lang="en-US" altLang="zh-CN" sz="1200" b="1"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凭借更优秀的动力学特性，</a:t>
            </a:r>
            <a:r>
              <a:rPr lang="zh-CN" altLang="en-US" sz="1200" b="1" dirty="0">
                <a:latin typeface="微软雅黑" panose="020B0503020204020204" pitchFamily="34" charset="-122"/>
                <a:ea typeface="微软雅黑" panose="020B0503020204020204" pitchFamily="34" charset="-122"/>
              </a:rPr>
              <a:t>扩大了稳定性边界，</a:t>
            </a:r>
            <a:r>
              <a:rPr lang="zh-CN" altLang="en-US" sz="1200" dirty="0">
                <a:latin typeface="微软雅黑" panose="020B0503020204020204" pitchFamily="34" charset="-122"/>
                <a:ea typeface="微软雅黑" panose="020B0503020204020204" pitchFamily="34" charset="-122"/>
              </a:rPr>
              <a:t>但其控制维度的增高也给智能驾驶架构的设计带来新挑战，</a:t>
            </a:r>
            <a:r>
              <a:rPr lang="zh-CN" altLang="en-US" sz="1200" b="1" dirty="0">
                <a:latin typeface="微软雅黑" panose="020B0503020204020204" pitchFamily="34" charset="-122"/>
                <a:ea typeface="微软雅黑" panose="020B0503020204020204" pitchFamily="34" charset="-122"/>
              </a:rPr>
              <a:t>将新动力学特性充分融合于智能驾驶架构设计成为研究难点</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充分利用分布式驱动电动汽车的稳定域对</a:t>
            </a:r>
            <a:r>
              <a:rPr lang="zh-CN" altLang="en-US" sz="1200" b="1" dirty="0">
                <a:latin typeface="微软雅黑" panose="020B0503020204020204" pitchFamily="34" charset="-122"/>
                <a:ea typeface="微软雅黑" panose="020B0503020204020204" pitchFamily="34" charset="-122"/>
              </a:rPr>
              <a:t>智能驾驶层进行顶层设计</a:t>
            </a:r>
            <a:r>
              <a:rPr lang="zh-CN" altLang="en-US" sz="1200" dirty="0">
                <a:latin typeface="微软雅黑" panose="020B0503020204020204" pitchFamily="34" charset="-122"/>
                <a:ea typeface="微软雅黑" panose="020B0503020204020204" pitchFamily="34" charset="-122"/>
              </a:rPr>
              <a:t>至关重要，这也是亟需探究和解决的关键研究问题。</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基于上述分析，充分调研了国内外的研究现状，接下来将对国内外研究现状进行阐述</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647151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latin typeface="微软雅黑" panose="020B0503020204020204" pitchFamily="34" charset="-122"/>
                <a:ea typeface="微软雅黑" panose="020B0503020204020204" pitchFamily="34" charset="-122"/>
              </a:rPr>
              <a:t>常用轨迹规划方法主要有</a:t>
            </a:r>
            <a:r>
              <a:rPr lang="zh-CN" altLang="en-US" b="1" i="0" dirty="0">
                <a:effectLst/>
                <a:latin typeface="微软雅黑" panose="020B0503020204020204" pitchFamily="34" charset="-122"/>
                <a:ea typeface="微软雅黑" panose="020B0503020204020204" pitchFamily="34" charset="-122"/>
              </a:rPr>
              <a:t>图搜索算法、曲线插值算法、采样方法和数值优化方法</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各有其优缺点。</a:t>
            </a:r>
            <a:endParaRPr lang="en-US" altLang="zh-CN" b="0" i="0" dirty="0">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rPr>
              <a:t>目前分布式线控底盘的运动控制方法根据横、纵向运动是否解耦可分为解耦式运动控制和耦合式运动控制。</a:t>
            </a:r>
            <a:endParaRPr lang="en-US" altLang="zh-CN" sz="18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根据控制器结构，耦合式运动控制方法可分为集中式控制器和分层式控制器。</a:t>
            </a:r>
            <a:r>
              <a:rPr lang="zh-CN" altLang="zh-CN" sz="1800" dirty="0">
                <a:effectLst/>
                <a:ea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951397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目前的研究也存在一些不足之处：</a:t>
            </a:r>
            <a:endParaRPr lang="en-US" altLang="zh-CN" dirty="0"/>
          </a:p>
          <a:p>
            <a:r>
              <a:rPr lang="en-US" altLang="zh-CN" dirty="0"/>
              <a:t>xx</a:t>
            </a:r>
          </a:p>
          <a:p>
            <a:r>
              <a:rPr lang="zh-CN" altLang="en-US" dirty="0"/>
              <a:t>基于上述的研究现状，拟定了本课题的研究目标与研究内容</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240048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4138400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本文研究目标为：</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952867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研究内容主要包括以下四个部分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491748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189261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前期公开了相关的发明专利</a:t>
            </a:r>
            <a:r>
              <a:rPr lang="en-US" altLang="zh-CN" dirty="0"/>
              <a:t>4</a:t>
            </a:r>
            <a:r>
              <a:rPr lang="zh-CN" altLang="en-US" dirty="0"/>
              <a:t>项，登记了相关的软件著作权</a:t>
            </a:r>
            <a:r>
              <a:rPr lang="en-US" altLang="zh-CN" dirty="0"/>
              <a:t>2</a:t>
            </a:r>
            <a:r>
              <a:rPr lang="zh-CN" altLang="en-US" dirty="0"/>
              <a:t>项。</a:t>
            </a:r>
            <a:endParaRPr lang="en-US" altLang="zh-CN" dirty="0"/>
          </a:p>
          <a:p>
            <a:r>
              <a:rPr lang="zh-CN" altLang="en-US" dirty="0"/>
              <a:t>搭建了</a:t>
            </a: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四轮独立驱动</a:t>
            </a:r>
            <a:r>
              <a:rPr lang="en-US" altLang="zh-CN"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转向</a:t>
            </a:r>
            <a:r>
              <a:rPr lang="en-US" altLang="zh-CN"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制动的智能底盘电动汽车模型。</a:t>
            </a:r>
            <a:endParaRPr lang="en-US" altLang="zh-CN"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r>
              <a:rPr lang="zh-CN" altLang="en-US" dirty="0">
                <a:ea typeface="字魂105号-简雅黑" panose="00000500000000000000" pitchFamily="2" charset="-122"/>
                <a:sym typeface="字魂105号-简雅黑" panose="00000500000000000000" pitchFamily="2" charset="-122"/>
              </a:rPr>
              <a:t>并学习了一些规划控制算法。</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695670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这是计划的研究进展</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757969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EF31D4-1AA4-45E7-8F10-C007A9A6DDB0}" type="datetimeFigureOut">
              <a:rPr lang="zh-HK" altLang="en-US" smtClean="0"/>
              <a:t>31/5/2025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08C867-0001-4419-B27E-C2CFA0B1F96F}" type="datetime1">
              <a:rPr lang="zh-CN" altLang="en-US" smtClean="0">
                <a:solidFill>
                  <a:prstClr val="black">
                    <a:tint val="75000"/>
                  </a:prstClr>
                </a:solidFill>
              </a:rPr>
              <a:t>2025/5/31</a:t>
            </a:fld>
            <a:endParaRPr lang="zh-HK" alt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zh-HK" altLang="en-US" dirty="0">
              <a:solidFill>
                <a:prstClr val="black">
                  <a:tint val="75000"/>
                </a:prstClr>
              </a:solidFill>
            </a:endParaRPr>
          </a:p>
        </p:txBody>
      </p:sp>
      <p:sp>
        <p:nvSpPr>
          <p:cNvPr id="6" name="Rectangle 322"/>
          <p:cNvSpPr>
            <a:spLocks noChangeArrowheads="1"/>
          </p:cNvSpPr>
          <p:nvPr userDrawn="1"/>
        </p:nvSpPr>
        <p:spPr bwMode="auto">
          <a:xfrm>
            <a:off x="1260748" y="310834"/>
            <a:ext cx="95690" cy="561834"/>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 name="Freeform 325"/>
          <p:cNvSpPr/>
          <p:nvPr userDrawn="1"/>
        </p:nvSpPr>
        <p:spPr bwMode="auto">
          <a:xfrm>
            <a:off x="441919" y="439333"/>
            <a:ext cx="492118" cy="295271"/>
          </a:xfrm>
          <a:custGeom>
            <a:avLst/>
            <a:gdLst>
              <a:gd name="T0" fmla="*/ 360 w 360"/>
              <a:gd name="T1" fmla="*/ 0 h 216"/>
              <a:gd name="T2" fmla="*/ 308 w 360"/>
              <a:gd name="T3" fmla="*/ 216 h 216"/>
              <a:gd name="T4" fmla="*/ 0 w 360"/>
              <a:gd name="T5" fmla="*/ 216 h 216"/>
              <a:gd name="T6" fmla="*/ 142 w 360"/>
              <a:gd name="T7" fmla="*/ 0 h 216"/>
              <a:gd name="T8" fmla="*/ 360 w 360"/>
              <a:gd name="T9" fmla="*/ 0 h 216"/>
            </a:gdLst>
            <a:ahLst/>
            <a:cxnLst>
              <a:cxn ang="0">
                <a:pos x="T0" y="T1"/>
              </a:cxn>
              <a:cxn ang="0">
                <a:pos x="T2" y="T3"/>
              </a:cxn>
              <a:cxn ang="0">
                <a:pos x="T4" y="T5"/>
              </a:cxn>
              <a:cxn ang="0">
                <a:pos x="T6" y="T7"/>
              </a:cxn>
              <a:cxn ang="0">
                <a:pos x="T8" y="T9"/>
              </a:cxn>
            </a:cxnLst>
            <a:rect l="0" t="0" r="r" b="b"/>
            <a:pathLst>
              <a:path w="360" h="216">
                <a:moveTo>
                  <a:pt x="360" y="0"/>
                </a:moveTo>
                <a:lnTo>
                  <a:pt x="308" y="216"/>
                </a:lnTo>
                <a:lnTo>
                  <a:pt x="0" y="216"/>
                </a:lnTo>
                <a:lnTo>
                  <a:pt x="142" y="0"/>
                </a:lnTo>
                <a:lnTo>
                  <a:pt x="360"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323"/>
          <p:cNvSpPr/>
          <p:nvPr userDrawn="1"/>
        </p:nvSpPr>
        <p:spPr bwMode="auto">
          <a:xfrm>
            <a:off x="953809" y="310834"/>
            <a:ext cx="277500" cy="561834"/>
          </a:xfrm>
          <a:custGeom>
            <a:avLst/>
            <a:gdLst>
              <a:gd name="T0" fmla="*/ 203 w 203"/>
              <a:gd name="T1" fmla="*/ 0 h 411"/>
              <a:gd name="T2" fmla="*/ 203 w 203"/>
              <a:gd name="T3" fmla="*/ 411 h 411"/>
              <a:gd name="T4" fmla="*/ 0 w 203"/>
              <a:gd name="T5" fmla="*/ 411 h 411"/>
              <a:gd name="T6" fmla="*/ 0 w 203"/>
              <a:gd name="T7" fmla="*/ 0 h 411"/>
              <a:gd name="T8" fmla="*/ 47 w 203"/>
              <a:gd name="T9" fmla="*/ 0 h 411"/>
              <a:gd name="T10" fmla="*/ 47 w 203"/>
              <a:gd name="T11" fmla="*/ 99 h 411"/>
              <a:gd name="T12" fmla="*/ 85 w 203"/>
              <a:gd name="T13" fmla="*/ 63 h 411"/>
              <a:gd name="T14" fmla="*/ 132 w 203"/>
              <a:gd name="T15" fmla="*/ 99 h 411"/>
              <a:gd name="T16" fmla="*/ 132 w 203"/>
              <a:gd name="T17" fmla="*/ 0 h 411"/>
              <a:gd name="T18" fmla="*/ 203 w 203"/>
              <a:gd name="T1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411">
                <a:moveTo>
                  <a:pt x="203" y="0"/>
                </a:moveTo>
                <a:lnTo>
                  <a:pt x="203" y="411"/>
                </a:lnTo>
                <a:lnTo>
                  <a:pt x="0" y="411"/>
                </a:lnTo>
                <a:lnTo>
                  <a:pt x="0" y="0"/>
                </a:lnTo>
                <a:lnTo>
                  <a:pt x="47" y="0"/>
                </a:lnTo>
                <a:lnTo>
                  <a:pt x="47" y="99"/>
                </a:lnTo>
                <a:lnTo>
                  <a:pt x="85" y="63"/>
                </a:lnTo>
                <a:lnTo>
                  <a:pt x="132" y="99"/>
                </a:lnTo>
                <a:lnTo>
                  <a:pt x="132" y="0"/>
                </a:lnTo>
                <a:lnTo>
                  <a:pt x="203"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326"/>
          <p:cNvSpPr/>
          <p:nvPr userDrawn="1"/>
        </p:nvSpPr>
        <p:spPr bwMode="auto">
          <a:xfrm>
            <a:off x="427518" y="753740"/>
            <a:ext cx="436071" cy="118928"/>
          </a:xfrm>
          <a:custGeom>
            <a:avLst/>
            <a:gdLst>
              <a:gd name="T0" fmla="*/ 135 w 135"/>
              <a:gd name="T1" fmla="*/ 32 h 37"/>
              <a:gd name="T2" fmla="*/ 135 w 135"/>
              <a:gd name="T3" fmla="*/ 37 h 37"/>
              <a:gd name="T4" fmla="*/ 14 w 135"/>
              <a:gd name="T5" fmla="*/ 37 h 37"/>
              <a:gd name="T6" fmla="*/ 0 w 135"/>
              <a:gd name="T7" fmla="*/ 23 h 37"/>
              <a:gd name="T8" fmla="*/ 0 w 135"/>
              <a:gd name="T9" fmla="*/ 14 h 37"/>
              <a:gd name="T10" fmla="*/ 14 w 135"/>
              <a:gd name="T11" fmla="*/ 0 h 37"/>
              <a:gd name="T12" fmla="*/ 135 w 135"/>
              <a:gd name="T13" fmla="*/ 0 h 37"/>
              <a:gd name="T14" fmla="*/ 135 w 135"/>
              <a:gd name="T15" fmla="*/ 5 h 37"/>
              <a:gd name="T16" fmla="*/ 18 w 135"/>
              <a:gd name="T17" fmla="*/ 5 h 37"/>
              <a:gd name="T18" fmla="*/ 5 w 135"/>
              <a:gd name="T19" fmla="*/ 15 h 37"/>
              <a:gd name="T20" fmla="*/ 5 w 135"/>
              <a:gd name="T21" fmla="*/ 21 h 37"/>
              <a:gd name="T22" fmla="*/ 18 w 135"/>
              <a:gd name="T23" fmla="*/ 32 h 37"/>
              <a:gd name="T24" fmla="*/ 135 w 135"/>
              <a:gd name="T25"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37">
                <a:moveTo>
                  <a:pt x="135" y="32"/>
                </a:moveTo>
                <a:cubicBezTo>
                  <a:pt x="135" y="37"/>
                  <a:pt x="135" y="37"/>
                  <a:pt x="135" y="37"/>
                </a:cubicBezTo>
                <a:cubicBezTo>
                  <a:pt x="14" y="37"/>
                  <a:pt x="14" y="37"/>
                  <a:pt x="14" y="37"/>
                </a:cubicBezTo>
                <a:cubicBezTo>
                  <a:pt x="6" y="37"/>
                  <a:pt x="0" y="30"/>
                  <a:pt x="0" y="23"/>
                </a:cubicBezTo>
                <a:cubicBezTo>
                  <a:pt x="0" y="14"/>
                  <a:pt x="0" y="14"/>
                  <a:pt x="0" y="14"/>
                </a:cubicBezTo>
                <a:cubicBezTo>
                  <a:pt x="0" y="6"/>
                  <a:pt x="6" y="0"/>
                  <a:pt x="14" y="0"/>
                </a:cubicBezTo>
                <a:cubicBezTo>
                  <a:pt x="135" y="0"/>
                  <a:pt x="135" y="0"/>
                  <a:pt x="135" y="0"/>
                </a:cubicBezTo>
                <a:cubicBezTo>
                  <a:pt x="135" y="5"/>
                  <a:pt x="135" y="5"/>
                  <a:pt x="135" y="5"/>
                </a:cubicBezTo>
                <a:cubicBezTo>
                  <a:pt x="18" y="5"/>
                  <a:pt x="18" y="5"/>
                  <a:pt x="18" y="5"/>
                </a:cubicBezTo>
                <a:cubicBezTo>
                  <a:pt x="11" y="5"/>
                  <a:pt x="5" y="9"/>
                  <a:pt x="5" y="15"/>
                </a:cubicBezTo>
                <a:cubicBezTo>
                  <a:pt x="5" y="21"/>
                  <a:pt x="5" y="21"/>
                  <a:pt x="5" y="21"/>
                </a:cubicBezTo>
                <a:cubicBezTo>
                  <a:pt x="5" y="27"/>
                  <a:pt x="11" y="32"/>
                  <a:pt x="18" y="32"/>
                </a:cubicBezTo>
                <a:lnTo>
                  <a:pt x="135" y="32"/>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Rectangle 328"/>
          <p:cNvSpPr>
            <a:spLocks noChangeArrowheads="1"/>
          </p:cNvSpPr>
          <p:nvPr userDrawn="1"/>
        </p:nvSpPr>
        <p:spPr bwMode="auto">
          <a:xfrm>
            <a:off x="491765" y="78928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1" name="Rectangle 328"/>
          <p:cNvSpPr>
            <a:spLocks noChangeArrowheads="1"/>
          </p:cNvSpPr>
          <p:nvPr userDrawn="1"/>
        </p:nvSpPr>
        <p:spPr bwMode="auto">
          <a:xfrm>
            <a:off x="491765" y="82103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Freeform 324"/>
          <p:cNvSpPr/>
          <p:nvPr userDrawn="1"/>
        </p:nvSpPr>
        <p:spPr bwMode="auto">
          <a:xfrm>
            <a:off x="1026358" y="288275"/>
            <a:ext cx="94323" cy="123029"/>
          </a:xfrm>
          <a:custGeom>
            <a:avLst/>
            <a:gdLst>
              <a:gd name="T0" fmla="*/ 29 w 29"/>
              <a:gd name="T1" fmla="*/ 0 h 38"/>
              <a:gd name="T2" fmla="*/ 29 w 29"/>
              <a:gd name="T3" fmla="*/ 38 h 38"/>
              <a:gd name="T4" fmla="*/ 12 w 29"/>
              <a:gd name="T5" fmla="*/ 26 h 38"/>
              <a:gd name="T6" fmla="*/ 1 w 29"/>
              <a:gd name="T7" fmla="*/ 37 h 38"/>
              <a:gd name="T8" fmla="*/ 1 w 29"/>
              <a:gd name="T9" fmla="*/ 0 h 38"/>
              <a:gd name="T10" fmla="*/ 29 w 29"/>
              <a:gd name="T11" fmla="*/ 0 h 38"/>
            </a:gdLst>
            <a:ahLst/>
            <a:cxnLst>
              <a:cxn ang="0">
                <a:pos x="T0" y="T1"/>
              </a:cxn>
              <a:cxn ang="0">
                <a:pos x="T2" y="T3"/>
              </a:cxn>
              <a:cxn ang="0">
                <a:pos x="T4" y="T5"/>
              </a:cxn>
              <a:cxn ang="0">
                <a:pos x="T6" y="T7"/>
              </a:cxn>
              <a:cxn ang="0">
                <a:pos x="T8" y="T9"/>
              </a:cxn>
              <a:cxn ang="0">
                <a:pos x="T10" y="T11"/>
              </a:cxn>
            </a:cxnLst>
            <a:rect l="0" t="0" r="r" b="b"/>
            <a:pathLst>
              <a:path w="29" h="38">
                <a:moveTo>
                  <a:pt x="29" y="0"/>
                </a:moveTo>
                <a:cubicBezTo>
                  <a:pt x="29" y="38"/>
                  <a:pt x="29" y="38"/>
                  <a:pt x="29" y="38"/>
                </a:cubicBezTo>
                <a:cubicBezTo>
                  <a:pt x="12" y="26"/>
                  <a:pt x="12" y="26"/>
                  <a:pt x="12" y="26"/>
                </a:cubicBezTo>
                <a:cubicBezTo>
                  <a:pt x="12" y="26"/>
                  <a:pt x="1" y="37"/>
                  <a:pt x="1" y="37"/>
                </a:cubicBezTo>
                <a:cubicBezTo>
                  <a:pt x="0" y="38"/>
                  <a:pt x="1" y="0"/>
                  <a:pt x="1" y="0"/>
                </a:cubicBezTo>
                <a:lnTo>
                  <a:pt x="29"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文本框 14"/>
          <p:cNvSpPr txBox="1"/>
          <p:nvPr userDrawn="1"/>
        </p:nvSpPr>
        <p:spPr>
          <a:xfrm>
            <a:off x="1588100" y="371061"/>
            <a:ext cx="6097464" cy="523220"/>
          </a:xfrm>
          <a:prstGeom prst="rect">
            <a:avLst/>
          </a:prstGeom>
          <a:noFill/>
        </p:spPr>
        <p:txBody>
          <a:bodyPr wrap="square">
            <a:spAutoFit/>
          </a:bodyPr>
          <a:lstStyle/>
          <a:p>
            <a:pPr marL="0" algn="l" rtl="0" eaLnBrk="1" latinLnBrk="0" hangingPunct="1">
              <a:spcBef>
                <a:spcPts val="0"/>
              </a:spcBef>
              <a:spcAft>
                <a:spcPts val="0"/>
              </a:spcAft>
            </a:pPr>
            <a:r>
              <a:rPr lang="zh-CN" altLang="en-US" sz="2800" b="1" kern="1200" spc="0" dirty="0">
                <a:solidFill>
                  <a:schemeClr val="tx1"/>
                </a:solidFill>
                <a:effectLst/>
                <a:latin typeface="微软雅黑" panose="020B0503020204020204" pitchFamily="34" charset="-122"/>
                <a:ea typeface="微软雅黑" panose="020B0503020204020204" pitchFamily="34" charset="-122"/>
                <a:cs typeface="+mn-cs"/>
              </a:rPr>
              <a:t>研究背景及意义</a:t>
            </a:r>
            <a:endParaRPr lang="zh-CN" altLang="zh-CN" sz="2800" spc="0" dirty="0">
              <a:solidFill>
                <a:schemeClr val="tx1"/>
              </a:solidFill>
              <a:effectLst/>
            </a:endParaRPr>
          </a:p>
        </p:txBody>
      </p:sp>
      <p:sp>
        <p:nvSpPr>
          <p:cNvPr id="5" name="灯片编号占位符 4"/>
          <p:cNvSpPr>
            <a:spLocks noGrp="1"/>
          </p:cNvSpPr>
          <p:nvPr>
            <p:ph type="sldNum" sz="quarter" idx="12"/>
          </p:nvPr>
        </p:nvSpPr>
        <p:spPr>
          <a:xfrm>
            <a:off x="8610600" y="6356350"/>
            <a:ext cx="2743200" cy="365125"/>
          </a:xfrm>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2AC89A5-2FB1-4AFC-9A03-29D629408DB2}" type="datetime5">
              <a:rPr lang="zh-HK" altLang="en-US" smtClean="0">
                <a:solidFill>
                  <a:prstClr val="black">
                    <a:tint val="75000"/>
                  </a:prstClr>
                </a:solidFill>
              </a:rPr>
              <a:t>2025/5/31</a:t>
            </a:fld>
            <a:endParaRPr lang="zh-HK"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
        <p:nvSpPr>
          <p:cNvPr id="7" name="Rectangle 322"/>
          <p:cNvSpPr>
            <a:spLocks noChangeArrowheads="1"/>
          </p:cNvSpPr>
          <p:nvPr userDrawn="1"/>
        </p:nvSpPr>
        <p:spPr bwMode="auto">
          <a:xfrm>
            <a:off x="1260748" y="310834"/>
            <a:ext cx="95690" cy="561834"/>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 name="Freeform 325"/>
          <p:cNvSpPr/>
          <p:nvPr userDrawn="1"/>
        </p:nvSpPr>
        <p:spPr bwMode="auto">
          <a:xfrm>
            <a:off x="441919" y="439333"/>
            <a:ext cx="492118" cy="295271"/>
          </a:xfrm>
          <a:custGeom>
            <a:avLst/>
            <a:gdLst>
              <a:gd name="T0" fmla="*/ 360 w 360"/>
              <a:gd name="T1" fmla="*/ 0 h 216"/>
              <a:gd name="T2" fmla="*/ 308 w 360"/>
              <a:gd name="T3" fmla="*/ 216 h 216"/>
              <a:gd name="T4" fmla="*/ 0 w 360"/>
              <a:gd name="T5" fmla="*/ 216 h 216"/>
              <a:gd name="T6" fmla="*/ 142 w 360"/>
              <a:gd name="T7" fmla="*/ 0 h 216"/>
              <a:gd name="T8" fmla="*/ 360 w 360"/>
              <a:gd name="T9" fmla="*/ 0 h 216"/>
            </a:gdLst>
            <a:ahLst/>
            <a:cxnLst>
              <a:cxn ang="0">
                <a:pos x="T0" y="T1"/>
              </a:cxn>
              <a:cxn ang="0">
                <a:pos x="T2" y="T3"/>
              </a:cxn>
              <a:cxn ang="0">
                <a:pos x="T4" y="T5"/>
              </a:cxn>
              <a:cxn ang="0">
                <a:pos x="T6" y="T7"/>
              </a:cxn>
              <a:cxn ang="0">
                <a:pos x="T8" y="T9"/>
              </a:cxn>
            </a:cxnLst>
            <a:rect l="0" t="0" r="r" b="b"/>
            <a:pathLst>
              <a:path w="360" h="216">
                <a:moveTo>
                  <a:pt x="360" y="0"/>
                </a:moveTo>
                <a:lnTo>
                  <a:pt x="308" y="216"/>
                </a:lnTo>
                <a:lnTo>
                  <a:pt x="0" y="216"/>
                </a:lnTo>
                <a:lnTo>
                  <a:pt x="142" y="0"/>
                </a:lnTo>
                <a:lnTo>
                  <a:pt x="360"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323"/>
          <p:cNvSpPr/>
          <p:nvPr userDrawn="1"/>
        </p:nvSpPr>
        <p:spPr bwMode="auto">
          <a:xfrm>
            <a:off x="953809" y="310834"/>
            <a:ext cx="277500" cy="561834"/>
          </a:xfrm>
          <a:custGeom>
            <a:avLst/>
            <a:gdLst>
              <a:gd name="T0" fmla="*/ 203 w 203"/>
              <a:gd name="T1" fmla="*/ 0 h 411"/>
              <a:gd name="T2" fmla="*/ 203 w 203"/>
              <a:gd name="T3" fmla="*/ 411 h 411"/>
              <a:gd name="T4" fmla="*/ 0 w 203"/>
              <a:gd name="T5" fmla="*/ 411 h 411"/>
              <a:gd name="T6" fmla="*/ 0 w 203"/>
              <a:gd name="T7" fmla="*/ 0 h 411"/>
              <a:gd name="T8" fmla="*/ 47 w 203"/>
              <a:gd name="T9" fmla="*/ 0 h 411"/>
              <a:gd name="T10" fmla="*/ 47 w 203"/>
              <a:gd name="T11" fmla="*/ 99 h 411"/>
              <a:gd name="T12" fmla="*/ 85 w 203"/>
              <a:gd name="T13" fmla="*/ 63 h 411"/>
              <a:gd name="T14" fmla="*/ 132 w 203"/>
              <a:gd name="T15" fmla="*/ 99 h 411"/>
              <a:gd name="T16" fmla="*/ 132 w 203"/>
              <a:gd name="T17" fmla="*/ 0 h 411"/>
              <a:gd name="T18" fmla="*/ 203 w 203"/>
              <a:gd name="T1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411">
                <a:moveTo>
                  <a:pt x="203" y="0"/>
                </a:moveTo>
                <a:lnTo>
                  <a:pt x="203" y="411"/>
                </a:lnTo>
                <a:lnTo>
                  <a:pt x="0" y="411"/>
                </a:lnTo>
                <a:lnTo>
                  <a:pt x="0" y="0"/>
                </a:lnTo>
                <a:lnTo>
                  <a:pt x="47" y="0"/>
                </a:lnTo>
                <a:lnTo>
                  <a:pt x="47" y="99"/>
                </a:lnTo>
                <a:lnTo>
                  <a:pt x="85" y="63"/>
                </a:lnTo>
                <a:lnTo>
                  <a:pt x="132" y="99"/>
                </a:lnTo>
                <a:lnTo>
                  <a:pt x="132" y="0"/>
                </a:lnTo>
                <a:lnTo>
                  <a:pt x="203"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326"/>
          <p:cNvSpPr/>
          <p:nvPr userDrawn="1"/>
        </p:nvSpPr>
        <p:spPr bwMode="auto">
          <a:xfrm>
            <a:off x="427518" y="753740"/>
            <a:ext cx="436071" cy="118928"/>
          </a:xfrm>
          <a:custGeom>
            <a:avLst/>
            <a:gdLst>
              <a:gd name="T0" fmla="*/ 135 w 135"/>
              <a:gd name="T1" fmla="*/ 32 h 37"/>
              <a:gd name="T2" fmla="*/ 135 w 135"/>
              <a:gd name="T3" fmla="*/ 37 h 37"/>
              <a:gd name="T4" fmla="*/ 14 w 135"/>
              <a:gd name="T5" fmla="*/ 37 h 37"/>
              <a:gd name="T6" fmla="*/ 0 w 135"/>
              <a:gd name="T7" fmla="*/ 23 h 37"/>
              <a:gd name="T8" fmla="*/ 0 w 135"/>
              <a:gd name="T9" fmla="*/ 14 h 37"/>
              <a:gd name="T10" fmla="*/ 14 w 135"/>
              <a:gd name="T11" fmla="*/ 0 h 37"/>
              <a:gd name="T12" fmla="*/ 135 w 135"/>
              <a:gd name="T13" fmla="*/ 0 h 37"/>
              <a:gd name="T14" fmla="*/ 135 w 135"/>
              <a:gd name="T15" fmla="*/ 5 h 37"/>
              <a:gd name="T16" fmla="*/ 18 w 135"/>
              <a:gd name="T17" fmla="*/ 5 h 37"/>
              <a:gd name="T18" fmla="*/ 5 w 135"/>
              <a:gd name="T19" fmla="*/ 15 h 37"/>
              <a:gd name="T20" fmla="*/ 5 w 135"/>
              <a:gd name="T21" fmla="*/ 21 h 37"/>
              <a:gd name="T22" fmla="*/ 18 w 135"/>
              <a:gd name="T23" fmla="*/ 32 h 37"/>
              <a:gd name="T24" fmla="*/ 135 w 135"/>
              <a:gd name="T25"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37">
                <a:moveTo>
                  <a:pt x="135" y="32"/>
                </a:moveTo>
                <a:cubicBezTo>
                  <a:pt x="135" y="37"/>
                  <a:pt x="135" y="37"/>
                  <a:pt x="135" y="37"/>
                </a:cubicBezTo>
                <a:cubicBezTo>
                  <a:pt x="14" y="37"/>
                  <a:pt x="14" y="37"/>
                  <a:pt x="14" y="37"/>
                </a:cubicBezTo>
                <a:cubicBezTo>
                  <a:pt x="6" y="37"/>
                  <a:pt x="0" y="30"/>
                  <a:pt x="0" y="23"/>
                </a:cubicBezTo>
                <a:cubicBezTo>
                  <a:pt x="0" y="14"/>
                  <a:pt x="0" y="14"/>
                  <a:pt x="0" y="14"/>
                </a:cubicBezTo>
                <a:cubicBezTo>
                  <a:pt x="0" y="6"/>
                  <a:pt x="6" y="0"/>
                  <a:pt x="14" y="0"/>
                </a:cubicBezTo>
                <a:cubicBezTo>
                  <a:pt x="135" y="0"/>
                  <a:pt x="135" y="0"/>
                  <a:pt x="135" y="0"/>
                </a:cubicBezTo>
                <a:cubicBezTo>
                  <a:pt x="135" y="5"/>
                  <a:pt x="135" y="5"/>
                  <a:pt x="135" y="5"/>
                </a:cubicBezTo>
                <a:cubicBezTo>
                  <a:pt x="18" y="5"/>
                  <a:pt x="18" y="5"/>
                  <a:pt x="18" y="5"/>
                </a:cubicBezTo>
                <a:cubicBezTo>
                  <a:pt x="11" y="5"/>
                  <a:pt x="5" y="9"/>
                  <a:pt x="5" y="15"/>
                </a:cubicBezTo>
                <a:cubicBezTo>
                  <a:pt x="5" y="21"/>
                  <a:pt x="5" y="21"/>
                  <a:pt x="5" y="21"/>
                </a:cubicBezTo>
                <a:cubicBezTo>
                  <a:pt x="5" y="27"/>
                  <a:pt x="11" y="32"/>
                  <a:pt x="18" y="32"/>
                </a:cubicBezTo>
                <a:lnTo>
                  <a:pt x="135" y="32"/>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Rectangle 328"/>
          <p:cNvSpPr>
            <a:spLocks noChangeArrowheads="1"/>
          </p:cNvSpPr>
          <p:nvPr userDrawn="1"/>
        </p:nvSpPr>
        <p:spPr bwMode="auto">
          <a:xfrm>
            <a:off x="491765" y="78928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Rectangle 328"/>
          <p:cNvSpPr>
            <a:spLocks noChangeArrowheads="1"/>
          </p:cNvSpPr>
          <p:nvPr userDrawn="1"/>
        </p:nvSpPr>
        <p:spPr bwMode="auto">
          <a:xfrm>
            <a:off x="491765" y="82103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 name="Freeform 324"/>
          <p:cNvSpPr/>
          <p:nvPr userDrawn="1"/>
        </p:nvSpPr>
        <p:spPr bwMode="auto">
          <a:xfrm>
            <a:off x="1026358" y="288275"/>
            <a:ext cx="94323" cy="123029"/>
          </a:xfrm>
          <a:custGeom>
            <a:avLst/>
            <a:gdLst>
              <a:gd name="T0" fmla="*/ 29 w 29"/>
              <a:gd name="T1" fmla="*/ 0 h 38"/>
              <a:gd name="T2" fmla="*/ 29 w 29"/>
              <a:gd name="T3" fmla="*/ 38 h 38"/>
              <a:gd name="T4" fmla="*/ 12 w 29"/>
              <a:gd name="T5" fmla="*/ 26 h 38"/>
              <a:gd name="T6" fmla="*/ 1 w 29"/>
              <a:gd name="T7" fmla="*/ 37 h 38"/>
              <a:gd name="T8" fmla="*/ 1 w 29"/>
              <a:gd name="T9" fmla="*/ 0 h 38"/>
              <a:gd name="T10" fmla="*/ 29 w 29"/>
              <a:gd name="T11" fmla="*/ 0 h 38"/>
            </a:gdLst>
            <a:ahLst/>
            <a:cxnLst>
              <a:cxn ang="0">
                <a:pos x="T0" y="T1"/>
              </a:cxn>
              <a:cxn ang="0">
                <a:pos x="T2" y="T3"/>
              </a:cxn>
              <a:cxn ang="0">
                <a:pos x="T4" y="T5"/>
              </a:cxn>
              <a:cxn ang="0">
                <a:pos x="T6" y="T7"/>
              </a:cxn>
              <a:cxn ang="0">
                <a:pos x="T8" y="T9"/>
              </a:cxn>
              <a:cxn ang="0">
                <a:pos x="T10" y="T11"/>
              </a:cxn>
            </a:cxnLst>
            <a:rect l="0" t="0" r="r" b="b"/>
            <a:pathLst>
              <a:path w="29" h="38">
                <a:moveTo>
                  <a:pt x="29" y="0"/>
                </a:moveTo>
                <a:cubicBezTo>
                  <a:pt x="29" y="38"/>
                  <a:pt x="29" y="38"/>
                  <a:pt x="29" y="38"/>
                </a:cubicBezTo>
                <a:cubicBezTo>
                  <a:pt x="12" y="26"/>
                  <a:pt x="12" y="26"/>
                  <a:pt x="12" y="26"/>
                </a:cubicBezTo>
                <a:cubicBezTo>
                  <a:pt x="12" y="26"/>
                  <a:pt x="1" y="37"/>
                  <a:pt x="1" y="37"/>
                </a:cubicBezTo>
                <a:cubicBezTo>
                  <a:pt x="0" y="38"/>
                  <a:pt x="1" y="0"/>
                  <a:pt x="1" y="0"/>
                </a:cubicBezTo>
                <a:lnTo>
                  <a:pt x="29"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文本框 16"/>
          <p:cNvSpPr txBox="1"/>
          <p:nvPr userDrawn="1"/>
        </p:nvSpPr>
        <p:spPr>
          <a:xfrm>
            <a:off x="1588100" y="371061"/>
            <a:ext cx="6097464" cy="523220"/>
          </a:xfrm>
          <a:prstGeom prst="rect">
            <a:avLst/>
          </a:prstGeom>
          <a:noFill/>
        </p:spPr>
        <p:txBody>
          <a:bodyPr wrap="square">
            <a:spAutoFit/>
          </a:bodyPr>
          <a:lstStyle/>
          <a:p>
            <a:pPr marL="0" algn="l" rtl="0" eaLnBrk="1" latinLnBrk="0" hangingPunct="1">
              <a:spcBef>
                <a:spcPts val="0"/>
              </a:spcBef>
              <a:spcAft>
                <a:spcPts val="0"/>
              </a:spcAft>
            </a:pPr>
            <a:r>
              <a:rPr lang="zh-CN" altLang="en-US" sz="2800" b="1" kern="1200" spc="0" dirty="0">
                <a:solidFill>
                  <a:schemeClr val="tx1"/>
                </a:solidFill>
                <a:effectLst/>
                <a:latin typeface="微软雅黑" panose="020B0503020204020204" pitchFamily="34" charset="-122"/>
                <a:ea typeface="微软雅黑" panose="020B0503020204020204" pitchFamily="34" charset="-122"/>
                <a:cs typeface="+mn-cs"/>
              </a:rPr>
              <a:t>国内外研究现状</a:t>
            </a:r>
            <a:endParaRPr lang="zh-CN" altLang="zh-CN" sz="2800" spc="0" dirty="0">
              <a:solidFill>
                <a:schemeClr val="tx1"/>
              </a:solidFill>
              <a:effectLst/>
            </a:endParaRPr>
          </a:p>
        </p:txBody>
      </p:sp>
    </p:spTree>
  </p:cSld>
  <p:clrMapOvr>
    <a:masterClrMapping/>
  </p:clrMapOvr>
  <p:transition>
    <p:wipe/>
  </p:transition>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CDE2781-097C-4828-9A3F-D1DE5338A6F5}" type="datetime5">
              <a:rPr lang="zh-HK" altLang="en-US" smtClean="0">
                <a:solidFill>
                  <a:prstClr val="black">
                    <a:tint val="75000"/>
                  </a:prstClr>
                </a:solidFill>
              </a:rPr>
              <a:t>2025/5/31</a:t>
            </a:fld>
            <a:endParaRPr lang="zh-HK"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
        <p:nvSpPr>
          <p:cNvPr id="7" name="Rectangle 322"/>
          <p:cNvSpPr>
            <a:spLocks noChangeArrowheads="1"/>
          </p:cNvSpPr>
          <p:nvPr userDrawn="1"/>
        </p:nvSpPr>
        <p:spPr bwMode="auto">
          <a:xfrm>
            <a:off x="1260748" y="310834"/>
            <a:ext cx="95690" cy="561834"/>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 name="Freeform 325"/>
          <p:cNvSpPr/>
          <p:nvPr userDrawn="1"/>
        </p:nvSpPr>
        <p:spPr bwMode="auto">
          <a:xfrm>
            <a:off x="441919" y="439333"/>
            <a:ext cx="492118" cy="295271"/>
          </a:xfrm>
          <a:custGeom>
            <a:avLst/>
            <a:gdLst>
              <a:gd name="T0" fmla="*/ 360 w 360"/>
              <a:gd name="T1" fmla="*/ 0 h 216"/>
              <a:gd name="T2" fmla="*/ 308 w 360"/>
              <a:gd name="T3" fmla="*/ 216 h 216"/>
              <a:gd name="T4" fmla="*/ 0 w 360"/>
              <a:gd name="T5" fmla="*/ 216 h 216"/>
              <a:gd name="T6" fmla="*/ 142 w 360"/>
              <a:gd name="T7" fmla="*/ 0 h 216"/>
              <a:gd name="T8" fmla="*/ 360 w 360"/>
              <a:gd name="T9" fmla="*/ 0 h 216"/>
            </a:gdLst>
            <a:ahLst/>
            <a:cxnLst>
              <a:cxn ang="0">
                <a:pos x="T0" y="T1"/>
              </a:cxn>
              <a:cxn ang="0">
                <a:pos x="T2" y="T3"/>
              </a:cxn>
              <a:cxn ang="0">
                <a:pos x="T4" y="T5"/>
              </a:cxn>
              <a:cxn ang="0">
                <a:pos x="T6" y="T7"/>
              </a:cxn>
              <a:cxn ang="0">
                <a:pos x="T8" y="T9"/>
              </a:cxn>
            </a:cxnLst>
            <a:rect l="0" t="0" r="r" b="b"/>
            <a:pathLst>
              <a:path w="360" h="216">
                <a:moveTo>
                  <a:pt x="360" y="0"/>
                </a:moveTo>
                <a:lnTo>
                  <a:pt x="308" y="216"/>
                </a:lnTo>
                <a:lnTo>
                  <a:pt x="0" y="216"/>
                </a:lnTo>
                <a:lnTo>
                  <a:pt x="142" y="0"/>
                </a:lnTo>
                <a:lnTo>
                  <a:pt x="360"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323"/>
          <p:cNvSpPr/>
          <p:nvPr userDrawn="1"/>
        </p:nvSpPr>
        <p:spPr bwMode="auto">
          <a:xfrm>
            <a:off x="953809" y="310834"/>
            <a:ext cx="277500" cy="561834"/>
          </a:xfrm>
          <a:custGeom>
            <a:avLst/>
            <a:gdLst>
              <a:gd name="T0" fmla="*/ 203 w 203"/>
              <a:gd name="T1" fmla="*/ 0 h 411"/>
              <a:gd name="T2" fmla="*/ 203 w 203"/>
              <a:gd name="T3" fmla="*/ 411 h 411"/>
              <a:gd name="T4" fmla="*/ 0 w 203"/>
              <a:gd name="T5" fmla="*/ 411 h 411"/>
              <a:gd name="T6" fmla="*/ 0 w 203"/>
              <a:gd name="T7" fmla="*/ 0 h 411"/>
              <a:gd name="T8" fmla="*/ 47 w 203"/>
              <a:gd name="T9" fmla="*/ 0 h 411"/>
              <a:gd name="T10" fmla="*/ 47 w 203"/>
              <a:gd name="T11" fmla="*/ 99 h 411"/>
              <a:gd name="T12" fmla="*/ 85 w 203"/>
              <a:gd name="T13" fmla="*/ 63 h 411"/>
              <a:gd name="T14" fmla="*/ 132 w 203"/>
              <a:gd name="T15" fmla="*/ 99 h 411"/>
              <a:gd name="T16" fmla="*/ 132 w 203"/>
              <a:gd name="T17" fmla="*/ 0 h 411"/>
              <a:gd name="T18" fmla="*/ 203 w 203"/>
              <a:gd name="T1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411">
                <a:moveTo>
                  <a:pt x="203" y="0"/>
                </a:moveTo>
                <a:lnTo>
                  <a:pt x="203" y="411"/>
                </a:lnTo>
                <a:lnTo>
                  <a:pt x="0" y="411"/>
                </a:lnTo>
                <a:lnTo>
                  <a:pt x="0" y="0"/>
                </a:lnTo>
                <a:lnTo>
                  <a:pt x="47" y="0"/>
                </a:lnTo>
                <a:lnTo>
                  <a:pt x="47" y="99"/>
                </a:lnTo>
                <a:lnTo>
                  <a:pt x="85" y="63"/>
                </a:lnTo>
                <a:lnTo>
                  <a:pt x="132" y="99"/>
                </a:lnTo>
                <a:lnTo>
                  <a:pt x="132" y="0"/>
                </a:lnTo>
                <a:lnTo>
                  <a:pt x="203"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326"/>
          <p:cNvSpPr/>
          <p:nvPr userDrawn="1"/>
        </p:nvSpPr>
        <p:spPr bwMode="auto">
          <a:xfrm>
            <a:off x="427518" y="753740"/>
            <a:ext cx="436071" cy="118928"/>
          </a:xfrm>
          <a:custGeom>
            <a:avLst/>
            <a:gdLst>
              <a:gd name="T0" fmla="*/ 135 w 135"/>
              <a:gd name="T1" fmla="*/ 32 h 37"/>
              <a:gd name="T2" fmla="*/ 135 w 135"/>
              <a:gd name="T3" fmla="*/ 37 h 37"/>
              <a:gd name="T4" fmla="*/ 14 w 135"/>
              <a:gd name="T5" fmla="*/ 37 h 37"/>
              <a:gd name="T6" fmla="*/ 0 w 135"/>
              <a:gd name="T7" fmla="*/ 23 h 37"/>
              <a:gd name="T8" fmla="*/ 0 w 135"/>
              <a:gd name="T9" fmla="*/ 14 h 37"/>
              <a:gd name="T10" fmla="*/ 14 w 135"/>
              <a:gd name="T11" fmla="*/ 0 h 37"/>
              <a:gd name="T12" fmla="*/ 135 w 135"/>
              <a:gd name="T13" fmla="*/ 0 h 37"/>
              <a:gd name="T14" fmla="*/ 135 w 135"/>
              <a:gd name="T15" fmla="*/ 5 h 37"/>
              <a:gd name="T16" fmla="*/ 18 w 135"/>
              <a:gd name="T17" fmla="*/ 5 h 37"/>
              <a:gd name="T18" fmla="*/ 5 w 135"/>
              <a:gd name="T19" fmla="*/ 15 h 37"/>
              <a:gd name="T20" fmla="*/ 5 w 135"/>
              <a:gd name="T21" fmla="*/ 21 h 37"/>
              <a:gd name="T22" fmla="*/ 18 w 135"/>
              <a:gd name="T23" fmla="*/ 32 h 37"/>
              <a:gd name="T24" fmla="*/ 135 w 135"/>
              <a:gd name="T25"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37">
                <a:moveTo>
                  <a:pt x="135" y="32"/>
                </a:moveTo>
                <a:cubicBezTo>
                  <a:pt x="135" y="37"/>
                  <a:pt x="135" y="37"/>
                  <a:pt x="135" y="37"/>
                </a:cubicBezTo>
                <a:cubicBezTo>
                  <a:pt x="14" y="37"/>
                  <a:pt x="14" y="37"/>
                  <a:pt x="14" y="37"/>
                </a:cubicBezTo>
                <a:cubicBezTo>
                  <a:pt x="6" y="37"/>
                  <a:pt x="0" y="30"/>
                  <a:pt x="0" y="23"/>
                </a:cubicBezTo>
                <a:cubicBezTo>
                  <a:pt x="0" y="14"/>
                  <a:pt x="0" y="14"/>
                  <a:pt x="0" y="14"/>
                </a:cubicBezTo>
                <a:cubicBezTo>
                  <a:pt x="0" y="6"/>
                  <a:pt x="6" y="0"/>
                  <a:pt x="14" y="0"/>
                </a:cubicBezTo>
                <a:cubicBezTo>
                  <a:pt x="135" y="0"/>
                  <a:pt x="135" y="0"/>
                  <a:pt x="135" y="0"/>
                </a:cubicBezTo>
                <a:cubicBezTo>
                  <a:pt x="135" y="5"/>
                  <a:pt x="135" y="5"/>
                  <a:pt x="135" y="5"/>
                </a:cubicBezTo>
                <a:cubicBezTo>
                  <a:pt x="18" y="5"/>
                  <a:pt x="18" y="5"/>
                  <a:pt x="18" y="5"/>
                </a:cubicBezTo>
                <a:cubicBezTo>
                  <a:pt x="11" y="5"/>
                  <a:pt x="5" y="9"/>
                  <a:pt x="5" y="15"/>
                </a:cubicBezTo>
                <a:cubicBezTo>
                  <a:pt x="5" y="21"/>
                  <a:pt x="5" y="21"/>
                  <a:pt x="5" y="21"/>
                </a:cubicBezTo>
                <a:cubicBezTo>
                  <a:pt x="5" y="27"/>
                  <a:pt x="11" y="32"/>
                  <a:pt x="18" y="32"/>
                </a:cubicBezTo>
                <a:lnTo>
                  <a:pt x="135" y="32"/>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Rectangle 328"/>
          <p:cNvSpPr>
            <a:spLocks noChangeArrowheads="1"/>
          </p:cNvSpPr>
          <p:nvPr userDrawn="1"/>
        </p:nvSpPr>
        <p:spPr bwMode="auto">
          <a:xfrm>
            <a:off x="491765" y="78928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Rectangle 328"/>
          <p:cNvSpPr>
            <a:spLocks noChangeArrowheads="1"/>
          </p:cNvSpPr>
          <p:nvPr userDrawn="1"/>
        </p:nvSpPr>
        <p:spPr bwMode="auto">
          <a:xfrm>
            <a:off x="491765" y="82103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 name="Freeform 324"/>
          <p:cNvSpPr/>
          <p:nvPr userDrawn="1"/>
        </p:nvSpPr>
        <p:spPr bwMode="auto">
          <a:xfrm>
            <a:off x="1026358" y="288275"/>
            <a:ext cx="94323" cy="123029"/>
          </a:xfrm>
          <a:custGeom>
            <a:avLst/>
            <a:gdLst>
              <a:gd name="T0" fmla="*/ 29 w 29"/>
              <a:gd name="T1" fmla="*/ 0 h 38"/>
              <a:gd name="T2" fmla="*/ 29 w 29"/>
              <a:gd name="T3" fmla="*/ 38 h 38"/>
              <a:gd name="T4" fmla="*/ 12 w 29"/>
              <a:gd name="T5" fmla="*/ 26 h 38"/>
              <a:gd name="T6" fmla="*/ 1 w 29"/>
              <a:gd name="T7" fmla="*/ 37 h 38"/>
              <a:gd name="T8" fmla="*/ 1 w 29"/>
              <a:gd name="T9" fmla="*/ 0 h 38"/>
              <a:gd name="T10" fmla="*/ 29 w 29"/>
              <a:gd name="T11" fmla="*/ 0 h 38"/>
            </a:gdLst>
            <a:ahLst/>
            <a:cxnLst>
              <a:cxn ang="0">
                <a:pos x="T0" y="T1"/>
              </a:cxn>
              <a:cxn ang="0">
                <a:pos x="T2" y="T3"/>
              </a:cxn>
              <a:cxn ang="0">
                <a:pos x="T4" y="T5"/>
              </a:cxn>
              <a:cxn ang="0">
                <a:pos x="T6" y="T7"/>
              </a:cxn>
              <a:cxn ang="0">
                <a:pos x="T8" y="T9"/>
              </a:cxn>
              <a:cxn ang="0">
                <a:pos x="T10" y="T11"/>
              </a:cxn>
            </a:cxnLst>
            <a:rect l="0" t="0" r="r" b="b"/>
            <a:pathLst>
              <a:path w="29" h="38">
                <a:moveTo>
                  <a:pt x="29" y="0"/>
                </a:moveTo>
                <a:cubicBezTo>
                  <a:pt x="29" y="38"/>
                  <a:pt x="29" y="38"/>
                  <a:pt x="29" y="38"/>
                </a:cubicBezTo>
                <a:cubicBezTo>
                  <a:pt x="12" y="26"/>
                  <a:pt x="12" y="26"/>
                  <a:pt x="12" y="26"/>
                </a:cubicBezTo>
                <a:cubicBezTo>
                  <a:pt x="12" y="26"/>
                  <a:pt x="1" y="37"/>
                  <a:pt x="1" y="37"/>
                </a:cubicBezTo>
                <a:cubicBezTo>
                  <a:pt x="0" y="38"/>
                  <a:pt x="1" y="0"/>
                  <a:pt x="1" y="0"/>
                </a:cubicBezTo>
                <a:lnTo>
                  <a:pt x="29"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文本框 13"/>
          <p:cNvSpPr txBox="1"/>
          <p:nvPr userDrawn="1"/>
        </p:nvSpPr>
        <p:spPr>
          <a:xfrm>
            <a:off x="1588100" y="371061"/>
            <a:ext cx="6097464" cy="523220"/>
          </a:xfrm>
          <a:prstGeom prst="rect">
            <a:avLst/>
          </a:prstGeom>
          <a:noFill/>
        </p:spPr>
        <p:txBody>
          <a:bodyPr wrap="square">
            <a:spAutoFit/>
          </a:bodyPr>
          <a:lstStyle/>
          <a:p>
            <a:pPr marL="0" algn="l" rtl="0" eaLnBrk="1" latinLnBrk="0" hangingPunct="1">
              <a:spcBef>
                <a:spcPts val="0"/>
              </a:spcBef>
              <a:spcAft>
                <a:spcPts val="0"/>
              </a:spcAft>
            </a:pPr>
            <a:r>
              <a:rPr lang="zh-CN" altLang="en-US" sz="2800" b="1" kern="1200" spc="0" dirty="0">
                <a:solidFill>
                  <a:schemeClr val="tx1"/>
                </a:solidFill>
                <a:effectLst/>
                <a:latin typeface="微软雅黑" panose="020B0503020204020204" pitchFamily="34" charset="-122"/>
                <a:ea typeface="微软雅黑" panose="020B0503020204020204" pitchFamily="34" charset="-122"/>
                <a:cs typeface="+mn-cs"/>
              </a:rPr>
              <a:t>研究目标及内容</a:t>
            </a:r>
          </a:p>
        </p:txBody>
      </p:sp>
    </p:spTree>
  </p:cSld>
  <p:clrMapOvr>
    <a:masterClrMapping/>
  </p:clrMapOvr>
  <p:transition>
    <p:wipe/>
  </p:transition>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自定义版式">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EC88C198-59B6-4128-B4D6-56732DD9FD2F}" type="datetime5">
              <a:rPr lang="zh-HK" altLang="en-US" smtClean="0">
                <a:solidFill>
                  <a:prstClr val="black">
                    <a:tint val="75000"/>
                  </a:prstClr>
                </a:solidFill>
              </a:rPr>
              <a:t>2025/5/31</a:t>
            </a:fld>
            <a:endParaRPr lang="zh-HK"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
        <p:nvSpPr>
          <p:cNvPr id="7" name="Rectangle 322"/>
          <p:cNvSpPr>
            <a:spLocks noChangeArrowheads="1"/>
          </p:cNvSpPr>
          <p:nvPr userDrawn="1"/>
        </p:nvSpPr>
        <p:spPr bwMode="auto">
          <a:xfrm>
            <a:off x="1260748" y="310834"/>
            <a:ext cx="95690" cy="561834"/>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 name="Freeform 325"/>
          <p:cNvSpPr/>
          <p:nvPr userDrawn="1"/>
        </p:nvSpPr>
        <p:spPr bwMode="auto">
          <a:xfrm>
            <a:off x="441919" y="439333"/>
            <a:ext cx="492118" cy="295271"/>
          </a:xfrm>
          <a:custGeom>
            <a:avLst/>
            <a:gdLst>
              <a:gd name="T0" fmla="*/ 360 w 360"/>
              <a:gd name="T1" fmla="*/ 0 h 216"/>
              <a:gd name="T2" fmla="*/ 308 w 360"/>
              <a:gd name="T3" fmla="*/ 216 h 216"/>
              <a:gd name="T4" fmla="*/ 0 w 360"/>
              <a:gd name="T5" fmla="*/ 216 h 216"/>
              <a:gd name="T6" fmla="*/ 142 w 360"/>
              <a:gd name="T7" fmla="*/ 0 h 216"/>
              <a:gd name="T8" fmla="*/ 360 w 360"/>
              <a:gd name="T9" fmla="*/ 0 h 216"/>
            </a:gdLst>
            <a:ahLst/>
            <a:cxnLst>
              <a:cxn ang="0">
                <a:pos x="T0" y="T1"/>
              </a:cxn>
              <a:cxn ang="0">
                <a:pos x="T2" y="T3"/>
              </a:cxn>
              <a:cxn ang="0">
                <a:pos x="T4" y="T5"/>
              </a:cxn>
              <a:cxn ang="0">
                <a:pos x="T6" y="T7"/>
              </a:cxn>
              <a:cxn ang="0">
                <a:pos x="T8" y="T9"/>
              </a:cxn>
            </a:cxnLst>
            <a:rect l="0" t="0" r="r" b="b"/>
            <a:pathLst>
              <a:path w="360" h="216">
                <a:moveTo>
                  <a:pt x="360" y="0"/>
                </a:moveTo>
                <a:lnTo>
                  <a:pt x="308" y="216"/>
                </a:lnTo>
                <a:lnTo>
                  <a:pt x="0" y="216"/>
                </a:lnTo>
                <a:lnTo>
                  <a:pt x="142" y="0"/>
                </a:lnTo>
                <a:lnTo>
                  <a:pt x="360"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323"/>
          <p:cNvSpPr/>
          <p:nvPr userDrawn="1"/>
        </p:nvSpPr>
        <p:spPr bwMode="auto">
          <a:xfrm>
            <a:off x="953809" y="310834"/>
            <a:ext cx="277500" cy="561834"/>
          </a:xfrm>
          <a:custGeom>
            <a:avLst/>
            <a:gdLst>
              <a:gd name="T0" fmla="*/ 203 w 203"/>
              <a:gd name="T1" fmla="*/ 0 h 411"/>
              <a:gd name="T2" fmla="*/ 203 w 203"/>
              <a:gd name="T3" fmla="*/ 411 h 411"/>
              <a:gd name="T4" fmla="*/ 0 w 203"/>
              <a:gd name="T5" fmla="*/ 411 h 411"/>
              <a:gd name="T6" fmla="*/ 0 w 203"/>
              <a:gd name="T7" fmla="*/ 0 h 411"/>
              <a:gd name="T8" fmla="*/ 47 w 203"/>
              <a:gd name="T9" fmla="*/ 0 h 411"/>
              <a:gd name="T10" fmla="*/ 47 w 203"/>
              <a:gd name="T11" fmla="*/ 99 h 411"/>
              <a:gd name="T12" fmla="*/ 85 w 203"/>
              <a:gd name="T13" fmla="*/ 63 h 411"/>
              <a:gd name="T14" fmla="*/ 132 w 203"/>
              <a:gd name="T15" fmla="*/ 99 h 411"/>
              <a:gd name="T16" fmla="*/ 132 w 203"/>
              <a:gd name="T17" fmla="*/ 0 h 411"/>
              <a:gd name="T18" fmla="*/ 203 w 203"/>
              <a:gd name="T1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411">
                <a:moveTo>
                  <a:pt x="203" y="0"/>
                </a:moveTo>
                <a:lnTo>
                  <a:pt x="203" y="411"/>
                </a:lnTo>
                <a:lnTo>
                  <a:pt x="0" y="411"/>
                </a:lnTo>
                <a:lnTo>
                  <a:pt x="0" y="0"/>
                </a:lnTo>
                <a:lnTo>
                  <a:pt x="47" y="0"/>
                </a:lnTo>
                <a:lnTo>
                  <a:pt x="47" y="99"/>
                </a:lnTo>
                <a:lnTo>
                  <a:pt x="85" y="63"/>
                </a:lnTo>
                <a:lnTo>
                  <a:pt x="132" y="99"/>
                </a:lnTo>
                <a:lnTo>
                  <a:pt x="132" y="0"/>
                </a:lnTo>
                <a:lnTo>
                  <a:pt x="203"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326"/>
          <p:cNvSpPr/>
          <p:nvPr userDrawn="1"/>
        </p:nvSpPr>
        <p:spPr bwMode="auto">
          <a:xfrm>
            <a:off x="427518" y="753740"/>
            <a:ext cx="436071" cy="118928"/>
          </a:xfrm>
          <a:custGeom>
            <a:avLst/>
            <a:gdLst>
              <a:gd name="T0" fmla="*/ 135 w 135"/>
              <a:gd name="T1" fmla="*/ 32 h 37"/>
              <a:gd name="T2" fmla="*/ 135 w 135"/>
              <a:gd name="T3" fmla="*/ 37 h 37"/>
              <a:gd name="T4" fmla="*/ 14 w 135"/>
              <a:gd name="T5" fmla="*/ 37 h 37"/>
              <a:gd name="T6" fmla="*/ 0 w 135"/>
              <a:gd name="T7" fmla="*/ 23 h 37"/>
              <a:gd name="T8" fmla="*/ 0 w 135"/>
              <a:gd name="T9" fmla="*/ 14 h 37"/>
              <a:gd name="T10" fmla="*/ 14 w 135"/>
              <a:gd name="T11" fmla="*/ 0 h 37"/>
              <a:gd name="T12" fmla="*/ 135 w 135"/>
              <a:gd name="T13" fmla="*/ 0 h 37"/>
              <a:gd name="T14" fmla="*/ 135 w 135"/>
              <a:gd name="T15" fmla="*/ 5 h 37"/>
              <a:gd name="T16" fmla="*/ 18 w 135"/>
              <a:gd name="T17" fmla="*/ 5 h 37"/>
              <a:gd name="T18" fmla="*/ 5 w 135"/>
              <a:gd name="T19" fmla="*/ 15 h 37"/>
              <a:gd name="T20" fmla="*/ 5 w 135"/>
              <a:gd name="T21" fmla="*/ 21 h 37"/>
              <a:gd name="T22" fmla="*/ 18 w 135"/>
              <a:gd name="T23" fmla="*/ 32 h 37"/>
              <a:gd name="T24" fmla="*/ 135 w 135"/>
              <a:gd name="T25"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37">
                <a:moveTo>
                  <a:pt x="135" y="32"/>
                </a:moveTo>
                <a:cubicBezTo>
                  <a:pt x="135" y="37"/>
                  <a:pt x="135" y="37"/>
                  <a:pt x="135" y="37"/>
                </a:cubicBezTo>
                <a:cubicBezTo>
                  <a:pt x="14" y="37"/>
                  <a:pt x="14" y="37"/>
                  <a:pt x="14" y="37"/>
                </a:cubicBezTo>
                <a:cubicBezTo>
                  <a:pt x="6" y="37"/>
                  <a:pt x="0" y="30"/>
                  <a:pt x="0" y="23"/>
                </a:cubicBezTo>
                <a:cubicBezTo>
                  <a:pt x="0" y="14"/>
                  <a:pt x="0" y="14"/>
                  <a:pt x="0" y="14"/>
                </a:cubicBezTo>
                <a:cubicBezTo>
                  <a:pt x="0" y="6"/>
                  <a:pt x="6" y="0"/>
                  <a:pt x="14" y="0"/>
                </a:cubicBezTo>
                <a:cubicBezTo>
                  <a:pt x="135" y="0"/>
                  <a:pt x="135" y="0"/>
                  <a:pt x="135" y="0"/>
                </a:cubicBezTo>
                <a:cubicBezTo>
                  <a:pt x="135" y="5"/>
                  <a:pt x="135" y="5"/>
                  <a:pt x="135" y="5"/>
                </a:cubicBezTo>
                <a:cubicBezTo>
                  <a:pt x="18" y="5"/>
                  <a:pt x="18" y="5"/>
                  <a:pt x="18" y="5"/>
                </a:cubicBezTo>
                <a:cubicBezTo>
                  <a:pt x="11" y="5"/>
                  <a:pt x="5" y="9"/>
                  <a:pt x="5" y="15"/>
                </a:cubicBezTo>
                <a:cubicBezTo>
                  <a:pt x="5" y="21"/>
                  <a:pt x="5" y="21"/>
                  <a:pt x="5" y="21"/>
                </a:cubicBezTo>
                <a:cubicBezTo>
                  <a:pt x="5" y="27"/>
                  <a:pt x="11" y="32"/>
                  <a:pt x="18" y="32"/>
                </a:cubicBezTo>
                <a:lnTo>
                  <a:pt x="135" y="32"/>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Rectangle 328"/>
          <p:cNvSpPr>
            <a:spLocks noChangeArrowheads="1"/>
          </p:cNvSpPr>
          <p:nvPr userDrawn="1"/>
        </p:nvSpPr>
        <p:spPr bwMode="auto">
          <a:xfrm>
            <a:off x="491765" y="78928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Rectangle 328"/>
          <p:cNvSpPr>
            <a:spLocks noChangeArrowheads="1"/>
          </p:cNvSpPr>
          <p:nvPr userDrawn="1"/>
        </p:nvSpPr>
        <p:spPr bwMode="auto">
          <a:xfrm>
            <a:off x="491765" y="82103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 name="Freeform 324"/>
          <p:cNvSpPr/>
          <p:nvPr userDrawn="1"/>
        </p:nvSpPr>
        <p:spPr bwMode="auto">
          <a:xfrm>
            <a:off x="1026358" y="288275"/>
            <a:ext cx="94323" cy="123029"/>
          </a:xfrm>
          <a:custGeom>
            <a:avLst/>
            <a:gdLst>
              <a:gd name="T0" fmla="*/ 29 w 29"/>
              <a:gd name="T1" fmla="*/ 0 h 38"/>
              <a:gd name="T2" fmla="*/ 29 w 29"/>
              <a:gd name="T3" fmla="*/ 38 h 38"/>
              <a:gd name="T4" fmla="*/ 12 w 29"/>
              <a:gd name="T5" fmla="*/ 26 h 38"/>
              <a:gd name="T6" fmla="*/ 1 w 29"/>
              <a:gd name="T7" fmla="*/ 37 h 38"/>
              <a:gd name="T8" fmla="*/ 1 w 29"/>
              <a:gd name="T9" fmla="*/ 0 h 38"/>
              <a:gd name="T10" fmla="*/ 29 w 29"/>
              <a:gd name="T11" fmla="*/ 0 h 38"/>
            </a:gdLst>
            <a:ahLst/>
            <a:cxnLst>
              <a:cxn ang="0">
                <a:pos x="T0" y="T1"/>
              </a:cxn>
              <a:cxn ang="0">
                <a:pos x="T2" y="T3"/>
              </a:cxn>
              <a:cxn ang="0">
                <a:pos x="T4" y="T5"/>
              </a:cxn>
              <a:cxn ang="0">
                <a:pos x="T6" y="T7"/>
              </a:cxn>
              <a:cxn ang="0">
                <a:pos x="T8" y="T9"/>
              </a:cxn>
              <a:cxn ang="0">
                <a:pos x="T10" y="T11"/>
              </a:cxn>
            </a:cxnLst>
            <a:rect l="0" t="0" r="r" b="b"/>
            <a:pathLst>
              <a:path w="29" h="38">
                <a:moveTo>
                  <a:pt x="29" y="0"/>
                </a:moveTo>
                <a:cubicBezTo>
                  <a:pt x="29" y="38"/>
                  <a:pt x="29" y="38"/>
                  <a:pt x="29" y="38"/>
                </a:cubicBezTo>
                <a:cubicBezTo>
                  <a:pt x="12" y="26"/>
                  <a:pt x="12" y="26"/>
                  <a:pt x="12" y="26"/>
                </a:cubicBezTo>
                <a:cubicBezTo>
                  <a:pt x="12" y="26"/>
                  <a:pt x="1" y="37"/>
                  <a:pt x="1" y="37"/>
                </a:cubicBezTo>
                <a:cubicBezTo>
                  <a:pt x="0" y="38"/>
                  <a:pt x="1" y="0"/>
                  <a:pt x="1" y="0"/>
                </a:cubicBezTo>
                <a:lnTo>
                  <a:pt x="29"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文本框 13"/>
          <p:cNvSpPr txBox="1"/>
          <p:nvPr userDrawn="1"/>
        </p:nvSpPr>
        <p:spPr>
          <a:xfrm>
            <a:off x="1588100" y="371061"/>
            <a:ext cx="6097464" cy="523220"/>
          </a:xfrm>
          <a:prstGeom prst="rect">
            <a:avLst/>
          </a:prstGeom>
          <a:noFill/>
        </p:spPr>
        <p:txBody>
          <a:bodyPr wrap="square">
            <a:spAutoFit/>
          </a:bodyPr>
          <a:lstStyle/>
          <a:p>
            <a:pPr marL="0" algn="l" rtl="0" eaLnBrk="1" latinLnBrk="0" hangingPunct="1">
              <a:spcBef>
                <a:spcPts val="0"/>
              </a:spcBef>
              <a:spcAft>
                <a:spcPts val="0"/>
              </a:spcAft>
            </a:pPr>
            <a:r>
              <a:rPr lang="zh-CN" altLang="en-US" sz="2800" b="1" kern="1200" spc="0" dirty="0">
                <a:solidFill>
                  <a:schemeClr val="tx1"/>
                </a:solidFill>
                <a:effectLst/>
                <a:latin typeface="微软雅黑" panose="020B0503020204020204" pitchFamily="34" charset="-122"/>
                <a:ea typeface="微软雅黑" panose="020B0503020204020204" pitchFamily="34" charset="-122"/>
                <a:cs typeface="+mn-cs"/>
              </a:rPr>
              <a:t>研究方法与技术路线</a:t>
            </a:r>
          </a:p>
        </p:txBody>
      </p:sp>
    </p:spTree>
  </p:cSld>
  <p:clrMapOvr>
    <a:masterClrMapping/>
  </p:clrMapOvr>
  <p:transition>
    <p:wipe/>
  </p:transition>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自定义版式">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EC88C198-59B6-4128-B4D6-56732DD9FD2F}" type="datetime5">
              <a:rPr lang="zh-HK" altLang="en-US" smtClean="0">
                <a:solidFill>
                  <a:prstClr val="black">
                    <a:tint val="75000"/>
                  </a:prstClr>
                </a:solidFill>
              </a:rPr>
              <a:t>2025/5/31</a:t>
            </a:fld>
            <a:endParaRPr lang="zh-HK"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
        <p:nvSpPr>
          <p:cNvPr id="7" name="Rectangle 322"/>
          <p:cNvSpPr>
            <a:spLocks noChangeArrowheads="1"/>
          </p:cNvSpPr>
          <p:nvPr userDrawn="1"/>
        </p:nvSpPr>
        <p:spPr bwMode="auto">
          <a:xfrm>
            <a:off x="1260748" y="310834"/>
            <a:ext cx="95690" cy="561834"/>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 name="Freeform 325"/>
          <p:cNvSpPr/>
          <p:nvPr userDrawn="1"/>
        </p:nvSpPr>
        <p:spPr bwMode="auto">
          <a:xfrm>
            <a:off x="441919" y="439333"/>
            <a:ext cx="492118" cy="295271"/>
          </a:xfrm>
          <a:custGeom>
            <a:avLst/>
            <a:gdLst>
              <a:gd name="T0" fmla="*/ 360 w 360"/>
              <a:gd name="T1" fmla="*/ 0 h 216"/>
              <a:gd name="T2" fmla="*/ 308 w 360"/>
              <a:gd name="T3" fmla="*/ 216 h 216"/>
              <a:gd name="T4" fmla="*/ 0 w 360"/>
              <a:gd name="T5" fmla="*/ 216 h 216"/>
              <a:gd name="T6" fmla="*/ 142 w 360"/>
              <a:gd name="T7" fmla="*/ 0 h 216"/>
              <a:gd name="T8" fmla="*/ 360 w 360"/>
              <a:gd name="T9" fmla="*/ 0 h 216"/>
            </a:gdLst>
            <a:ahLst/>
            <a:cxnLst>
              <a:cxn ang="0">
                <a:pos x="T0" y="T1"/>
              </a:cxn>
              <a:cxn ang="0">
                <a:pos x="T2" y="T3"/>
              </a:cxn>
              <a:cxn ang="0">
                <a:pos x="T4" y="T5"/>
              </a:cxn>
              <a:cxn ang="0">
                <a:pos x="T6" y="T7"/>
              </a:cxn>
              <a:cxn ang="0">
                <a:pos x="T8" y="T9"/>
              </a:cxn>
            </a:cxnLst>
            <a:rect l="0" t="0" r="r" b="b"/>
            <a:pathLst>
              <a:path w="360" h="216">
                <a:moveTo>
                  <a:pt x="360" y="0"/>
                </a:moveTo>
                <a:lnTo>
                  <a:pt x="308" y="216"/>
                </a:lnTo>
                <a:lnTo>
                  <a:pt x="0" y="216"/>
                </a:lnTo>
                <a:lnTo>
                  <a:pt x="142" y="0"/>
                </a:lnTo>
                <a:lnTo>
                  <a:pt x="360"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323"/>
          <p:cNvSpPr/>
          <p:nvPr userDrawn="1"/>
        </p:nvSpPr>
        <p:spPr bwMode="auto">
          <a:xfrm>
            <a:off x="953809" y="310834"/>
            <a:ext cx="277500" cy="561834"/>
          </a:xfrm>
          <a:custGeom>
            <a:avLst/>
            <a:gdLst>
              <a:gd name="T0" fmla="*/ 203 w 203"/>
              <a:gd name="T1" fmla="*/ 0 h 411"/>
              <a:gd name="T2" fmla="*/ 203 w 203"/>
              <a:gd name="T3" fmla="*/ 411 h 411"/>
              <a:gd name="T4" fmla="*/ 0 w 203"/>
              <a:gd name="T5" fmla="*/ 411 h 411"/>
              <a:gd name="T6" fmla="*/ 0 w 203"/>
              <a:gd name="T7" fmla="*/ 0 h 411"/>
              <a:gd name="T8" fmla="*/ 47 w 203"/>
              <a:gd name="T9" fmla="*/ 0 h 411"/>
              <a:gd name="T10" fmla="*/ 47 w 203"/>
              <a:gd name="T11" fmla="*/ 99 h 411"/>
              <a:gd name="T12" fmla="*/ 85 w 203"/>
              <a:gd name="T13" fmla="*/ 63 h 411"/>
              <a:gd name="T14" fmla="*/ 132 w 203"/>
              <a:gd name="T15" fmla="*/ 99 h 411"/>
              <a:gd name="T16" fmla="*/ 132 w 203"/>
              <a:gd name="T17" fmla="*/ 0 h 411"/>
              <a:gd name="T18" fmla="*/ 203 w 203"/>
              <a:gd name="T1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411">
                <a:moveTo>
                  <a:pt x="203" y="0"/>
                </a:moveTo>
                <a:lnTo>
                  <a:pt x="203" y="411"/>
                </a:lnTo>
                <a:lnTo>
                  <a:pt x="0" y="411"/>
                </a:lnTo>
                <a:lnTo>
                  <a:pt x="0" y="0"/>
                </a:lnTo>
                <a:lnTo>
                  <a:pt x="47" y="0"/>
                </a:lnTo>
                <a:lnTo>
                  <a:pt x="47" y="99"/>
                </a:lnTo>
                <a:lnTo>
                  <a:pt x="85" y="63"/>
                </a:lnTo>
                <a:lnTo>
                  <a:pt x="132" y="99"/>
                </a:lnTo>
                <a:lnTo>
                  <a:pt x="132" y="0"/>
                </a:lnTo>
                <a:lnTo>
                  <a:pt x="203"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326"/>
          <p:cNvSpPr/>
          <p:nvPr userDrawn="1"/>
        </p:nvSpPr>
        <p:spPr bwMode="auto">
          <a:xfrm>
            <a:off x="427518" y="753740"/>
            <a:ext cx="436071" cy="118928"/>
          </a:xfrm>
          <a:custGeom>
            <a:avLst/>
            <a:gdLst>
              <a:gd name="T0" fmla="*/ 135 w 135"/>
              <a:gd name="T1" fmla="*/ 32 h 37"/>
              <a:gd name="T2" fmla="*/ 135 w 135"/>
              <a:gd name="T3" fmla="*/ 37 h 37"/>
              <a:gd name="T4" fmla="*/ 14 w 135"/>
              <a:gd name="T5" fmla="*/ 37 h 37"/>
              <a:gd name="T6" fmla="*/ 0 w 135"/>
              <a:gd name="T7" fmla="*/ 23 h 37"/>
              <a:gd name="T8" fmla="*/ 0 w 135"/>
              <a:gd name="T9" fmla="*/ 14 h 37"/>
              <a:gd name="T10" fmla="*/ 14 w 135"/>
              <a:gd name="T11" fmla="*/ 0 h 37"/>
              <a:gd name="T12" fmla="*/ 135 w 135"/>
              <a:gd name="T13" fmla="*/ 0 h 37"/>
              <a:gd name="T14" fmla="*/ 135 w 135"/>
              <a:gd name="T15" fmla="*/ 5 h 37"/>
              <a:gd name="T16" fmla="*/ 18 w 135"/>
              <a:gd name="T17" fmla="*/ 5 h 37"/>
              <a:gd name="T18" fmla="*/ 5 w 135"/>
              <a:gd name="T19" fmla="*/ 15 h 37"/>
              <a:gd name="T20" fmla="*/ 5 w 135"/>
              <a:gd name="T21" fmla="*/ 21 h 37"/>
              <a:gd name="T22" fmla="*/ 18 w 135"/>
              <a:gd name="T23" fmla="*/ 32 h 37"/>
              <a:gd name="T24" fmla="*/ 135 w 135"/>
              <a:gd name="T25"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37">
                <a:moveTo>
                  <a:pt x="135" y="32"/>
                </a:moveTo>
                <a:cubicBezTo>
                  <a:pt x="135" y="37"/>
                  <a:pt x="135" y="37"/>
                  <a:pt x="135" y="37"/>
                </a:cubicBezTo>
                <a:cubicBezTo>
                  <a:pt x="14" y="37"/>
                  <a:pt x="14" y="37"/>
                  <a:pt x="14" y="37"/>
                </a:cubicBezTo>
                <a:cubicBezTo>
                  <a:pt x="6" y="37"/>
                  <a:pt x="0" y="30"/>
                  <a:pt x="0" y="23"/>
                </a:cubicBezTo>
                <a:cubicBezTo>
                  <a:pt x="0" y="14"/>
                  <a:pt x="0" y="14"/>
                  <a:pt x="0" y="14"/>
                </a:cubicBezTo>
                <a:cubicBezTo>
                  <a:pt x="0" y="6"/>
                  <a:pt x="6" y="0"/>
                  <a:pt x="14" y="0"/>
                </a:cubicBezTo>
                <a:cubicBezTo>
                  <a:pt x="135" y="0"/>
                  <a:pt x="135" y="0"/>
                  <a:pt x="135" y="0"/>
                </a:cubicBezTo>
                <a:cubicBezTo>
                  <a:pt x="135" y="5"/>
                  <a:pt x="135" y="5"/>
                  <a:pt x="135" y="5"/>
                </a:cubicBezTo>
                <a:cubicBezTo>
                  <a:pt x="18" y="5"/>
                  <a:pt x="18" y="5"/>
                  <a:pt x="18" y="5"/>
                </a:cubicBezTo>
                <a:cubicBezTo>
                  <a:pt x="11" y="5"/>
                  <a:pt x="5" y="9"/>
                  <a:pt x="5" y="15"/>
                </a:cubicBezTo>
                <a:cubicBezTo>
                  <a:pt x="5" y="21"/>
                  <a:pt x="5" y="21"/>
                  <a:pt x="5" y="21"/>
                </a:cubicBezTo>
                <a:cubicBezTo>
                  <a:pt x="5" y="27"/>
                  <a:pt x="11" y="32"/>
                  <a:pt x="18" y="32"/>
                </a:cubicBezTo>
                <a:lnTo>
                  <a:pt x="135" y="32"/>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Rectangle 328"/>
          <p:cNvSpPr>
            <a:spLocks noChangeArrowheads="1"/>
          </p:cNvSpPr>
          <p:nvPr userDrawn="1"/>
        </p:nvSpPr>
        <p:spPr bwMode="auto">
          <a:xfrm>
            <a:off x="491765" y="78928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Rectangle 328"/>
          <p:cNvSpPr>
            <a:spLocks noChangeArrowheads="1"/>
          </p:cNvSpPr>
          <p:nvPr userDrawn="1"/>
        </p:nvSpPr>
        <p:spPr bwMode="auto">
          <a:xfrm>
            <a:off x="491765" y="82103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 name="Freeform 324"/>
          <p:cNvSpPr/>
          <p:nvPr userDrawn="1"/>
        </p:nvSpPr>
        <p:spPr bwMode="auto">
          <a:xfrm>
            <a:off x="1026358" y="288275"/>
            <a:ext cx="94323" cy="123029"/>
          </a:xfrm>
          <a:custGeom>
            <a:avLst/>
            <a:gdLst>
              <a:gd name="T0" fmla="*/ 29 w 29"/>
              <a:gd name="T1" fmla="*/ 0 h 38"/>
              <a:gd name="T2" fmla="*/ 29 w 29"/>
              <a:gd name="T3" fmla="*/ 38 h 38"/>
              <a:gd name="T4" fmla="*/ 12 w 29"/>
              <a:gd name="T5" fmla="*/ 26 h 38"/>
              <a:gd name="T6" fmla="*/ 1 w 29"/>
              <a:gd name="T7" fmla="*/ 37 h 38"/>
              <a:gd name="T8" fmla="*/ 1 w 29"/>
              <a:gd name="T9" fmla="*/ 0 h 38"/>
              <a:gd name="T10" fmla="*/ 29 w 29"/>
              <a:gd name="T11" fmla="*/ 0 h 38"/>
            </a:gdLst>
            <a:ahLst/>
            <a:cxnLst>
              <a:cxn ang="0">
                <a:pos x="T0" y="T1"/>
              </a:cxn>
              <a:cxn ang="0">
                <a:pos x="T2" y="T3"/>
              </a:cxn>
              <a:cxn ang="0">
                <a:pos x="T4" y="T5"/>
              </a:cxn>
              <a:cxn ang="0">
                <a:pos x="T6" y="T7"/>
              </a:cxn>
              <a:cxn ang="0">
                <a:pos x="T8" y="T9"/>
              </a:cxn>
              <a:cxn ang="0">
                <a:pos x="T10" y="T11"/>
              </a:cxn>
            </a:cxnLst>
            <a:rect l="0" t="0" r="r" b="b"/>
            <a:pathLst>
              <a:path w="29" h="38">
                <a:moveTo>
                  <a:pt x="29" y="0"/>
                </a:moveTo>
                <a:cubicBezTo>
                  <a:pt x="29" y="38"/>
                  <a:pt x="29" y="38"/>
                  <a:pt x="29" y="38"/>
                </a:cubicBezTo>
                <a:cubicBezTo>
                  <a:pt x="12" y="26"/>
                  <a:pt x="12" y="26"/>
                  <a:pt x="12" y="26"/>
                </a:cubicBezTo>
                <a:cubicBezTo>
                  <a:pt x="12" y="26"/>
                  <a:pt x="1" y="37"/>
                  <a:pt x="1" y="37"/>
                </a:cubicBezTo>
                <a:cubicBezTo>
                  <a:pt x="0" y="38"/>
                  <a:pt x="1" y="0"/>
                  <a:pt x="1" y="0"/>
                </a:cubicBezTo>
                <a:lnTo>
                  <a:pt x="29"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文本框 13"/>
          <p:cNvSpPr txBox="1"/>
          <p:nvPr userDrawn="1"/>
        </p:nvSpPr>
        <p:spPr>
          <a:xfrm>
            <a:off x="1588100" y="371061"/>
            <a:ext cx="6097464" cy="523220"/>
          </a:xfrm>
          <a:prstGeom prst="rect">
            <a:avLst/>
          </a:prstGeom>
          <a:noFill/>
        </p:spPr>
        <p:txBody>
          <a:bodyPr wrap="square">
            <a:spAutoFit/>
          </a:bodyPr>
          <a:lstStyle/>
          <a:p>
            <a:pPr marL="0" algn="l" rtl="0" eaLnBrk="1" latinLnBrk="0" hangingPunct="1">
              <a:spcBef>
                <a:spcPts val="0"/>
              </a:spcBef>
              <a:spcAft>
                <a:spcPts val="0"/>
              </a:spcAft>
            </a:pPr>
            <a:r>
              <a:rPr lang="zh-CN" altLang="en-US" sz="2800" b="1" kern="1200" spc="0" dirty="0">
                <a:solidFill>
                  <a:schemeClr val="tx1"/>
                </a:solidFill>
                <a:effectLst/>
                <a:latin typeface="微软雅黑" panose="020B0503020204020204" pitchFamily="34" charset="-122"/>
                <a:ea typeface="微软雅黑" panose="020B0503020204020204" pitchFamily="34" charset="-122"/>
                <a:cs typeface="+mn-cs"/>
              </a:rPr>
              <a:t>阶段性研究成果</a:t>
            </a:r>
          </a:p>
        </p:txBody>
      </p:sp>
    </p:spTree>
    <p:extLst>
      <p:ext uri="{BB962C8B-B14F-4D97-AF65-F5344CB8AC3E}">
        <p14:creationId xmlns:p14="http://schemas.microsoft.com/office/powerpoint/2010/main" val="145804754"/>
      </p:ext>
    </p:extLst>
  </p:cSld>
  <p:clrMapOvr>
    <a:masterClrMapping/>
  </p:clrMapOvr>
  <p:transition>
    <p:wipe/>
  </p:transition>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自定义版式">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EC88C198-59B6-4128-B4D6-56732DD9FD2F}" type="datetime5">
              <a:rPr lang="zh-HK" altLang="en-US" smtClean="0">
                <a:solidFill>
                  <a:prstClr val="black">
                    <a:tint val="75000"/>
                  </a:prstClr>
                </a:solidFill>
              </a:rPr>
              <a:t>2025/5/31</a:t>
            </a:fld>
            <a:endParaRPr lang="zh-HK"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
        <p:nvSpPr>
          <p:cNvPr id="7" name="Rectangle 322"/>
          <p:cNvSpPr>
            <a:spLocks noChangeArrowheads="1"/>
          </p:cNvSpPr>
          <p:nvPr userDrawn="1"/>
        </p:nvSpPr>
        <p:spPr bwMode="auto">
          <a:xfrm>
            <a:off x="1260748" y="310834"/>
            <a:ext cx="95690" cy="561834"/>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 name="Freeform 325"/>
          <p:cNvSpPr/>
          <p:nvPr userDrawn="1"/>
        </p:nvSpPr>
        <p:spPr bwMode="auto">
          <a:xfrm>
            <a:off x="441919" y="439333"/>
            <a:ext cx="492118" cy="295271"/>
          </a:xfrm>
          <a:custGeom>
            <a:avLst/>
            <a:gdLst>
              <a:gd name="T0" fmla="*/ 360 w 360"/>
              <a:gd name="T1" fmla="*/ 0 h 216"/>
              <a:gd name="T2" fmla="*/ 308 w 360"/>
              <a:gd name="T3" fmla="*/ 216 h 216"/>
              <a:gd name="T4" fmla="*/ 0 w 360"/>
              <a:gd name="T5" fmla="*/ 216 h 216"/>
              <a:gd name="T6" fmla="*/ 142 w 360"/>
              <a:gd name="T7" fmla="*/ 0 h 216"/>
              <a:gd name="T8" fmla="*/ 360 w 360"/>
              <a:gd name="T9" fmla="*/ 0 h 216"/>
            </a:gdLst>
            <a:ahLst/>
            <a:cxnLst>
              <a:cxn ang="0">
                <a:pos x="T0" y="T1"/>
              </a:cxn>
              <a:cxn ang="0">
                <a:pos x="T2" y="T3"/>
              </a:cxn>
              <a:cxn ang="0">
                <a:pos x="T4" y="T5"/>
              </a:cxn>
              <a:cxn ang="0">
                <a:pos x="T6" y="T7"/>
              </a:cxn>
              <a:cxn ang="0">
                <a:pos x="T8" y="T9"/>
              </a:cxn>
            </a:cxnLst>
            <a:rect l="0" t="0" r="r" b="b"/>
            <a:pathLst>
              <a:path w="360" h="216">
                <a:moveTo>
                  <a:pt x="360" y="0"/>
                </a:moveTo>
                <a:lnTo>
                  <a:pt x="308" y="216"/>
                </a:lnTo>
                <a:lnTo>
                  <a:pt x="0" y="216"/>
                </a:lnTo>
                <a:lnTo>
                  <a:pt x="142" y="0"/>
                </a:lnTo>
                <a:lnTo>
                  <a:pt x="360"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323"/>
          <p:cNvSpPr/>
          <p:nvPr userDrawn="1"/>
        </p:nvSpPr>
        <p:spPr bwMode="auto">
          <a:xfrm>
            <a:off x="953809" y="310834"/>
            <a:ext cx="277500" cy="561834"/>
          </a:xfrm>
          <a:custGeom>
            <a:avLst/>
            <a:gdLst>
              <a:gd name="T0" fmla="*/ 203 w 203"/>
              <a:gd name="T1" fmla="*/ 0 h 411"/>
              <a:gd name="T2" fmla="*/ 203 w 203"/>
              <a:gd name="T3" fmla="*/ 411 h 411"/>
              <a:gd name="T4" fmla="*/ 0 w 203"/>
              <a:gd name="T5" fmla="*/ 411 h 411"/>
              <a:gd name="T6" fmla="*/ 0 w 203"/>
              <a:gd name="T7" fmla="*/ 0 h 411"/>
              <a:gd name="T8" fmla="*/ 47 w 203"/>
              <a:gd name="T9" fmla="*/ 0 h 411"/>
              <a:gd name="T10" fmla="*/ 47 w 203"/>
              <a:gd name="T11" fmla="*/ 99 h 411"/>
              <a:gd name="T12" fmla="*/ 85 w 203"/>
              <a:gd name="T13" fmla="*/ 63 h 411"/>
              <a:gd name="T14" fmla="*/ 132 w 203"/>
              <a:gd name="T15" fmla="*/ 99 h 411"/>
              <a:gd name="T16" fmla="*/ 132 w 203"/>
              <a:gd name="T17" fmla="*/ 0 h 411"/>
              <a:gd name="T18" fmla="*/ 203 w 203"/>
              <a:gd name="T19"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411">
                <a:moveTo>
                  <a:pt x="203" y="0"/>
                </a:moveTo>
                <a:lnTo>
                  <a:pt x="203" y="411"/>
                </a:lnTo>
                <a:lnTo>
                  <a:pt x="0" y="411"/>
                </a:lnTo>
                <a:lnTo>
                  <a:pt x="0" y="0"/>
                </a:lnTo>
                <a:lnTo>
                  <a:pt x="47" y="0"/>
                </a:lnTo>
                <a:lnTo>
                  <a:pt x="47" y="99"/>
                </a:lnTo>
                <a:lnTo>
                  <a:pt x="85" y="63"/>
                </a:lnTo>
                <a:lnTo>
                  <a:pt x="132" y="99"/>
                </a:lnTo>
                <a:lnTo>
                  <a:pt x="132" y="0"/>
                </a:lnTo>
                <a:lnTo>
                  <a:pt x="203"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326"/>
          <p:cNvSpPr/>
          <p:nvPr userDrawn="1"/>
        </p:nvSpPr>
        <p:spPr bwMode="auto">
          <a:xfrm>
            <a:off x="427518" y="753740"/>
            <a:ext cx="436071" cy="118928"/>
          </a:xfrm>
          <a:custGeom>
            <a:avLst/>
            <a:gdLst>
              <a:gd name="T0" fmla="*/ 135 w 135"/>
              <a:gd name="T1" fmla="*/ 32 h 37"/>
              <a:gd name="T2" fmla="*/ 135 w 135"/>
              <a:gd name="T3" fmla="*/ 37 h 37"/>
              <a:gd name="T4" fmla="*/ 14 w 135"/>
              <a:gd name="T5" fmla="*/ 37 h 37"/>
              <a:gd name="T6" fmla="*/ 0 w 135"/>
              <a:gd name="T7" fmla="*/ 23 h 37"/>
              <a:gd name="T8" fmla="*/ 0 w 135"/>
              <a:gd name="T9" fmla="*/ 14 h 37"/>
              <a:gd name="T10" fmla="*/ 14 w 135"/>
              <a:gd name="T11" fmla="*/ 0 h 37"/>
              <a:gd name="T12" fmla="*/ 135 w 135"/>
              <a:gd name="T13" fmla="*/ 0 h 37"/>
              <a:gd name="T14" fmla="*/ 135 w 135"/>
              <a:gd name="T15" fmla="*/ 5 h 37"/>
              <a:gd name="T16" fmla="*/ 18 w 135"/>
              <a:gd name="T17" fmla="*/ 5 h 37"/>
              <a:gd name="T18" fmla="*/ 5 w 135"/>
              <a:gd name="T19" fmla="*/ 15 h 37"/>
              <a:gd name="T20" fmla="*/ 5 w 135"/>
              <a:gd name="T21" fmla="*/ 21 h 37"/>
              <a:gd name="T22" fmla="*/ 18 w 135"/>
              <a:gd name="T23" fmla="*/ 32 h 37"/>
              <a:gd name="T24" fmla="*/ 135 w 135"/>
              <a:gd name="T25"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37">
                <a:moveTo>
                  <a:pt x="135" y="32"/>
                </a:moveTo>
                <a:cubicBezTo>
                  <a:pt x="135" y="37"/>
                  <a:pt x="135" y="37"/>
                  <a:pt x="135" y="37"/>
                </a:cubicBezTo>
                <a:cubicBezTo>
                  <a:pt x="14" y="37"/>
                  <a:pt x="14" y="37"/>
                  <a:pt x="14" y="37"/>
                </a:cubicBezTo>
                <a:cubicBezTo>
                  <a:pt x="6" y="37"/>
                  <a:pt x="0" y="30"/>
                  <a:pt x="0" y="23"/>
                </a:cubicBezTo>
                <a:cubicBezTo>
                  <a:pt x="0" y="14"/>
                  <a:pt x="0" y="14"/>
                  <a:pt x="0" y="14"/>
                </a:cubicBezTo>
                <a:cubicBezTo>
                  <a:pt x="0" y="6"/>
                  <a:pt x="6" y="0"/>
                  <a:pt x="14" y="0"/>
                </a:cubicBezTo>
                <a:cubicBezTo>
                  <a:pt x="135" y="0"/>
                  <a:pt x="135" y="0"/>
                  <a:pt x="135" y="0"/>
                </a:cubicBezTo>
                <a:cubicBezTo>
                  <a:pt x="135" y="5"/>
                  <a:pt x="135" y="5"/>
                  <a:pt x="135" y="5"/>
                </a:cubicBezTo>
                <a:cubicBezTo>
                  <a:pt x="18" y="5"/>
                  <a:pt x="18" y="5"/>
                  <a:pt x="18" y="5"/>
                </a:cubicBezTo>
                <a:cubicBezTo>
                  <a:pt x="11" y="5"/>
                  <a:pt x="5" y="9"/>
                  <a:pt x="5" y="15"/>
                </a:cubicBezTo>
                <a:cubicBezTo>
                  <a:pt x="5" y="21"/>
                  <a:pt x="5" y="21"/>
                  <a:pt x="5" y="21"/>
                </a:cubicBezTo>
                <a:cubicBezTo>
                  <a:pt x="5" y="27"/>
                  <a:pt x="11" y="32"/>
                  <a:pt x="18" y="32"/>
                </a:cubicBezTo>
                <a:lnTo>
                  <a:pt x="135" y="32"/>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Rectangle 328"/>
          <p:cNvSpPr>
            <a:spLocks noChangeArrowheads="1"/>
          </p:cNvSpPr>
          <p:nvPr userDrawn="1"/>
        </p:nvSpPr>
        <p:spPr bwMode="auto">
          <a:xfrm>
            <a:off x="491765" y="78928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Rectangle 328"/>
          <p:cNvSpPr>
            <a:spLocks noChangeArrowheads="1"/>
          </p:cNvSpPr>
          <p:nvPr userDrawn="1"/>
        </p:nvSpPr>
        <p:spPr bwMode="auto">
          <a:xfrm>
            <a:off x="491765" y="821032"/>
            <a:ext cx="371822" cy="19138"/>
          </a:xfrm>
          <a:prstGeom prst="rect">
            <a:avLst/>
          </a:pr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 name="Freeform 324"/>
          <p:cNvSpPr/>
          <p:nvPr userDrawn="1"/>
        </p:nvSpPr>
        <p:spPr bwMode="auto">
          <a:xfrm>
            <a:off x="1026358" y="288275"/>
            <a:ext cx="94323" cy="123029"/>
          </a:xfrm>
          <a:custGeom>
            <a:avLst/>
            <a:gdLst>
              <a:gd name="T0" fmla="*/ 29 w 29"/>
              <a:gd name="T1" fmla="*/ 0 h 38"/>
              <a:gd name="T2" fmla="*/ 29 w 29"/>
              <a:gd name="T3" fmla="*/ 38 h 38"/>
              <a:gd name="T4" fmla="*/ 12 w 29"/>
              <a:gd name="T5" fmla="*/ 26 h 38"/>
              <a:gd name="T6" fmla="*/ 1 w 29"/>
              <a:gd name="T7" fmla="*/ 37 h 38"/>
              <a:gd name="T8" fmla="*/ 1 w 29"/>
              <a:gd name="T9" fmla="*/ 0 h 38"/>
              <a:gd name="T10" fmla="*/ 29 w 29"/>
              <a:gd name="T11" fmla="*/ 0 h 38"/>
            </a:gdLst>
            <a:ahLst/>
            <a:cxnLst>
              <a:cxn ang="0">
                <a:pos x="T0" y="T1"/>
              </a:cxn>
              <a:cxn ang="0">
                <a:pos x="T2" y="T3"/>
              </a:cxn>
              <a:cxn ang="0">
                <a:pos x="T4" y="T5"/>
              </a:cxn>
              <a:cxn ang="0">
                <a:pos x="T6" y="T7"/>
              </a:cxn>
              <a:cxn ang="0">
                <a:pos x="T8" y="T9"/>
              </a:cxn>
              <a:cxn ang="0">
                <a:pos x="T10" y="T11"/>
              </a:cxn>
            </a:cxnLst>
            <a:rect l="0" t="0" r="r" b="b"/>
            <a:pathLst>
              <a:path w="29" h="38">
                <a:moveTo>
                  <a:pt x="29" y="0"/>
                </a:moveTo>
                <a:cubicBezTo>
                  <a:pt x="29" y="38"/>
                  <a:pt x="29" y="38"/>
                  <a:pt x="29" y="38"/>
                </a:cubicBezTo>
                <a:cubicBezTo>
                  <a:pt x="12" y="26"/>
                  <a:pt x="12" y="26"/>
                  <a:pt x="12" y="26"/>
                </a:cubicBezTo>
                <a:cubicBezTo>
                  <a:pt x="12" y="26"/>
                  <a:pt x="1" y="37"/>
                  <a:pt x="1" y="37"/>
                </a:cubicBezTo>
                <a:cubicBezTo>
                  <a:pt x="0" y="38"/>
                  <a:pt x="1" y="0"/>
                  <a:pt x="1" y="0"/>
                </a:cubicBezTo>
                <a:lnTo>
                  <a:pt x="29" y="0"/>
                </a:lnTo>
                <a:close/>
              </a:path>
            </a:pathLst>
          </a:custGeom>
          <a:gradFill>
            <a:gsLst>
              <a:gs pos="0">
                <a:srgbClr val="012D86"/>
              </a:gs>
              <a:gs pos="100000">
                <a:srgbClr val="0E2557"/>
              </a:gs>
            </a:gsLst>
            <a:lin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文本框 13"/>
          <p:cNvSpPr txBox="1"/>
          <p:nvPr userDrawn="1"/>
        </p:nvSpPr>
        <p:spPr>
          <a:xfrm>
            <a:off x="1588100" y="371061"/>
            <a:ext cx="6097464" cy="523220"/>
          </a:xfrm>
          <a:prstGeom prst="rect">
            <a:avLst/>
          </a:prstGeom>
          <a:noFill/>
        </p:spPr>
        <p:txBody>
          <a:bodyPr wrap="square">
            <a:spAutoFit/>
          </a:bodyPr>
          <a:lstStyle/>
          <a:p>
            <a:pPr marL="0" algn="l" rtl="0" eaLnBrk="1" latinLnBrk="0" hangingPunct="1">
              <a:spcBef>
                <a:spcPts val="0"/>
              </a:spcBef>
              <a:spcAft>
                <a:spcPts val="0"/>
              </a:spcAft>
            </a:pPr>
            <a:r>
              <a:rPr lang="zh-CN" altLang="en-US" sz="2800" b="1" kern="1200" spc="0" dirty="0">
                <a:solidFill>
                  <a:schemeClr val="tx1"/>
                </a:solidFill>
                <a:effectLst/>
                <a:latin typeface="微软雅黑" panose="020B0503020204020204" pitchFamily="34" charset="-122"/>
                <a:ea typeface="微软雅黑" panose="020B0503020204020204" pitchFamily="34" charset="-122"/>
                <a:cs typeface="+mn-cs"/>
              </a:rPr>
              <a:t>下一步工作计划</a:t>
            </a:r>
          </a:p>
        </p:txBody>
      </p:sp>
    </p:spTree>
    <p:extLst>
      <p:ext uri="{BB962C8B-B14F-4D97-AF65-F5344CB8AC3E}">
        <p14:creationId xmlns:p14="http://schemas.microsoft.com/office/powerpoint/2010/main" val="1759881592"/>
      </p:ext>
    </p:extLst>
  </p:cSld>
  <p:clrMapOvr>
    <a:masterClrMapping/>
  </p:clrMapOvr>
  <p:transition>
    <p:wipe/>
  </p:transition>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自定义版式">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2E5F48D-8C14-4C74-B0DA-6DF5BD85EA04}" type="datetime5">
              <a:rPr lang="zh-HK" altLang="en-US" smtClean="0">
                <a:solidFill>
                  <a:prstClr val="black">
                    <a:tint val="75000"/>
                  </a:prstClr>
                </a:solidFill>
              </a:rPr>
              <a:t>2025/5/31</a:t>
            </a:fld>
            <a:endParaRPr lang="zh-HK" altLang="en-US" dirty="0">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HK"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12D86"/>
            </a:gs>
            <a:gs pos="100000">
              <a:srgbClr val="0E2557"/>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F31D4-1AA4-45E7-8F10-C007A9A6DDB0}" type="datetimeFigureOut">
              <a:rPr lang="zh-HK" altLang="en-US" smtClean="0"/>
              <a:t>31/5/2025</a:t>
            </a:fld>
            <a:endParaRPr lang="zh-HK"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5C72C-05F9-42DA-A32C-E89F323A6F21}" type="slidenum">
              <a:rPr lang="zh-HK" altLang="en-US" smtClean="0"/>
              <a:t>‹#›</a:t>
            </a:fld>
            <a:endParaRPr lang="zh-HK"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12D86"/>
            </a:gs>
            <a:gs pos="100000">
              <a:srgbClr val="0E2557"/>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18431-54C4-4585-82AD-D4BDE8FCC787}" type="datetimeFigureOut">
              <a:rPr lang="zh-HK" altLang="en-US" smtClean="0">
                <a:solidFill>
                  <a:prstClr val="black">
                    <a:tint val="75000"/>
                  </a:prstClr>
                </a:solidFill>
              </a:rPr>
              <a:t>31/5/2025</a:t>
            </a:fld>
            <a:endParaRPr lang="zh-HK"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7" r:id="rId11"/>
    <p:sldLayoutId id="2147483678" r:id="rId12"/>
    <p:sldLayoutId id="2147483671" r:id="rId13"/>
    <p:sldLayoutId id="2147483672" r:id="rId14"/>
    <p:sldLayoutId id="2147483673" r:id="rId15"/>
    <p:sldLayoutId id="2147483674" r:id="rId16"/>
    <p:sldLayoutId id="2147483675" r:id="rId17"/>
    <p:sldLayoutId id="2147483676" r:id="rId18"/>
  </p:sldLayoutIdLst>
  <p:transition>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Visio_Drawing.vsdx"/><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6"/>
          <p:cNvSpPr txBox="1"/>
          <p:nvPr/>
        </p:nvSpPr>
        <p:spPr>
          <a:xfrm>
            <a:off x="3370276" y="2555866"/>
            <a:ext cx="5451475" cy="1446550"/>
          </a:xfrm>
          <a:prstGeom prst="rect">
            <a:avLst/>
          </a:prstGeom>
          <a:noFill/>
        </p:spPr>
        <p:txBody>
          <a:bodyPr wrap="square" rtlCol="0">
            <a:spAutoFit/>
          </a:bodyPr>
          <a:lstStyle/>
          <a:p>
            <a:pPr algn="ctr"/>
            <a:r>
              <a:rPr lang="zh-CN" altLang="en-US" sz="7200" b="1" spc="300" dirty="0">
                <a:solidFill>
                  <a:schemeClr val="bg1"/>
                </a:solidFill>
                <a:latin typeface="微软雅黑" panose="020B0503020204020204" pitchFamily="34" charset="-122"/>
                <a:ea typeface="微软雅黑" panose="020B0503020204020204" pitchFamily="34" charset="-122"/>
              </a:rPr>
              <a:t>我们毕业啦</a:t>
            </a:r>
            <a:endParaRPr lang="en-US" altLang="zh-CN" sz="7200" b="1" spc="300" dirty="0">
              <a:solidFill>
                <a:schemeClr val="bg1"/>
              </a:solidFill>
              <a:latin typeface="微软雅黑" panose="020B0503020204020204" pitchFamily="34" charset="-122"/>
              <a:ea typeface="微软雅黑" panose="020B0503020204020204" pitchFamily="34" charset="-122"/>
            </a:endParaRPr>
          </a:p>
          <a:p>
            <a:pPr algn="ctr"/>
            <a:r>
              <a:rPr lang="zh-CN" altLang="en-US" sz="1600" b="1" spc="300" dirty="0">
                <a:solidFill>
                  <a:schemeClr val="bg1"/>
                </a:solidFill>
                <a:latin typeface="微软雅黑" panose="020B0503020204020204" pitchFamily="34" charset="-122"/>
                <a:ea typeface="微软雅黑" panose="020B0503020204020204" pitchFamily="34" charset="-122"/>
              </a:rPr>
              <a:t>其实是答辩的标题地方</a:t>
            </a:r>
            <a:endParaRPr lang="en-US" altLang="zh-CN" sz="1600" b="1" spc="3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0" y="2012315"/>
            <a:ext cx="12192000" cy="2833370"/>
          </a:xfrm>
          <a:prstGeom prst="rect">
            <a:avLst/>
          </a:prstGeom>
          <a:gradFill>
            <a:gsLst>
              <a:gs pos="0">
                <a:srgbClr val="012D86"/>
              </a:gs>
              <a:gs pos="100000">
                <a:srgbClr val="0E2557"/>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51164" y="2394449"/>
            <a:ext cx="10889671" cy="1938992"/>
          </a:xfrm>
          <a:prstGeom prst="rect">
            <a:avLst/>
          </a:prstGeom>
          <a:noFill/>
        </p:spPr>
        <p:txBody>
          <a:bodyPr wrap="square" rtlCol="0">
            <a:spAutoFit/>
          </a:bodyPr>
          <a:lstStyle/>
          <a:p>
            <a:pPr algn="ctr"/>
            <a:r>
              <a:rPr lang="zh-CN" altLang="en-US" sz="6000" b="1" spc="300" dirty="0">
                <a:solidFill>
                  <a:schemeClr val="bg1"/>
                </a:solidFill>
                <a:latin typeface="楷体" panose="02010609060101010101" pitchFamily="49" charset="-122"/>
                <a:ea typeface="楷体" panose="02010609060101010101" pitchFamily="49" charset="-122"/>
                <a:cs typeface="Times New Roman" panose="02020603050405020304" pitchFamily="18" charset="0"/>
                <a:sym typeface="+mn-ea"/>
              </a:rPr>
              <a:t>分布式线控底盘车辆底盘域</a:t>
            </a:r>
            <a:endParaRPr lang="en-US" altLang="zh-CN" sz="6000" b="1" spc="300" dirty="0">
              <a:solidFill>
                <a:schemeClr val="bg1"/>
              </a:solidFill>
              <a:latin typeface="楷体" panose="02010609060101010101" pitchFamily="49" charset="-122"/>
              <a:ea typeface="楷体" panose="02010609060101010101" pitchFamily="49" charset="-122"/>
              <a:cs typeface="Times New Roman" panose="02020603050405020304" pitchFamily="18" charset="0"/>
              <a:sym typeface="+mn-ea"/>
            </a:endParaRPr>
          </a:p>
          <a:p>
            <a:pPr algn="ctr"/>
            <a:r>
              <a:rPr lang="zh-CN" altLang="en-US" sz="6000" b="1" spc="300" dirty="0">
                <a:solidFill>
                  <a:schemeClr val="bg1"/>
                </a:solidFill>
                <a:latin typeface="楷体" panose="02010609060101010101" pitchFamily="49" charset="-122"/>
                <a:ea typeface="楷体" panose="02010609060101010101" pitchFamily="49" charset="-122"/>
                <a:cs typeface="Times New Roman" panose="02020603050405020304" pitchFamily="18" charset="0"/>
                <a:sym typeface="+mn-ea"/>
              </a:rPr>
              <a:t>运动控制算法研究</a:t>
            </a:r>
          </a:p>
        </p:txBody>
      </p:sp>
      <p:sp>
        <p:nvSpPr>
          <p:cNvPr id="23" name="矩形 22"/>
          <p:cNvSpPr/>
          <p:nvPr/>
        </p:nvSpPr>
        <p:spPr>
          <a:xfrm>
            <a:off x="6619759" y="5187046"/>
            <a:ext cx="3312000"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汇报人：张毅</a:t>
            </a:r>
          </a:p>
        </p:txBody>
      </p:sp>
      <p:sp>
        <p:nvSpPr>
          <p:cNvPr id="4" name="矩形 3"/>
          <p:cNvSpPr/>
          <p:nvPr/>
        </p:nvSpPr>
        <p:spPr>
          <a:xfrm>
            <a:off x="1989736" y="5170292"/>
            <a:ext cx="3313786"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字魂105号-简雅黑" panose="00000500000000000000" pitchFamily="2" charset="-122"/>
              </a:rPr>
              <a:t>硕士论文中期答辩</a:t>
            </a:r>
          </a:p>
        </p:txBody>
      </p:sp>
      <p:sp>
        <p:nvSpPr>
          <p:cNvPr id="6" name="矩形 5"/>
          <p:cNvSpPr/>
          <p:nvPr/>
        </p:nvSpPr>
        <p:spPr>
          <a:xfrm>
            <a:off x="6619760" y="6000422"/>
            <a:ext cx="3312000"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E0C9D230-84E1-4F2B-990A-9E9CD7B7D2F6}" type="datetime2">
              <a:rPr lang="zh-CN" altLang="en-US" sz="2000" b="1">
                <a:solidFill>
                  <a:schemeClr val="bg1"/>
                </a:solidFill>
                <a:latin typeface="微软雅黑" panose="020B0503020204020204" pitchFamily="34" charset="-122"/>
                <a:ea typeface="微软雅黑" panose="020B0503020204020204" pitchFamily="34" charset="-122"/>
              </a:rPr>
              <a:t>2025年5月31日</a:t>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1989736" y="6000422"/>
            <a:ext cx="3313786"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导师：宗长富 教授</a:t>
            </a:r>
          </a:p>
        </p:txBody>
      </p:sp>
      <p:pic>
        <p:nvPicPr>
          <p:cNvPr id="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6530" y="672048"/>
            <a:ext cx="4832839" cy="8491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AutoShape 55"/>
          <p:cNvSpPr>
            <a:spLocks noChangeArrowheads="1"/>
          </p:cNvSpPr>
          <p:nvPr/>
        </p:nvSpPr>
        <p:spPr bwMode="ltGray">
          <a:xfrm rot="5400000">
            <a:off x="-2700763" y="127714"/>
            <a:ext cx="5716722" cy="6834241"/>
          </a:xfrm>
          <a:custGeom>
            <a:avLst/>
            <a:gdLst>
              <a:gd name="T0" fmla="*/ 30 w 21600"/>
              <a:gd name="T1" fmla="*/ 0 h 21600"/>
              <a:gd name="T2" fmla="*/ 0 w 21600"/>
              <a:gd name="T3" fmla="*/ 29 h 21600"/>
              <a:gd name="T4" fmla="*/ 30 w 21600"/>
              <a:gd name="T5" fmla="*/ 1 h 21600"/>
              <a:gd name="T6" fmla="*/ 60 w 21600"/>
              <a:gd name="T7" fmla="*/ 29 h 21600"/>
              <a:gd name="T8" fmla="*/ 0 60000 65536"/>
              <a:gd name="T9" fmla="*/ 0 60000 65536"/>
              <a:gd name="T10" fmla="*/ 0 60000 65536"/>
              <a:gd name="T11" fmla="*/ 0 60000 65536"/>
              <a:gd name="T12" fmla="*/ 398 w 21600"/>
              <a:gd name="T13" fmla="*/ 0 h 21600"/>
              <a:gd name="T14" fmla="*/ 21202 w 21600"/>
              <a:gd name="T15" fmla="*/ 13628 h 21600"/>
            </a:gdLst>
            <a:ahLst/>
            <a:cxnLst>
              <a:cxn ang="T8">
                <a:pos x="T0" y="T1"/>
              </a:cxn>
              <a:cxn ang="T9">
                <a:pos x="T2" y="T3"/>
              </a:cxn>
              <a:cxn ang="T10">
                <a:pos x="T4" y="T5"/>
              </a:cxn>
              <a:cxn ang="T11">
                <a:pos x="T6" y="T7"/>
              </a:cxn>
            </a:cxnLst>
            <a:rect l="T12" t="T13" r="T14" b="T15"/>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E2E2E2"/>
              </a:gs>
              <a:gs pos="50000">
                <a:srgbClr val="C0C0C0"/>
              </a:gs>
              <a:gs pos="100000">
                <a:srgbClr val="E2E2E2"/>
              </a:gs>
            </a:gsLst>
            <a:lin ang="0" scaled="1"/>
          </a:gradFill>
          <a:ln w="9525" algn="ctr">
            <a:noFill/>
            <a:miter lim="800000"/>
          </a:ln>
        </p:spPr>
        <p:txBody>
          <a:bodyPr wrap="none" anchor="ctr"/>
          <a:lstStyle/>
          <a:p>
            <a:endParaRPr lang="zh-CN" altLang="en-US" sz="2449" dirty="0">
              <a:latin typeface="微软雅黑" panose="020B0503020204020204" pitchFamily="34" charset="-122"/>
              <a:ea typeface="微软雅黑" panose="020B0503020204020204" pitchFamily="34" charset="-122"/>
            </a:endParaRPr>
          </a:p>
        </p:txBody>
      </p:sp>
      <p:sp>
        <p:nvSpPr>
          <p:cNvPr id="52" name="AutoShape 56"/>
          <p:cNvSpPr>
            <a:spLocks noChangeArrowheads="1"/>
          </p:cNvSpPr>
          <p:nvPr/>
        </p:nvSpPr>
        <p:spPr bwMode="ltGray">
          <a:xfrm rot="5400000" flipH="1">
            <a:off x="-2216640" y="747330"/>
            <a:ext cx="4778043" cy="5628867"/>
          </a:xfrm>
          <a:custGeom>
            <a:avLst/>
            <a:gdLst>
              <a:gd name="T0" fmla="*/ 18 w 21600"/>
              <a:gd name="T1" fmla="*/ 0 h 21600"/>
              <a:gd name="T2" fmla="*/ 9 w 21600"/>
              <a:gd name="T3" fmla="*/ 16 h 21600"/>
              <a:gd name="T4" fmla="*/ 18 w 21600"/>
              <a:gd name="T5" fmla="*/ 16 h 21600"/>
              <a:gd name="T6" fmla="*/ 26 w 21600"/>
              <a:gd name="T7" fmla="*/ 16 h 21600"/>
              <a:gd name="T8" fmla="*/ 0 60000 65536"/>
              <a:gd name="T9" fmla="*/ 0 60000 65536"/>
              <a:gd name="T10" fmla="*/ 0 60000 65536"/>
              <a:gd name="T11" fmla="*/ 0 60000 65536"/>
              <a:gd name="T12" fmla="*/ 0 w 21600"/>
              <a:gd name="T13" fmla="*/ 0 h 21600"/>
              <a:gd name="T14" fmla="*/ 21600 w 21600"/>
              <a:gd name="T15" fmla="*/ 7715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FFFFFF">
                  <a:alpha val="48000"/>
                </a:srgbClr>
              </a:gs>
            </a:gsLst>
            <a:lin ang="5400000" scaled="1"/>
          </a:gradFill>
          <a:ln w="0" algn="ctr">
            <a:noFill/>
            <a:miter lim="800000"/>
          </a:ln>
        </p:spPr>
        <p:txBody>
          <a:bodyPr wrap="none" anchor="ctr"/>
          <a:lstStyle/>
          <a:p>
            <a:endParaRPr lang="zh-CN" altLang="en-US" sz="2449" dirty="0">
              <a:latin typeface="微软雅黑" panose="020B0503020204020204" pitchFamily="34" charset="-122"/>
              <a:ea typeface="微软雅黑" panose="020B0503020204020204" pitchFamily="34" charset="-122"/>
            </a:endParaRPr>
          </a:p>
        </p:txBody>
      </p:sp>
      <p:sp>
        <p:nvSpPr>
          <p:cNvPr id="222" name="TextBox 78"/>
          <p:cNvSpPr txBox="1"/>
          <p:nvPr/>
        </p:nvSpPr>
        <p:spPr>
          <a:xfrm>
            <a:off x="91137" y="3962699"/>
            <a:ext cx="2786596" cy="650306"/>
          </a:xfrm>
          <a:prstGeom prst="rect">
            <a:avLst/>
          </a:prstGeom>
          <a:noFill/>
        </p:spPr>
        <p:txBody>
          <a:bodyPr wrap="none" rtlCol="0">
            <a:spAutoFit/>
          </a:bodyPr>
          <a:lstStyle/>
          <a:p>
            <a:pPr algn="ctr"/>
            <a:r>
              <a:rPr lang="en-US" altLang="zh-CN" sz="3626" b="1" dirty="0">
                <a:solidFill>
                  <a:srgbClr val="0A2B7B"/>
                </a:solidFill>
                <a:latin typeface="微软雅黑" panose="020B0503020204020204" pitchFamily="34" charset="-122"/>
                <a:ea typeface="微软雅黑" panose="020B0503020204020204" pitchFamily="34" charset="-122"/>
                <a:sym typeface="字魂105号-简雅黑" panose="00000500000000000000" pitchFamily="2" charset="-122"/>
              </a:rPr>
              <a:t>CONTENTS</a:t>
            </a:r>
            <a:endParaRPr lang="zh-CN" altLang="en-US" sz="3626" b="1" dirty="0">
              <a:solidFill>
                <a:srgbClr val="0A2B7B"/>
              </a:solidFill>
              <a:latin typeface="微软雅黑" panose="020B0503020204020204" pitchFamily="34" charset="-122"/>
              <a:ea typeface="微软雅黑" panose="020B0503020204020204" pitchFamily="34" charset="-122"/>
              <a:sym typeface="字魂105号-简雅黑" panose="00000500000000000000" pitchFamily="2" charset="-122"/>
            </a:endParaRPr>
          </a:p>
        </p:txBody>
      </p:sp>
      <p:sp>
        <p:nvSpPr>
          <p:cNvPr id="223" name="TextBox 79"/>
          <p:cNvSpPr txBox="1"/>
          <p:nvPr/>
        </p:nvSpPr>
        <p:spPr>
          <a:xfrm>
            <a:off x="217103" y="2525716"/>
            <a:ext cx="2534668" cy="1320361"/>
          </a:xfrm>
          <a:prstGeom prst="rect">
            <a:avLst/>
          </a:prstGeom>
          <a:noFill/>
        </p:spPr>
        <p:txBody>
          <a:bodyPr wrap="none" rtlCol="0">
            <a:spAutoFit/>
          </a:bodyPr>
          <a:lstStyle/>
          <a:p>
            <a:pPr algn="ctr"/>
            <a:r>
              <a:rPr lang="zh-CN" altLang="en-US" sz="7980" b="1" dirty="0">
                <a:solidFill>
                  <a:srgbClr val="0A2B7B"/>
                </a:solidFill>
                <a:latin typeface="微软雅黑" panose="020B0503020204020204" pitchFamily="34" charset="-122"/>
                <a:ea typeface="微软雅黑" panose="020B0503020204020204" pitchFamily="34" charset="-122"/>
                <a:sym typeface="字魂105号-简雅黑" panose="00000500000000000000" pitchFamily="2" charset="-122"/>
              </a:rPr>
              <a:t>目 录</a:t>
            </a:r>
          </a:p>
        </p:txBody>
      </p:sp>
      <p:grpSp>
        <p:nvGrpSpPr>
          <p:cNvPr id="219" name="组合 218">
            <a:extLst>
              <a:ext uri="{FF2B5EF4-FFF2-40B4-BE49-F238E27FC236}">
                <a16:creationId xmlns:a16="http://schemas.microsoft.com/office/drawing/2014/main" id="{A81A9025-B6B4-828F-6C4C-C8DD51214646}"/>
              </a:ext>
            </a:extLst>
          </p:cNvPr>
          <p:cNvGrpSpPr/>
          <p:nvPr/>
        </p:nvGrpSpPr>
        <p:grpSpPr>
          <a:xfrm>
            <a:off x="1623224" y="793225"/>
            <a:ext cx="8967804" cy="5557864"/>
            <a:chOff x="1623224" y="793225"/>
            <a:chExt cx="8967804" cy="5557864"/>
          </a:xfrm>
        </p:grpSpPr>
        <p:sp>
          <p:nvSpPr>
            <p:cNvPr id="54" name="AutoShape 60"/>
            <p:cNvSpPr>
              <a:spLocks noChangeArrowheads="1"/>
            </p:cNvSpPr>
            <p:nvPr/>
          </p:nvSpPr>
          <p:spPr bwMode="gray">
            <a:xfrm>
              <a:off x="2202400" y="832907"/>
              <a:ext cx="7071369" cy="611854"/>
            </a:xfrm>
            <a:prstGeom prst="roundRect">
              <a:avLst>
                <a:gd name="adj" fmla="val 50000"/>
              </a:avLst>
            </a:prstGeom>
            <a:noFill/>
            <a:ln w="28575" algn="ctr">
              <a:solidFill>
                <a:srgbClr val="C0C0C0"/>
              </a:solidFill>
              <a:round/>
            </a:ln>
          </p:spPr>
          <p:txBody>
            <a:bodyPr wrap="none" anchor="ctr"/>
            <a:lstStyle/>
            <a:p>
              <a:pPr eaLnBrk="0" hangingPunct="0"/>
              <a:r>
                <a:rPr lang="en-US" altLang="zh-CN" sz="3265" b="1" spc="300">
                  <a:solidFill>
                    <a:srgbClr val="0A2B7B"/>
                  </a:solidFill>
                  <a:latin typeface="微软雅黑" panose="020B0503020204020204" pitchFamily="34" charset="-122"/>
                  <a:ea typeface="微软雅黑" panose="020B0503020204020204" pitchFamily="34" charset="-122"/>
                </a:rPr>
                <a:t>1</a:t>
              </a:r>
              <a:r>
                <a:rPr lang="zh-CN" altLang="en-US" sz="3265" b="1" spc="300">
                  <a:solidFill>
                    <a:srgbClr val="0A2B7B"/>
                  </a:solidFill>
                  <a:latin typeface="微软雅黑" panose="020B0503020204020204" pitchFamily="34" charset="-122"/>
                  <a:ea typeface="微软雅黑" panose="020B0503020204020204" pitchFamily="34" charset="-122"/>
                </a:rPr>
                <a:t>、</a:t>
              </a:r>
              <a:r>
                <a:rPr lang="zh-CN" altLang="en-US" sz="3265" b="1" spc="300" dirty="0">
                  <a:solidFill>
                    <a:srgbClr val="0A2B7B"/>
                  </a:solidFill>
                  <a:latin typeface="微软雅黑" panose="020B0503020204020204" pitchFamily="34" charset="-122"/>
                  <a:ea typeface="微软雅黑" panose="020B0503020204020204" pitchFamily="34" charset="-122"/>
                </a:rPr>
                <a:t>研究背景及意义 </a:t>
              </a:r>
            </a:p>
          </p:txBody>
        </p:sp>
        <p:sp>
          <p:nvSpPr>
            <p:cNvPr id="63" name="AutoShape 59"/>
            <p:cNvSpPr>
              <a:spLocks noChangeArrowheads="1"/>
            </p:cNvSpPr>
            <p:nvPr/>
          </p:nvSpPr>
          <p:spPr bwMode="gray">
            <a:xfrm>
              <a:off x="3257612" y="1808777"/>
              <a:ext cx="6858909" cy="611854"/>
            </a:xfrm>
            <a:prstGeom prst="roundRect">
              <a:avLst>
                <a:gd name="adj" fmla="val 50000"/>
              </a:avLst>
            </a:prstGeom>
            <a:noFill/>
            <a:ln w="28575" algn="ctr">
              <a:solidFill>
                <a:srgbClr val="C0C0C0"/>
              </a:solidFill>
              <a:round/>
            </a:ln>
          </p:spPr>
          <p:txBody>
            <a:bodyPr wrap="none" anchor="ctr"/>
            <a:lstStyle/>
            <a:p>
              <a:pPr eaLnBrk="0" hangingPunct="0"/>
              <a:r>
                <a:rPr lang="en-US" altLang="zh-CN" sz="3265" b="1" spc="300" dirty="0">
                  <a:solidFill>
                    <a:srgbClr val="0A2B7B"/>
                  </a:solidFill>
                  <a:latin typeface="微软雅黑" panose="020B0503020204020204" pitchFamily="34" charset="-122"/>
                  <a:ea typeface="微软雅黑" panose="020B0503020204020204" pitchFamily="34" charset="-122"/>
                </a:rPr>
                <a:t>2</a:t>
              </a:r>
              <a:r>
                <a:rPr lang="zh-CN" altLang="en-US" sz="3265" b="1" spc="300" dirty="0">
                  <a:solidFill>
                    <a:srgbClr val="0A2B7B"/>
                  </a:solidFill>
                  <a:latin typeface="微软雅黑" panose="020B0503020204020204" pitchFamily="34" charset="-122"/>
                  <a:ea typeface="微软雅黑" panose="020B0503020204020204" pitchFamily="34" charset="-122"/>
                </a:rPr>
                <a:t>、国内外研究现状 </a:t>
              </a:r>
            </a:p>
          </p:txBody>
        </p:sp>
        <p:sp>
          <p:nvSpPr>
            <p:cNvPr id="72" name="AutoShape 58"/>
            <p:cNvSpPr>
              <a:spLocks noChangeArrowheads="1"/>
            </p:cNvSpPr>
            <p:nvPr/>
          </p:nvSpPr>
          <p:spPr bwMode="gray">
            <a:xfrm>
              <a:off x="3722152" y="2792150"/>
              <a:ext cx="6855556" cy="656234"/>
            </a:xfrm>
            <a:prstGeom prst="roundRect">
              <a:avLst>
                <a:gd name="adj" fmla="val 50000"/>
              </a:avLst>
            </a:prstGeom>
            <a:noFill/>
            <a:ln w="28575" algn="ctr">
              <a:solidFill>
                <a:srgbClr val="C0C0C0"/>
              </a:solidFill>
              <a:round/>
            </a:ln>
          </p:spPr>
          <p:txBody>
            <a:bodyPr wrap="none" anchor="ctr"/>
            <a:lstStyle/>
            <a:p>
              <a:pPr eaLnBrk="0" hangingPunct="0"/>
              <a:r>
                <a:rPr lang="en-US" altLang="zh-CN" sz="3265" b="1" spc="300" dirty="0">
                  <a:solidFill>
                    <a:srgbClr val="0A2B7B"/>
                  </a:solidFill>
                  <a:latin typeface="微软雅黑" panose="020B0503020204020204" pitchFamily="34" charset="-122"/>
                  <a:ea typeface="微软雅黑" panose="020B0503020204020204" pitchFamily="34" charset="-122"/>
                </a:rPr>
                <a:t>3</a:t>
              </a:r>
              <a:r>
                <a:rPr lang="zh-CN" altLang="en-US" sz="3265" b="1" spc="300" dirty="0">
                  <a:solidFill>
                    <a:srgbClr val="0A2B7B"/>
                  </a:solidFill>
                  <a:latin typeface="微软雅黑" panose="020B0503020204020204" pitchFamily="34" charset="-122"/>
                  <a:ea typeface="微软雅黑" panose="020B0503020204020204" pitchFamily="34" charset="-122"/>
                </a:rPr>
                <a:t>、研究目标及内容</a:t>
              </a:r>
              <a:endParaRPr lang="en-US" altLang="zh-CN" sz="3265" b="1" spc="300" dirty="0">
                <a:solidFill>
                  <a:srgbClr val="0A2B7B"/>
                </a:solidFill>
                <a:latin typeface="微软雅黑" panose="020B0503020204020204" pitchFamily="34" charset="-122"/>
                <a:ea typeface="微软雅黑" panose="020B0503020204020204" pitchFamily="34" charset="-122"/>
              </a:endParaRPr>
            </a:p>
          </p:txBody>
        </p:sp>
        <p:sp>
          <p:nvSpPr>
            <p:cNvPr id="80" name="AutoShape 57"/>
            <p:cNvSpPr>
              <a:spLocks noChangeArrowheads="1"/>
            </p:cNvSpPr>
            <p:nvPr/>
          </p:nvSpPr>
          <p:spPr bwMode="gray">
            <a:xfrm>
              <a:off x="3735472" y="3790615"/>
              <a:ext cx="6855556" cy="656236"/>
            </a:xfrm>
            <a:prstGeom prst="roundRect">
              <a:avLst>
                <a:gd name="adj" fmla="val 50000"/>
              </a:avLst>
            </a:prstGeom>
            <a:noFill/>
            <a:ln w="28575" algn="ctr">
              <a:solidFill>
                <a:srgbClr val="C0C0C0"/>
              </a:solidFill>
              <a:round/>
            </a:ln>
          </p:spPr>
          <p:txBody>
            <a:bodyPr wrap="none" anchor="ctr"/>
            <a:lstStyle/>
            <a:p>
              <a:pPr eaLnBrk="0" hangingPunct="0"/>
              <a:r>
                <a:rPr lang="en-US" altLang="zh-CN" sz="3265" b="1" spc="300" dirty="0">
                  <a:solidFill>
                    <a:srgbClr val="0A2B7B"/>
                  </a:solidFill>
                  <a:latin typeface="微软雅黑" panose="020B0503020204020204" pitchFamily="34" charset="-122"/>
                  <a:ea typeface="微软雅黑" panose="020B0503020204020204" pitchFamily="34" charset="-122"/>
                </a:rPr>
                <a:t>4</a:t>
              </a:r>
              <a:r>
                <a:rPr lang="zh-CN" altLang="en-US" sz="3265" b="1" spc="300" dirty="0">
                  <a:solidFill>
                    <a:srgbClr val="0A2B7B"/>
                  </a:solidFill>
                  <a:latin typeface="微软雅黑" panose="020B0503020204020204" pitchFamily="34" charset="-122"/>
                  <a:ea typeface="微软雅黑" panose="020B0503020204020204" pitchFamily="34" charset="-122"/>
                </a:rPr>
                <a:t>、研究方法与技术路线</a:t>
              </a:r>
              <a:endParaRPr lang="en-US" altLang="zh-CN" sz="3265" b="1" spc="300" dirty="0">
                <a:solidFill>
                  <a:srgbClr val="0A2B7B"/>
                </a:solidFill>
                <a:latin typeface="微软雅黑" panose="020B0503020204020204" pitchFamily="34" charset="-122"/>
                <a:ea typeface="微软雅黑" panose="020B0503020204020204" pitchFamily="34" charset="-122"/>
              </a:endParaRPr>
            </a:p>
          </p:txBody>
        </p:sp>
        <p:sp>
          <p:nvSpPr>
            <p:cNvPr id="89" name="AutoShape 89"/>
            <p:cNvSpPr>
              <a:spLocks noChangeArrowheads="1"/>
            </p:cNvSpPr>
            <p:nvPr/>
          </p:nvSpPr>
          <p:spPr bwMode="gray">
            <a:xfrm>
              <a:off x="2234754" y="5677146"/>
              <a:ext cx="7039014" cy="643659"/>
            </a:xfrm>
            <a:prstGeom prst="roundRect">
              <a:avLst>
                <a:gd name="adj" fmla="val 50000"/>
              </a:avLst>
            </a:prstGeom>
            <a:noFill/>
            <a:ln w="28575" algn="ctr">
              <a:solidFill>
                <a:srgbClr val="C0C0C0"/>
              </a:solidFill>
              <a:round/>
            </a:ln>
          </p:spPr>
          <p:txBody>
            <a:bodyPr wrap="none" anchor="ctr"/>
            <a:lstStyle/>
            <a:p>
              <a:pPr eaLnBrk="0" hangingPunct="0"/>
              <a:r>
                <a:rPr lang="en-US" altLang="zh-CN" sz="3265" b="1" spc="300" dirty="0">
                  <a:solidFill>
                    <a:srgbClr val="0A2B7B"/>
                  </a:solidFill>
                  <a:latin typeface="微软雅黑" panose="020B0503020204020204" pitchFamily="34" charset="-122"/>
                  <a:ea typeface="微软雅黑" panose="020B0503020204020204" pitchFamily="34" charset="-122"/>
                </a:rPr>
                <a:t>6</a:t>
              </a:r>
              <a:r>
                <a:rPr lang="zh-CN" altLang="en-US" sz="3265" b="1" spc="300" dirty="0">
                  <a:solidFill>
                    <a:srgbClr val="0A2B7B"/>
                  </a:solidFill>
                  <a:latin typeface="微软雅黑" panose="020B0503020204020204" pitchFamily="34" charset="-122"/>
                  <a:ea typeface="微软雅黑" panose="020B0503020204020204" pitchFamily="34" charset="-122"/>
                </a:rPr>
                <a:t>、下一步工作计划</a:t>
              </a:r>
            </a:p>
          </p:txBody>
        </p:sp>
        <p:sp>
          <p:nvSpPr>
            <p:cNvPr id="98" name="AutoShape 105"/>
            <p:cNvSpPr>
              <a:spLocks noChangeArrowheads="1"/>
            </p:cNvSpPr>
            <p:nvPr/>
          </p:nvSpPr>
          <p:spPr bwMode="gray">
            <a:xfrm>
              <a:off x="3308926" y="4806938"/>
              <a:ext cx="6794271" cy="656236"/>
            </a:xfrm>
            <a:prstGeom prst="roundRect">
              <a:avLst>
                <a:gd name="adj" fmla="val 50000"/>
              </a:avLst>
            </a:prstGeom>
            <a:noFill/>
            <a:ln w="28575" algn="ctr">
              <a:solidFill>
                <a:srgbClr val="C0C0C0"/>
              </a:solidFill>
              <a:round/>
            </a:ln>
          </p:spPr>
          <p:txBody>
            <a:bodyPr wrap="none" anchor="ctr"/>
            <a:lstStyle/>
            <a:p>
              <a:pPr eaLnBrk="0" hangingPunct="0"/>
              <a:r>
                <a:rPr lang="en-US" altLang="zh-CN" sz="3265" b="1" spc="300" dirty="0">
                  <a:solidFill>
                    <a:srgbClr val="0A2B7B"/>
                  </a:solidFill>
                  <a:latin typeface="微软雅黑" panose="020B0503020204020204" pitchFamily="34" charset="-122"/>
                  <a:ea typeface="微软雅黑" panose="020B0503020204020204" pitchFamily="34" charset="-122"/>
                </a:rPr>
                <a:t>5</a:t>
              </a:r>
              <a:r>
                <a:rPr lang="zh-CN" altLang="en-US" sz="3265" b="1" spc="300" dirty="0">
                  <a:solidFill>
                    <a:srgbClr val="0A2B7B"/>
                  </a:solidFill>
                  <a:latin typeface="微软雅黑" panose="020B0503020204020204" pitchFamily="34" charset="-122"/>
                  <a:ea typeface="微软雅黑" panose="020B0503020204020204" pitchFamily="34" charset="-122"/>
                </a:rPr>
                <a:t>、阶段性研究成果</a:t>
              </a:r>
              <a:endParaRPr lang="en-US" altLang="zh-CN" sz="3265" b="1" spc="300" dirty="0">
                <a:solidFill>
                  <a:srgbClr val="0A2B7B"/>
                </a:solidFill>
                <a:latin typeface="微软雅黑" panose="020B0503020204020204" pitchFamily="34" charset="-122"/>
                <a:ea typeface="微软雅黑" panose="020B0503020204020204" pitchFamily="34" charset="-122"/>
              </a:endParaRPr>
            </a:p>
          </p:txBody>
        </p:sp>
        <p:grpSp>
          <p:nvGrpSpPr>
            <p:cNvPr id="38" name="组合 37">
              <a:extLst>
                <a:ext uri="{FF2B5EF4-FFF2-40B4-BE49-F238E27FC236}">
                  <a16:creationId xmlns:a16="http://schemas.microsoft.com/office/drawing/2014/main" id="{35829208-B4BE-F02C-94E0-F6FF2824E22D}"/>
                </a:ext>
              </a:extLst>
            </p:cNvPr>
            <p:cNvGrpSpPr/>
            <p:nvPr/>
          </p:nvGrpSpPr>
          <p:grpSpPr>
            <a:xfrm>
              <a:off x="1623224" y="793225"/>
              <a:ext cx="754594" cy="703789"/>
              <a:chOff x="1002056" y="622589"/>
              <a:chExt cx="949366" cy="913433"/>
            </a:xfrm>
          </p:grpSpPr>
          <p:sp>
            <p:nvSpPr>
              <p:cNvPr id="39" name="Oval 62">
                <a:extLst>
                  <a:ext uri="{FF2B5EF4-FFF2-40B4-BE49-F238E27FC236}">
                    <a16:creationId xmlns:a16="http://schemas.microsoft.com/office/drawing/2014/main" id="{70163E8C-FD37-7F7E-7404-CA46E3F28B14}"/>
                  </a:ext>
                </a:extLst>
              </p:cNvPr>
              <p:cNvSpPr>
                <a:spLocks noChangeArrowheads="1"/>
              </p:cNvSpPr>
              <p:nvPr/>
            </p:nvSpPr>
            <p:spPr bwMode="gray">
              <a:xfrm>
                <a:off x="1002056" y="622589"/>
                <a:ext cx="949366" cy="913433"/>
              </a:xfrm>
              <a:prstGeom prst="ellipse">
                <a:avLst/>
              </a:prstGeom>
              <a:gradFill rotWithShape="1">
                <a:gsLst>
                  <a:gs pos="0">
                    <a:srgbClr val="767676"/>
                  </a:gs>
                  <a:gs pos="50000">
                    <a:srgbClr val="FFFFFF"/>
                  </a:gs>
                  <a:gs pos="100000">
                    <a:srgbClr val="767676"/>
                  </a:gs>
                </a:gsLst>
                <a:lin ang="5400000" scaled="1"/>
              </a:gradFill>
              <a:ln w="57150" algn="ctr">
                <a:noFill/>
                <a:round/>
              </a:ln>
            </p:spPr>
            <p:txBody>
              <a:bodyPr wrap="none" anchor="ctr"/>
              <a:lstStyle/>
              <a:p>
                <a:endParaRPr lang="zh-CN" altLang="en-US"/>
              </a:p>
            </p:txBody>
          </p:sp>
          <p:sp>
            <p:nvSpPr>
              <p:cNvPr id="40" name="Oval 63">
                <a:extLst>
                  <a:ext uri="{FF2B5EF4-FFF2-40B4-BE49-F238E27FC236}">
                    <a16:creationId xmlns:a16="http://schemas.microsoft.com/office/drawing/2014/main" id="{1EE2606B-2E96-9DB2-B667-8F152296E933}"/>
                  </a:ext>
                </a:extLst>
              </p:cNvPr>
              <p:cNvSpPr>
                <a:spLocks noChangeArrowheads="1"/>
              </p:cNvSpPr>
              <p:nvPr/>
            </p:nvSpPr>
            <p:spPr bwMode="gray">
              <a:xfrm>
                <a:off x="1054652" y="677463"/>
                <a:ext cx="840614" cy="808797"/>
              </a:xfrm>
              <a:prstGeom prst="ellipse">
                <a:avLst/>
              </a:prstGeom>
              <a:gradFill rotWithShape="1">
                <a:gsLst>
                  <a:gs pos="0">
                    <a:srgbClr val="A2A2A2"/>
                  </a:gs>
                  <a:gs pos="50000">
                    <a:srgbClr val="FFFFFF"/>
                  </a:gs>
                  <a:gs pos="100000">
                    <a:srgbClr val="A2A2A2"/>
                  </a:gs>
                </a:gsLst>
                <a:lin ang="0" scaled="1"/>
              </a:gradFill>
              <a:ln w="9525" algn="ctr">
                <a:noFill/>
                <a:round/>
              </a:ln>
            </p:spPr>
            <p:txBody>
              <a:bodyPr wrap="none" anchor="ctr"/>
              <a:lstStyle/>
              <a:p>
                <a:endParaRPr lang="zh-CN" altLang="en-US"/>
              </a:p>
            </p:txBody>
          </p:sp>
          <p:sp>
            <p:nvSpPr>
              <p:cNvPr id="41" name="Oval 65">
                <a:extLst>
                  <a:ext uri="{FF2B5EF4-FFF2-40B4-BE49-F238E27FC236}">
                    <a16:creationId xmlns:a16="http://schemas.microsoft.com/office/drawing/2014/main" id="{058CBECE-511C-FBA6-00CF-84DAECE484A0}"/>
                  </a:ext>
                </a:extLst>
              </p:cNvPr>
              <p:cNvSpPr>
                <a:spLocks noChangeArrowheads="1"/>
              </p:cNvSpPr>
              <p:nvPr/>
            </p:nvSpPr>
            <p:spPr bwMode="gray">
              <a:xfrm>
                <a:off x="1102528" y="727398"/>
                <a:ext cx="741857" cy="714910"/>
              </a:xfrm>
              <a:prstGeom prst="ellipse">
                <a:avLst/>
              </a:prstGeom>
              <a:solidFill>
                <a:schemeClr val="accent1">
                  <a:lumMod val="20000"/>
                  <a:lumOff val="80000"/>
                </a:schemeClr>
              </a:solidFill>
              <a:ln w="38100" algn="ctr">
                <a:noFill/>
                <a:round/>
              </a:ln>
            </p:spPr>
            <p:txBody>
              <a:bodyPr wrap="square" anchor="ctr">
                <a:spAutoFit/>
              </a:bodyPr>
              <a:lstStyle/>
              <a:p>
                <a:endParaRPr lang="zh-CN" altLang="en-US"/>
              </a:p>
            </p:txBody>
          </p:sp>
          <p:sp>
            <p:nvSpPr>
              <p:cNvPr id="42" name="Oval 67">
                <a:extLst>
                  <a:ext uri="{FF2B5EF4-FFF2-40B4-BE49-F238E27FC236}">
                    <a16:creationId xmlns:a16="http://schemas.microsoft.com/office/drawing/2014/main" id="{554C0586-0081-8652-627D-0B32CC85FF17}"/>
                  </a:ext>
                </a:extLst>
              </p:cNvPr>
              <p:cNvSpPr>
                <a:spLocks noChangeArrowheads="1"/>
              </p:cNvSpPr>
              <p:nvPr/>
            </p:nvSpPr>
            <p:spPr bwMode="gray">
              <a:xfrm>
                <a:off x="1149834" y="776917"/>
                <a:ext cx="644276" cy="621021"/>
              </a:xfrm>
              <a:prstGeom prst="ellipse">
                <a:avLst/>
              </a:prstGeom>
              <a:gradFill flip="none" rotWithShape="1">
                <a:gsLst>
                  <a:gs pos="15000">
                    <a:srgbClr val="0A2B7B"/>
                  </a:gs>
                  <a:gs pos="58000">
                    <a:schemeClr val="accent1">
                      <a:lumMod val="97000"/>
                      <a:lumOff val="3000"/>
                    </a:schemeClr>
                  </a:gs>
                  <a:gs pos="100000">
                    <a:schemeClr val="accent1">
                      <a:lumMod val="60000"/>
                      <a:lumOff val="40000"/>
                    </a:schemeClr>
                  </a:gs>
                </a:gsLst>
                <a:lin ang="10800000" scaled="1"/>
                <a:tileRect/>
              </a:gradFill>
              <a:ln w="38100" algn="ctr">
                <a:noFill/>
                <a:round/>
              </a:ln>
            </p:spPr>
            <p:txBody>
              <a:bodyPr wrap="square" anchor="ctr">
                <a:spAutoFit/>
              </a:bodyPr>
              <a:lstStyle/>
              <a:p>
                <a:endParaRPr lang="zh-CN" altLang="en-US" dirty="0"/>
              </a:p>
            </p:txBody>
          </p:sp>
        </p:grpSp>
        <p:grpSp>
          <p:nvGrpSpPr>
            <p:cNvPr id="114" name="组合 113">
              <a:extLst>
                <a:ext uri="{FF2B5EF4-FFF2-40B4-BE49-F238E27FC236}">
                  <a16:creationId xmlns:a16="http://schemas.microsoft.com/office/drawing/2014/main" id="{797D1306-EA8E-8DC7-FCD7-46E27D46193D}"/>
                </a:ext>
              </a:extLst>
            </p:cNvPr>
            <p:cNvGrpSpPr/>
            <p:nvPr/>
          </p:nvGrpSpPr>
          <p:grpSpPr>
            <a:xfrm>
              <a:off x="2683235" y="1761756"/>
              <a:ext cx="754594" cy="703789"/>
              <a:chOff x="1002056" y="622589"/>
              <a:chExt cx="949366" cy="913433"/>
            </a:xfrm>
          </p:grpSpPr>
          <p:sp>
            <p:nvSpPr>
              <p:cNvPr id="115" name="Oval 62">
                <a:extLst>
                  <a:ext uri="{FF2B5EF4-FFF2-40B4-BE49-F238E27FC236}">
                    <a16:creationId xmlns:a16="http://schemas.microsoft.com/office/drawing/2014/main" id="{9C9D8639-0C87-82F9-D37D-0201F7415150}"/>
                  </a:ext>
                </a:extLst>
              </p:cNvPr>
              <p:cNvSpPr>
                <a:spLocks noChangeArrowheads="1"/>
              </p:cNvSpPr>
              <p:nvPr/>
            </p:nvSpPr>
            <p:spPr bwMode="gray">
              <a:xfrm>
                <a:off x="1002056" y="622589"/>
                <a:ext cx="949366" cy="913433"/>
              </a:xfrm>
              <a:prstGeom prst="ellipse">
                <a:avLst/>
              </a:prstGeom>
              <a:gradFill rotWithShape="1">
                <a:gsLst>
                  <a:gs pos="0">
                    <a:srgbClr val="767676"/>
                  </a:gs>
                  <a:gs pos="50000">
                    <a:srgbClr val="FFFFFF"/>
                  </a:gs>
                  <a:gs pos="100000">
                    <a:srgbClr val="767676"/>
                  </a:gs>
                </a:gsLst>
                <a:lin ang="5400000" scaled="1"/>
              </a:gradFill>
              <a:ln w="57150" algn="ctr">
                <a:noFill/>
                <a:round/>
              </a:ln>
            </p:spPr>
            <p:txBody>
              <a:bodyPr wrap="none" anchor="ctr"/>
              <a:lstStyle/>
              <a:p>
                <a:endParaRPr lang="zh-CN" altLang="en-US"/>
              </a:p>
            </p:txBody>
          </p:sp>
          <p:sp>
            <p:nvSpPr>
              <p:cNvPr id="116" name="Oval 63">
                <a:extLst>
                  <a:ext uri="{FF2B5EF4-FFF2-40B4-BE49-F238E27FC236}">
                    <a16:creationId xmlns:a16="http://schemas.microsoft.com/office/drawing/2014/main" id="{E0F5159B-B9DE-B441-D001-127BF3BF9F30}"/>
                  </a:ext>
                </a:extLst>
              </p:cNvPr>
              <p:cNvSpPr>
                <a:spLocks noChangeArrowheads="1"/>
              </p:cNvSpPr>
              <p:nvPr/>
            </p:nvSpPr>
            <p:spPr bwMode="gray">
              <a:xfrm>
                <a:off x="1054652" y="677463"/>
                <a:ext cx="840614" cy="808797"/>
              </a:xfrm>
              <a:prstGeom prst="ellipse">
                <a:avLst/>
              </a:prstGeom>
              <a:gradFill rotWithShape="1">
                <a:gsLst>
                  <a:gs pos="0">
                    <a:srgbClr val="A2A2A2"/>
                  </a:gs>
                  <a:gs pos="50000">
                    <a:srgbClr val="FFFFFF"/>
                  </a:gs>
                  <a:gs pos="100000">
                    <a:srgbClr val="A2A2A2"/>
                  </a:gs>
                </a:gsLst>
                <a:lin ang="0" scaled="1"/>
              </a:gradFill>
              <a:ln w="9525" algn="ctr">
                <a:noFill/>
                <a:round/>
              </a:ln>
            </p:spPr>
            <p:txBody>
              <a:bodyPr wrap="none" anchor="ctr"/>
              <a:lstStyle/>
              <a:p>
                <a:endParaRPr lang="zh-CN" altLang="en-US"/>
              </a:p>
            </p:txBody>
          </p:sp>
          <p:sp>
            <p:nvSpPr>
              <p:cNvPr id="117" name="Oval 65">
                <a:extLst>
                  <a:ext uri="{FF2B5EF4-FFF2-40B4-BE49-F238E27FC236}">
                    <a16:creationId xmlns:a16="http://schemas.microsoft.com/office/drawing/2014/main" id="{D9258FBD-039C-4B6C-1E4C-2EC10B4360D1}"/>
                  </a:ext>
                </a:extLst>
              </p:cNvPr>
              <p:cNvSpPr>
                <a:spLocks noChangeArrowheads="1"/>
              </p:cNvSpPr>
              <p:nvPr/>
            </p:nvSpPr>
            <p:spPr bwMode="gray">
              <a:xfrm>
                <a:off x="1102528" y="727398"/>
                <a:ext cx="741857" cy="714910"/>
              </a:xfrm>
              <a:prstGeom prst="ellipse">
                <a:avLst/>
              </a:prstGeom>
              <a:solidFill>
                <a:schemeClr val="accent1">
                  <a:lumMod val="20000"/>
                  <a:lumOff val="80000"/>
                </a:schemeClr>
              </a:solidFill>
              <a:ln w="38100" algn="ctr">
                <a:noFill/>
                <a:round/>
              </a:ln>
            </p:spPr>
            <p:txBody>
              <a:bodyPr wrap="square" anchor="ctr">
                <a:spAutoFit/>
              </a:bodyPr>
              <a:lstStyle/>
              <a:p>
                <a:endParaRPr lang="zh-CN" altLang="en-US"/>
              </a:p>
            </p:txBody>
          </p:sp>
          <p:sp>
            <p:nvSpPr>
              <p:cNvPr id="118" name="Oval 67">
                <a:extLst>
                  <a:ext uri="{FF2B5EF4-FFF2-40B4-BE49-F238E27FC236}">
                    <a16:creationId xmlns:a16="http://schemas.microsoft.com/office/drawing/2014/main" id="{7C6B2968-D949-956F-B9E0-953C3959B92A}"/>
                  </a:ext>
                </a:extLst>
              </p:cNvPr>
              <p:cNvSpPr>
                <a:spLocks noChangeArrowheads="1"/>
              </p:cNvSpPr>
              <p:nvPr/>
            </p:nvSpPr>
            <p:spPr bwMode="gray">
              <a:xfrm>
                <a:off x="1149834" y="776917"/>
                <a:ext cx="644276" cy="621021"/>
              </a:xfrm>
              <a:prstGeom prst="ellipse">
                <a:avLst/>
              </a:prstGeom>
              <a:gradFill flip="none" rotWithShape="1">
                <a:gsLst>
                  <a:gs pos="15000">
                    <a:srgbClr val="0A2B7B"/>
                  </a:gs>
                  <a:gs pos="58000">
                    <a:schemeClr val="accent1">
                      <a:lumMod val="97000"/>
                      <a:lumOff val="3000"/>
                    </a:schemeClr>
                  </a:gs>
                  <a:gs pos="100000">
                    <a:schemeClr val="accent1">
                      <a:lumMod val="60000"/>
                      <a:lumOff val="40000"/>
                    </a:schemeClr>
                  </a:gs>
                </a:gsLst>
                <a:lin ang="10800000" scaled="1"/>
                <a:tileRect/>
              </a:gradFill>
              <a:ln w="38100" algn="ctr">
                <a:noFill/>
                <a:round/>
              </a:ln>
            </p:spPr>
            <p:txBody>
              <a:bodyPr wrap="square" anchor="ctr">
                <a:spAutoFit/>
              </a:bodyPr>
              <a:lstStyle/>
              <a:p>
                <a:endParaRPr lang="zh-CN" altLang="en-US" dirty="0"/>
              </a:p>
            </p:txBody>
          </p:sp>
        </p:grpSp>
        <p:grpSp>
          <p:nvGrpSpPr>
            <p:cNvPr id="119" name="组合 118">
              <a:extLst>
                <a:ext uri="{FF2B5EF4-FFF2-40B4-BE49-F238E27FC236}">
                  <a16:creationId xmlns:a16="http://schemas.microsoft.com/office/drawing/2014/main" id="{E2AA5E97-5F69-8BF1-B50B-B1B443920195}"/>
                </a:ext>
              </a:extLst>
            </p:cNvPr>
            <p:cNvGrpSpPr/>
            <p:nvPr/>
          </p:nvGrpSpPr>
          <p:grpSpPr>
            <a:xfrm>
              <a:off x="2683235" y="4797215"/>
              <a:ext cx="754594" cy="703789"/>
              <a:chOff x="1002056" y="622589"/>
              <a:chExt cx="949366" cy="913433"/>
            </a:xfrm>
          </p:grpSpPr>
          <p:sp>
            <p:nvSpPr>
              <p:cNvPr id="120" name="Oval 62">
                <a:extLst>
                  <a:ext uri="{FF2B5EF4-FFF2-40B4-BE49-F238E27FC236}">
                    <a16:creationId xmlns:a16="http://schemas.microsoft.com/office/drawing/2014/main" id="{9B1CB045-0C0C-77BC-F61E-8A8B5F7B173B}"/>
                  </a:ext>
                </a:extLst>
              </p:cNvPr>
              <p:cNvSpPr>
                <a:spLocks noChangeArrowheads="1"/>
              </p:cNvSpPr>
              <p:nvPr/>
            </p:nvSpPr>
            <p:spPr bwMode="gray">
              <a:xfrm>
                <a:off x="1002056" y="622589"/>
                <a:ext cx="949366" cy="913433"/>
              </a:xfrm>
              <a:prstGeom prst="ellipse">
                <a:avLst/>
              </a:prstGeom>
              <a:gradFill rotWithShape="1">
                <a:gsLst>
                  <a:gs pos="0">
                    <a:srgbClr val="767676"/>
                  </a:gs>
                  <a:gs pos="50000">
                    <a:srgbClr val="FFFFFF"/>
                  </a:gs>
                  <a:gs pos="100000">
                    <a:srgbClr val="767676"/>
                  </a:gs>
                </a:gsLst>
                <a:lin ang="5400000" scaled="1"/>
              </a:gradFill>
              <a:ln w="57150" algn="ctr">
                <a:noFill/>
                <a:round/>
              </a:ln>
            </p:spPr>
            <p:txBody>
              <a:bodyPr wrap="none" anchor="ctr"/>
              <a:lstStyle/>
              <a:p>
                <a:endParaRPr lang="zh-CN" altLang="en-US"/>
              </a:p>
            </p:txBody>
          </p:sp>
          <p:sp>
            <p:nvSpPr>
              <p:cNvPr id="121" name="Oval 63">
                <a:extLst>
                  <a:ext uri="{FF2B5EF4-FFF2-40B4-BE49-F238E27FC236}">
                    <a16:creationId xmlns:a16="http://schemas.microsoft.com/office/drawing/2014/main" id="{CF635108-361E-4C02-05E8-6FBBA635306E}"/>
                  </a:ext>
                </a:extLst>
              </p:cNvPr>
              <p:cNvSpPr>
                <a:spLocks noChangeArrowheads="1"/>
              </p:cNvSpPr>
              <p:nvPr/>
            </p:nvSpPr>
            <p:spPr bwMode="gray">
              <a:xfrm>
                <a:off x="1054652" y="677463"/>
                <a:ext cx="840614" cy="808797"/>
              </a:xfrm>
              <a:prstGeom prst="ellipse">
                <a:avLst/>
              </a:prstGeom>
              <a:gradFill rotWithShape="1">
                <a:gsLst>
                  <a:gs pos="0">
                    <a:srgbClr val="A2A2A2"/>
                  </a:gs>
                  <a:gs pos="50000">
                    <a:srgbClr val="FFFFFF"/>
                  </a:gs>
                  <a:gs pos="100000">
                    <a:srgbClr val="A2A2A2"/>
                  </a:gs>
                </a:gsLst>
                <a:lin ang="0" scaled="1"/>
              </a:gradFill>
              <a:ln w="9525" algn="ctr">
                <a:noFill/>
                <a:round/>
              </a:ln>
            </p:spPr>
            <p:txBody>
              <a:bodyPr wrap="none" anchor="ctr"/>
              <a:lstStyle/>
              <a:p>
                <a:endParaRPr lang="zh-CN" altLang="en-US"/>
              </a:p>
            </p:txBody>
          </p:sp>
          <p:sp>
            <p:nvSpPr>
              <p:cNvPr id="122" name="Oval 65">
                <a:extLst>
                  <a:ext uri="{FF2B5EF4-FFF2-40B4-BE49-F238E27FC236}">
                    <a16:creationId xmlns:a16="http://schemas.microsoft.com/office/drawing/2014/main" id="{5C46E509-3D28-811E-AB07-5F09FF077CFB}"/>
                  </a:ext>
                </a:extLst>
              </p:cNvPr>
              <p:cNvSpPr>
                <a:spLocks noChangeArrowheads="1"/>
              </p:cNvSpPr>
              <p:nvPr/>
            </p:nvSpPr>
            <p:spPr bwMode="gray">
              <a:xfrm>
                <a:off x="1102528" y="727398"/>
                <a:ext cx="741857" cy="714910"/>
              </a:xfrm>
              <a:prstGeom prst="ellipse">
                <a:avLst/>
              </a:prstGeom>
              <a:solidFill>
                <a:schemeClr val="accent1">
                  <a:lumMod val="20000"/>
                  <a:lumOff val="80000"/>
                </a:schemeClr>
              </a:solidFill>
              <a:ln w="38100" algn="ctr">
                <a:noFill/>
                <a:round/>
              </a:ln>
            </p:spPr>
            <p:txBody>
              <a:bodyPr wrap="square" anchor="ctr">
                <a:spAutoFit/>
              </a:bodyPr>
              <a:lstStyle/>
              <a:p>
                <a:endParaRPr lang="zh-CN" altLang="en-US"/>
              </a:p>
            </p:txBody>
          </p:sp>
          <p:sp>
            <p:nvSpPr>
              <p:cNvPr id="123" name="Oval 67">
                <a:extLst>
                  <a:ext uri="{FF2B5EF4-FFF2-40B4-BE49-F238E27FC236}">
                    <a16:creationId xmlns:a16="http://schemas.microsoft.com/office/drawing/2014/main" id="{73ABFB6C-303A-DC13-DF3A-80025BB7EAAD}"/>
                  </a:ext>
                </a:extLst>
              </p:cNvPr>
              <p:cNvSpPr>
                <a:spLocks noChangeArrowheads="1"/>
              </p:cNvSpPr>
              <p:nvPr/>
            </p:nvSpPr>
            <p:spPr bwMode="gray">
              <a:xfrm>
                <a:off x="1149834" y="776917"/>
                <a:ext cx="644276" cy="621021"/>
              </a:xfrm>
              <a:prstGeom prst="ellipse">
                <a:avLst/>
              </a:prstGeom>
              <a:gradFill flip="none" rotWithShape="1">
                <a:gsLst>
                  <a:gs pos="15000">
                    <a:srgbClr val="0A2B7B"/>
                  </a:gs>
                  <a:gs pos="58000">
                    <a:schemeClr val="accent1">
                      <a:lumMod val="97000"/>
                      <a:lumOff val="3000"/>
                    </a:schemeClr>
                  </a:gs>
                  <a:gs pos="100000">
                    <a:schemeClr val="accent1">
                      <a:lumMod val="60000"/>
                      <a:lumOff val="40000"/>
                    </a:schemeClr>
                  </a:gs>
                </a:gsLst>
                <a:lin ang="10800000" scaled="1"/>
                <a:tileRect/>
              </a:gradFill>
              <a:ln w="38100" algn="ctr">
                <a:noFill/>
                <a:round/>
              </a:ln>
            </p:spPr>
            <p:txBody>
              <a:bodyPr wrap="square" anchor="ctr">
                <a:spAutoFit/>
              </a:bodyPr>
              <a:lstStyle/>
              <a:p>
                <a:endParaRPr lang="zh-CN" altLang="en-US" dirty="0"/>
              </a:p>
            </p:txBody>
          </p:sp>
        </p:grpSp>
        <p:grpSp>
          <p:nvGrpSpPr>
            <p:cNvPr id="124" name="组合 123">
              <a:extLst>
                <a:ext uri="{FF2B5EF4-FFF2-40B4-BE49-F238E27FC236}">
                  <a16:creationId xmlns:a16="http://schemas.microsoft.com/office/drawing/2014/main" id="{8C53A5E0-5CA8-BEA3-823C-11E37E433D18}"/>
                </a:ext>
              </a:extLst>
            </p:cNvPr>
            <p:cNvGrpSpPr/>
            <p:nvPr/>
          </p:nvGrpSpPr>
          <p:grpSpPr>
            <a:xfrm>
              <a:off x="3127558" y="2768412"/>
              <a:ext cx="754594" cy="703789"/>
              <a:chOff x="1002056" y="622589"/>
              <a:chExt cx="949366" cy="913433"/>
            </a:xfrm>
          </p:grpSpPr>
          <p:sp>
            <p:nvSpPr>
              <p:cNvPr id="125" name="Oval 62">
                <a:extLst>
                  <a:ext uri="{FF2B5EF4-FFF2-40B4-BE49-F238E27FC236}">
                    <a16:creationId xmlns:a16="http://schemas.microsoft.com/office/drawing/2014/main" id="{036504E7-0CC8-6F3F-5C20-12C2BCE581CF}"/>
                  </a:ext>
                </a:extLst>
              </p:cNvPr>
              <p:cNvSpPr>
                <a:spLocks noChangeArrowheads="1"/>
              </p:cNvSpPr>
              <p:nvPr/>
            </p:nvSpPr>
            <p:spPr bwMode="gray">
              <a:xfrm>
                <a:off x="1002056" y="622589"/>
                <a:ext cx="949366" cy="913433"/>
              </a:xfrm>
              <a:prstGeom prst="ellipse">
                <a:avLst/>
              </a:prstGeom>
              <a:gradFill rotWithShape="1">
                <a:gsLst>
                  <a:gs pos="0">
                    <a:srgbClr val="767676"/>
                  </a:gs>
                  <a:gs pos="50000">
                    <a:srgbClr val="FFFFFF"/>
                  </a:gs>
                  <a:gs pos="100000">
                    <a:srgbClr val="767676"/>
                  </a:gs>
                </a:gsLst>
                <a:lin ang="5400000" scaled="1"/>
              </a:gradFill>
              <a:ln w="57150" algn="ctr">
                <a:noFill/>
                <a:round/>
              </a:ln>
            </p:spPr>
            <p:txBody>
              <a:bodyPr wrap="none" anchor="ctr"/>
              <a:lstStyle/>
              <a:p>
                <a:endParaRPr lang="zh-CN" altLang="en-US"/>
              </a:p>
            </p:txBody>
          </p:sp>
          <p:sp>
            <p:nvSpPr>
              <p:cNvPr id="126" name="Oval 63">
                <a:extLst>
                  <a:ext uri="{FF2B5EF4-FFF2-40B4-BE49-F238E27FC236}">
                    <a16:creationId xmlns:a16="http://schemas.microsoft.com/office/drawing/2014/main" id="{6A98C6C4-63A8-1699-92A3-99633BC4F2C3}"/>
                  </a:ext>
                </a:extLst>
              </p:cNvPr>
              <p:cNvSpPr>
                <a:spLocks noChangeArrowheads="1"/>
              </p:cNvSpPr>
              <p:nvPr/>
            </p:nvSpPr>
            <p:spPr bwMode="gray">
              <a:xfrm>
                <a:off x="1054652" y="677463"/>
                <a:ext cx="840614" cy="808797"/>
              </a:xfrm>
              <a:prstGeom prst="ellipse">
                <a:avLst/>
              </a:prstGeom>
              <a:gradFill rotWithShape="1">
                <a:gsLst>
                  <a:gs pos="0">
                    <a:srgbClr val="A2A2A2"/>
                  </a:gs>
                  <a:gs pos="50000">
                    <a:srgbClr val="FFFFFF"/>
                  </a:gs>
                  <a:gs pos="100000">
                    <a:srgbClr val="A2A2A2"/>
                  </a:gs>
                </a:gsLst>
                <a:lin ang="0" scaled="1"/>
              </a:gradFill>
              <a:ln w="9525" algn="ctr">
                <a:noFill/>
                <a:round/>
              </a:ln>
            </p:spPr>
            <p:txBody>
              <a:bodyPr wrap="none" anchor="ctr"/>
              <a:lstStyle/>
              <a:p>
                <a:endParaRPr lang="zh-CN" altLang="en-US"/>
              </a:p>
            </p:txBody>
          </p:sp>
          <p:sp>
            <p:nvSpPr>
              <p:cNvPr id="127" name="Oval 65">
                <a:extLst>
                  <a:ext uri="{FF2B5EF4-FFF2-40B4-BE49-F238E27FC236}">
                    <a16:creationId xmlns:a16="http://schemas.microsoft.com/office/drawing/2014/main" id="{5DC3B7B0-41C8-B93E-3BBD-84A56EA07132}"/>
                  </a:ext>
                </a:extLst>
              </p:cNvPr>
              <p:cNvSpPr>
                <a:spLocks noChangeArrowheads="1"/>
              </p:cNvSpPr>
              <p:nvPr/>
            </p:nvSpPr>
            <p:spPr bwMode="gray">
              <a:xfrm>
                <a:off x="1102528" y="727398"/>
                <a:ext cx="741857" cy="714910"/>
              </a:xfrm>
              <a:prstGeom prst="ellipse">
                <a:avLst/>
              </a:prstGeom>
              <a:solidFill>
                <a:schemeClr val="accent1">
                  <a:lumMod val="20000"/>
                  <a:lumOff val="80000"/>
                </a:schemeClr>
              </a:solidFill>
              <a:ln w="38100" algn="ctr">
                <a:noFill/>
                <a:round/>
              </a:ln>
            </p:spPr>
            <p:txBody>
              <a:bodyPr wrap="square" anchor="ctr">
                <a:spAutoFit/>
              </a:bodyPr>
              <a:lstStyle/>
              <a:p>
                <a:endParaRPr lang="zh-CN" altLang="en-US"/>
              </a:p>
            </p:txBody>
          </p:sp>
          <p:sp>
            <p:nvSpPr>
              <p:cNvPr id="192" name="Oval 67">
                <a:extLst>
                  <a:ext uri="{FF2B5EF4-FFF2-40B4-BE49-F238E27FC236}">
                    <a16:creationId xmlns:a16="http://schemas.microsoft.com/office/drawing/2014/main" id="{B65DADA8-33FB-707E-DF61-9A97B379E825}"/>
                  </a:ext>
                </a:extLst>
              </p:cNvPr>
              <p:cNvSpPr>
                <a:spLocks noChangeArrowheads="1"/>
              </p:cNvSpPr>
              <p:nvPr/>
            </p:nvSpPr>
            <p:spPr bwMode="gray">
              <a:xfrm>
                <a:off x="1149834" y="776917"/>
                <a:ext cx="644276" cy="621021"/>
              </a:xfrm>
              <a:prstGeom prst="ellipse">
                <a:avLst/>
              </a:prstGeom>
              <a:gradFill flip="none" rotWithShape="1">
                <a:gsLst>
                  <a:gs pos="15000">
                    <a:srgbClr val="0A2B7B"/>
                  </a:gs>
                  <a:gs pos="58000">
                    <a:schemeClr val="accent1">
                      <a:lumMod val="97000"/>
                      <a:lumOff val="3000"/>
                    </a:schemeClr>
                  </a:gs>
                  <a:gs pos="100000">
                    <a:schemeClr val="accent1">
                      <a:lumMod val="60000"/>
                      <a:lumOff val="40000"/>
                    </a:schemeClr>
                  </a:gs>
                </a:gsLst>
                <a:lin ang="10800000" scaled="1"/>
                <a:tileRect/>
              </a:gradFill>
              <a:ln w="38100" algn="ctr">
                <a:noFill/>
                <a:round/>
              </a:ln>
            </p:spPr>
            <p:txBody>
              <a:bodyPr wrap="square" anchor="ctr">
                <a:spAutoFit/>
              </a:bodyPr>
              <a:lstStyle/>
              <a:p>
                <a:endParaRPr lang="zh-CN" altLang="en-US" dirty="0"/>
              </a:p>
            </p:txBody>
          </p:sp>
        </p:grpSp>
        <p:grpSp>
          <p:nvGrpSpPr>
            <p:cNvPr id="209" name="组合 208">
              <a:extLst>
                <a:ext uri="{FF2B5EF4-FFF2-40B4-BE49-F238E27FC236}">
                  <a16:creationId xmlns:a16="http://schemas.microsoft.com/office/drawing/2014/main" id="{6BD4097E-7C6B-3AAC-8ED1-1DE34D2CB3C2}"/>
                </a:ext>
              </a:extLst>
            </p:cNvPr>
            <p:cNvGrpSpPr/>
            <p:nvPr/>
          </p:nvGrpSpPr>
          <p:grpSpPr>
            <a:xfrm>
              <a:off x="1623224" y="5647300"/>
              <a:ext cx="754594" cy="703789"/>
              <a:chOff x="1002056" y="622589"/>
              <a:chExt cx="949366" cy="913433"/>
            </a:xfrm>
          </p:grpSpPr>
          <p:sp>
            <p:nvSpPr>
              <p:cNvPr id="210" name="Oval 62">
                <a:extLst>
                  <a:ext uri="{FF2B5EF4-FFF2-40B4-BE49-F238E27FC236}">
                    <a16:creationId xmlns:a16="http://schemas.microsoft.com/office/drawing/2014/main" id="{122051E7-C769-1A94-A9D1-1E11E4C7473B}"/>
                  </a:ext>
                </a:extLst>
              </p:cNvPr>
              <p:cNvSpPr>
                <a:spLocks noChangeArrowheads="1"/>
              </p:cNvSpPr>
              <p:nvPr/>
            </p:nvSpPr>
            <p:spPr bwMode="gray">
              <a:xfrm>
                <a:off x="1002056" y="622589"/>
                <a:ext cx="949366" cy="913433"/>
              </a:xfrm>
              <a:prstGeom prst="ellipse">
                <a:avLst/>
              </a:prstGeom>
              <a:gradFill rotWithShape="1">
                <a:gsLst>
                  <a:gs pos="0">
                    <a:srgbClr val="767676"/>
                  </a:gs>
                  <a:gs pos="50000">
                    <a:srgbClr val="FFFFFF"/>
                  </a:gs>
                  <a:gs pos="100000">
                    <a:srgbClr val="767676"/>
                  </a:gs>
                </a:gsLst>
                <a:lin ang="5400000" scaled="1"/>
              </a:gradFill>
              <a:ln w="57150" algn="ctr">
                <a:noFill/>
                <a:round/>
              </a:ln>
            </p:spPr>
            <p:txBody>
              <a:bodyPr wrap="none" anchor="ctr"/>
              <a:lstStyle/>
              <a:p>
                <a:endParaRPr lang="zh-CN" altLang="en-US"/>
              </a:p>
            </p:txBody>
          </p:sp>
          <p:sp>
            <p:nvSpPr>
              <p:cNvPr id="211" name="Oval 63">
                <a:extLst>
                  <a:ext uri="{FF2B5EF4-FFF2-40B4-BE49-F238E27FC236}">
                    <a16:creationId xmlns:a16="http://schemas.microsoft.com/office/drawing/2014/main" id="{50D5A8B5-57E8-E255-C49B-1EBB15EEC1AD}"/>
                  </a:ext>
                </a:extLst>
              </p:cNvPr>
              <p:cNvSpPr>
                <a:spLocks noChangeArrowheads="1"/>
              </p:cNvSpPr>
              <p:nvPr/>
            </p:nvSpPr>
            <p:spPr bwMode="gray">
              <a:xfrm>
                <a:off x="1054652" y="677463"/>
                <a:ext cx="840614" cy="808797"/>
              </a:xfrm>
              <a:prstGeom prst="ellipse">
                <a:avLst/>
              </a:prstGeom>
              <a:gradFill rotWithShape="1">
                <a:gsLst>
                  <a:gs pos="0">
                    <a:srgbClr val="A2A2A2"/>
                  </a:gs>
                  <a:gs pos="50000">
                    <a:srgbClr val="FFFFFF"/>
                  </a:gs>
                  <a:gs pos="100000">
                    <a:srgbClr val="A2A2A2"/>
                  </a:gs>
                </a:gsLst>
                <a:lin ang="0" scaled="1"/>
              </a:gradFill>
              <a:ln w="9525" algn="ctr">
                <a:noFill/>
                <a:round/>
              </a:ln>
            </p:spPr>
            <p:txBody>
              <a:bodyPr wrap="none" anchor="ctr"/>
              <a:lstStyle/>
              <a:p>
                <a:endParaRPr lang="zh-CN" altLang="en-US"/>
              </a:p>
            </p:txBody>
          </p:sp>
          <p:sp>
            <p:nvSpPr>
              <p:cNvPr id="212" name="Oval 65">
                <a:extLst>
                  <a:ext uri="{FF2B5EF4-FFF2-40B4-BE49-F238E27FC236}">
                    <a16:creationId xmlns:a16="http://schemas.microsoft.com/office/drawing/2014/main" id="{4410A565-7AEF-882C-7290-D2EEB662F2A4}"/>
                  </a:ext>
                </a:extLst>
              </p:cNvPr>
              <p:cNvSpPr>
                <a:spLocks noChangeArrowheads="1"/>
              </p:cNvSpPr>
              <p:nvPr/>
            </p:nvSpPr>
            <p:spPr bwMode="gray">
              <a:xfrm>
                <a:off x="1102528" y="727398"/>
                <a:ext cx="741857" cy="714910"/>
              </a:xfrm>
              <a:prstGeom prst="ellipse">
                <a:avLst/>
              </a:prstGeom>
              <a:solidFill>
                <a:schemeClr val="accent1">
                  <a:lumMod val="20000"/>
                  <a:lumOff val="80000"/>
                </a:schemeClr>
              </a:solidFill>
              <a:ln w="38100" algn="ctr">
                <a:noFill/>
                <a:round/>
              </a:ln>
            </p:spPr>
            <p:txBody>
              <a:bodyPr wrap="square" anchor="ctr">
                <a:spAutoFit/>
              </a:bodyPr>
              <a:lstStyle/>
              <a:p>
                <a:endParaRPr lang="zh-CN" altLang="en-US"/>
              </a:p>
            </p:txBody>
          </p:sp>
          <p:sp>
            <p:nvSpPr>
              <p:cNvPr id="213" name="Oval 67">
                <a:extLst>
                  <a:ext uri="{FF2B5EF4-FFF2-40B4-BE49-F238E27FC236}">
                    <a16:creationId xmlns:a16="http://schemas.microsoft.com/office/drawing/2014/main" id="{97F1402C-2D15-7184-8226-170A152F4FCF}"/>
                  </a:ext>
                </a:extLst>
              </p:cNvPr>
              <p:cNvSpPr>
                <a:spLocks noChangeArrowheads="1"/>
              </p:cNvSpPr>
              <p:nvPr/>
            </p:nvSpPr>
            <p:spPr bwMode="gray">
              <a:xfrm>
                <a:off x="1149834" y="776917"/>
                <a:ext cx="644276" cy="621021"/>
              </a:xfrm>
              <a:prstGeom prst="ellipse">
                <a:avLst/>
              </a:prstGeom>
              <a:gradFill flip="none" rotWithShape="1">
                <a:gsLst>
                  <a:gs pos="15000">
                    <a:srgbClr val="0A2B7B"/>
                  </a:gs>
                  <a:gs pos="58000">
                    <a:schemeClr val="accent1">
                      <a:lumMod val="97000"/>
                      <a:lumOff val="3000"/>
                    </a:schemeClr>
                  </a:gs>
                  <a:gs pos="100000">
                    <a:schemeClr val="accent1">
                      <a:lumMod val="60000"/>
                      <a:lumOff val="40000"/>
                    </a:schemeClr>
                  </a:gs>
                </a:gsLst>
                <a:lin ang="10800000" scaled="1"/>
                <a:tileRect/>
              </a:gradFill>
              <a:ln w="38100" algn="ctr">
                <a:noFill/>
                <a:round/>
              </a:ln>
            </p:spPr>
            <p:txBody>
              <a:bodyPr wrap="square" anchor="ctr">
                <a:spAutoFit/>
              </a:bodyPr>
              <a:lstStyle/>
              <a:p>
                <a:endParaRPr lang="zh-CN" altLang="en-US" dirty="0"/>
              </a:p>
            </p:txBody>
          </p:sp>
        </p:grpSp>
        <p:grpSp>
          <p:nvGrpSpPr>
            <p:cNvPr id="214" name="组合 213">
              <a:extLst>
                <a:ext uri="{FF2B5EF4-FFF2-40B4-BE49-F238E27FC236}">
                  <a16:creationId xmlns:a16="http://schemas.microsoft.com/office/drawing/2014/main" id="{1809FB20-0066-1986-58B6-8AD95672DAA5}"/>
                </a:ext>
              </a:extLst>
            </p:cNvPr>
            <p:cNvGrpSpPr/>
            <p:nvPr/>
          </p:nvGrpSpPr>
          <p:grpSpPr>
            <a:xfrm>
              <a:off x="3131347" y="3788397"/>
              <a:ext cx="754594" cy="703789"/>
              <a:chOff x="1002056" y="622589"/>
              <a:chExt cx="949366" cy="913433"/>
            </a:xfrm>
          </p:grpSpPr>
          <p:sp>
            <p:nvSpPr>
              <p:cNvPr id="215" name="Oval 62">
                <a:extLst>
                  <a:ext uri="{FF2B5EF4-FFF2-40B4-BE49-F238E27FC236}">
                    <a16:creationId xmlns:a16="http://schemas.microsoft.com/office/drawing/2014/main" id="{4EC3ACEA-3839-1BF6-CB7F-9C4332A690F5}"/>
                  </a:ext>
                </a:extLst>
              </p:cNvPr>
              <p:cNvSpPr>
                <a:spLocks noChangeArrowheads="1"/>
              </p:cNvSpPr>
              <p:nvPr/>
            </p:nvSpPr>
            <p:spPr bwMode="gray">
              <a:xfrm>
                <a:off x="1002056" y="622589"/>
                <a:ext cx="949366" cy="913433"/>
              </a:xfrm>
              <a:prstGeom prst="ellipse">
                <a:avLst/>
              </a:prstGeom>
              <a:gradFill rotWithShape="1">
                <a:gsLst>
                  <a:gs pos="0">
                    <a:srgbClr val="767676"/>
                  </a:gs>
                  <a:gs pos="50000">
                    <a:srgbClr val="FFFFFF"/>
                  </a:gs>
                  <a:gs pos="100000">
                    <a:srgbClr val="767676"/>
                  </a:gs>
                </a:gsLst>
                <a:lin ang="5400000" scaled="1"/>
              </a:gradFill>
              <a:ln w="57150" algn="ctr">
                <a:noFill/>
                <a:round/>
              </a:ln>
            </p:spPr>
            <p:txBody>
              <a:bodyPr wrap="none" anchor="ctr"/>
              <a:lstStyle/>
              <a:p>
                <a:endParaRPr lang="zh-CN" altLang="en-US"/>
              </a:p>
            </p:txBody>
          </p:sp>
          <p:sp>
            <p:nvSpPr>
              <p:cNvPr id="216" name="Oval 63">
                <a:extLst>
                  <a:ext uri="{FF2B5EF4-FFF2-40B4-BE49-F238E27FC236}">
                    <a16:creationId xmlns:a16="http://schemas.microsoft.com/office/drawing/2014/main" id="{961491ED-D3DD-0B4A-FEE8-356BE3615E61}"/>
                  </a:ext>
                </a:extLst>
              </p:cNvPr>
              <p:cNvSpPr>
                <a:spLocks noChangeArrowheads="1"/>
              </p:cNvSpPr>
              <p:nvPr/>
            </p:nvSpPr>
            <p:spPr bwMode="gray">
              <a:xfrm>
                <a:off x="1054652" y="677463"/>
                <a:ext cx="840614" cy="808797"/>
              </a:xfrm>
              <a:prstGeom prst="ellipse">
                <a:avLst/>
              </a:prstGeom>
              <a:gradFill rotWithShape="1">
                <a:gsLst>
                  <a:gs pos="0">
                    <a:srgbClr val="A2A2A2"/>
                  </a:gs>
                  <a:gs pos="50000">
                    <a:srgbClr val="FFFFFF"/>
                  </a:gs>
                  <a:gs pos="100000">
                    <a:srgbClr val="A2A2A2"/>
                  </a:gs>
                </a:gsLst>
                <a:lin ang="0" scaled="1"/>
              </a:gradFill>
              <a:ln w="9525" algn="ctr">
                <a:noFill/>
                <a:round/>
              </a:ln>
            </p:spPr>
            <p:txBody>
              <a:bodyPr wrap="none" anchor="ctr"/>
              <a:lstStyle/>
              <a:p>
                <a:endParaRPr lang="zh-CN" altLang="en-US"/>
              </a:p>
            </p:txBody>
          </p:sp>
          <p:sp>
            <p:nvSpPr>
              <p:cNvPr id="217" name="Oval 65">
                <a:extLst>
                  <a:ext uri="{FF2B5EF4-FFF2-40B4-BE49-F238E27FC236}">
                    <a16:creationId xmlns:a16="http://schemas.microsoft.com/office/drawing/2014/main" id="{7BEE938C-1F78-27F8-C5E4-041A251E5E94}"/>
                  </a:ext>
                </a:extLst>
              </p:cNvPr>
              <p:cNvSpPr>
                <a:spLocks noChangeArrowheads="1"/>
              </p:cNvSpPr>
              <p:nvPr/>
            </p:nvSpPr>
            <p:spPr bwMode="gray">
              <a:xfrm>
                <a:off x="1102528" y="727398"/>
                <a:ext cx="741857" cy="714910"/>
              </a:xfrm>
              <a:prstGeom prst="ellipse">
                <a:avLst/>
              </a:prstGeom>
              <a:solidFill>
                <a:schemeClr val="accent1">
                  <a:lumMod val="20000"/>
                  <a:lumOff val="80000"/>
                </a:schemeClr>
              </a:solidFill>
              <a:ln w="38100" algn="ctr">
                <a:noFill/>
                <a:round/>
              </a:ln>
            </p:spPr>
            <p:txBody>
              <a:bodyPr wrap="square" anchor="ctr">
                <a:spAutoFit/>
              </a:bodyPr>
              <a:lstStyle/>
              <a:p>
                <a:endParaRPr lang="zh-CN" altLang="en-US"/>
              </a:p>
            </p:txBody>
          </p:sp>
          <p:sp>
            <p:nvSpPr>
              <p:cNvPr id="218" name="Oval 67">
                <a:extLst>
                  <a:ext uri="{FF2B5EF4-FFF2-40B4-BE49-F238E27FC236}">
                    <a16:creationId xmlns:a16="http://schemas.microsoft.com/office/drawing/2014/main" id="{9C72B42A-3B0C-9920-EBBE-7324D6DC11F9}"/>
                  </a:ext>
                </a:extLst>
              </p:cNvPr>
              <p:cNvSpPr>
                <a:spLocks noChangeArrowheads="1"/>
              </p:cNvSpPr>
              <p:nvPr/>
            </p:nvSpPr>
            <p:spPr bwMode="gray">
              <a:xfrm>
                <a:off x="1149834" y="776917"/>
                <a:ext cx="644276" cy="621021"/>
              </a:xfrm>
              <a:prstGeom prst="ellipse">
                <a:avLst/>
              </a:prstGeom>
              <a:gradFill flip="none" rotWithShape="1">
                <a:gsLst>
                  <a:gs pos="15000">
                    <a:srgbClr val="0A2B7B"/>
                  </a:gs>
                  <a:gs pos="58000">
                    <a:schemeClr val="accent1">
                      <a:lumMod val="97000"/>
                      <a:lumOff val="3000"/>
                    </a:schemeClr>
                  </a:gs>
                  <a:gs pos="100000">
                    <a:schemeClr val="accent1">
                      <a:lumMod val="60000"/>
                      <a:lumOff val="40000"/>
                    </a:schemeClr>
                  </a:gs>
                </a:gsLst>
                <a:lin ang="10800000" scaled="1"/>
                <a:tileRect/>
              </a:gradFill>
              <a:ln w="38100" algn="ctr">
                <a:noFill/>
                <a:round/>
              </a:ln>
            </p:spPr>
            <p:txBody>
              <a:bodyPr wrap="square" anchor="ctr">
                <a:spAutoFit/>
              </a:bodyPr>
              <a:lstStyle/>
              <a:p>
                <a:endParaRPr lang="zh-CN" altLang="en-US" dirty="0"/>
              </a:p>
            </p:txBody>
          </p:sp>
        </p:grpSp>
      </p:gr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B47C3DB-92F0-80FB-D195-DB3B52F09DC9}"/>
              </a:ext>
            </a:extLst>
          </p:cNvPr>
          <p:cNvGrpSpPr/>
          <p:nvPr/>
        </p:nvGrpSpPr>
        <p:grpSpPr>
          <a:xfrm>
            <a:off x="1823023" y="2568575"/>
            <a:ext cx="8823045" cy="1720850"/>
            <a:chOff x="1184275" y="2717410"/>
            <a:chExt cx="8822581" cy="1720986"/>
          </a:xfrm>
        </p:grpSpPr>
        <p:grpSp>
          <p:nvGrpSpPr>
            <p:cNvPr id="6" name="Group 4">
              <a:extLst>
                <a:ext uri="{FF2B5EF4-FFF2-40B4-BE49-F238E27FC236}">
                  <a16:creationId xmlns:a16="http://schemas.microsoft.com/office/drawing/2014/main" id="{26C074D1-C7C4-C511-39F8-E30510CFA70B}"/>
                </a:ext>
              </a:extLst>
            </p:cNvPr>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8" name="Freeform 6">
                <a:extLst>
                  <a:ext uri="{FF2B5EF4-FFF2-40B4-BE49-F238E27FC236}">
                    <a16:creationId xmlns:a16="http://schemas.microsoft.com/office/drawing/2014/main" id="{C9587680-2ABF-EDCB-3C27-9E391AF12675}"/>
                  </a:ext>
                </a:extLst>
              </p:cNvPr>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9" name="Freeform 7">
                <a:extLst>
                  <a:ext uri="{FF2B5EF4-FFF2-40B4-BE49-F238E27FC236}">
                    <a16:creationId xmlns:a16="http://schemas.microsoft.com/office/drawing/2014/main" id="{290EAC81-88DC-7EAB-6454-B7AE4ED72B36}"/>
                  </a:ext>
                </a:extLst>
              </p:cNvPr>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7" name="文本框 6">
              <a:extLst>
                <a:ext uri="{FF2B5EF4-FFF2-40B4-BE49-F238E27FC236}">
                  <a16:creationId xmlns:a16="http://schemas.microsoft.com/office/drawing/2014/main" id="{E97460E4-0FDA-CB4C-C26F-7C78B050278C}"/>
                </a:ext>
              </a:extLst>
            </p:cNvPr>
            <p:cNvSpPr txBox="1"/>
            <p:nvPr/>
          </p:nvSpPr>
          <p:spPr>
            <a:xfrm>
              <a:off x="3187699" y="2847430"/>
              <a:ext cx="6819157" cy="1108084"/>
            </a:xfrm>
            <a:prstGeom prst="rect">
              <a:avLst/>
            </a:prstGeom>
            <a:noFill/>
          </p:spPr>
          <p:txBody>
            <a:bodyPr wrap="square" rtlCol="0">
              <a:spAutoFit/>
            </a:bodyPr>
            <a:lstStyle/>
            <a:p>
              <a:r>
                <a:rPr lang="zh-CN" altLang="en-US" sz="6600" b="1" spc="300" dirty="0">
                  <a:solidFill>
                    <a:schemeClr val="bg1"/>
                  </a:solidFill>
                  <a:latin typeface="微软雅黑" panose="020B0503020204020204" pitchFamily="34" charset="-122"/>
                  <a:ea typeface="微软雅黑" panose="020B0503020204020204" pitchFamily="34" charset="-122"/>
                </a:rPr>
                <a:t>研究背景及意义</a:t>
              </a: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a:t>
            </a:fld>
            <a:endParaRPr lang="zh-HK" altLang="en-US">
              <a:solidFill>
                <a:prstClr val="black">
                  <a:tint val="75000"/>
                </a:prstClr>
              </a:solidFill>
            </a:endParaRPr>
          </a:p>
        </p:txBody>
      </p:sp>
      <p:grpSp>
        <p:nvGrpSpPr>
          <p:cNvPr id="26" name="组合 25"/>
          <p:cNvGrpSpPr/>
          <p:nvPr/>
        </p:nvGrpSpPr>
        <p:grpSpPr>
          <a:xfrm>
            <a:off x="1421810" y="459860"/>
            <a:ext cx="9978172" cy="3523272"/>
            <a:chOff x="1375628" y="805742"/>
            <a:chExt cx="9978172" cy="3523272"/>
          </a:xfrm>
        </p:grpSpPr>
        <p:sp>
          <p:nvSpPr>
            <p:cNvPr id="10" name="文本框 9"/>
            <p:cNvSpPr txBox="1"/>
            <p:nvPr/>
          </p:nvSpPr>
          <p:spPr>
            <a:xfrm>
              <a:off x="6233131" y="805742"/>
              <a:ext cx="5120669" cy="1761636"/>
            </a:xfrm>
            <a:prstGeom prst="rect">
              <a:avLst/>
            </a:prstGeom>
            <a:noFill/>
          </p:spPr>
          <p:txBody>
            <a:bodyPr wrap="square">
              <a:spAutoFit/>
            </a:bodyPr>
            <a:lstStyle/>
            <a:p>
              <a:pPr>
                <a:lnSpc>
                  <a:spcPct val="130000"/>
                </a:lnSpc>
              </a:pPr>
              <a:r>
                <a:rPr lang="zh-CN" altLang="en-US" sz="2100" b="1" dirty="0">
                  <a:solidFill>
                    <a:schemeClr val="accent1"/>
                  </a:solidFill>
                  <a:latin typeface="微软雅黑" panose="020B0503020204020204" pitchFamily="34" charset="-122"/>
                  <a:ea typeface="微软雅黑" panose="020B0503020204020204" pitchFamily="34" charset="-122"/>
                </a:rPr>
                <a:t>汽车市场现状</a:t>
              </a:r>
            </a:p>
            <a:p>
              <a:pPr algn="just">
                <a:lnSpc>
                  <a:spcPct val="130000"/>
                </a:lnSpc>
              </a:pP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截至</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2024</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年</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6</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月底</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4.4</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亿辆，其中汽车</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3.45</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亿辆</a:t>
              </a:r>
              <a:r>
                <a:rPr lang="zh-CN" altLang="en-US" sz="1600" dirty="0">
                  <a:solidFill>
                    <a:srgbClr val="05073B"/>
                  </a:solidFill>
                  <a:highlight>
                    <a:srgbClr val="FDFDFE"/>
                  </a:highlight>
                  <a:latin typeface="微软雅黑" panose="020B0503020204020204" pitchFamily="34" charset="-122"/>
                  <a:ea typeface="微软雅黑" panose="020B0503020204020204" pitchFamily="34" charset="-122"/>
                </a:rPr>
                <a:t>；</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驾驶员数量</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5.32</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亿人，其中汽车驾驶员</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4.96</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亿人</a:t>
              </a:r>
              <a:r>
                <a:rPr lang="zh-CN" altLang="en-US" sz="1600" dirty="0">
                  <a:solidFill>
                    <a:srgbClr val="05073B"/>
                  </a:solidFill>
                  <a:highlight>
                    <a:srgbClr val="FDFDFE"/>
                  </a:highlight>
                  <a:latin typeface="微软雅黑" panose="020B0503020204020204" pitchFamily="34" charset="-122"/>
                  <a:ea typeface="微软雅黑" panose="020B0503020204020204" pitchFamily="34" charset="-122"/>
                </a:rPr>
                <a:t>；</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近三年</a:t>
              </a:r>
              <a:r>
                <a:rPr lang="zh-CN" altLang="en-US" sz="1600" dirty="0">
                  <a:solidFill>
                    <a:srgbClr val="05073B"/>
                  </a:solidFill>
                  <a:highlight>
                    <a:srgbClr val="FDFDFE"/>
                  </a:highlight>
                  <a:latin typeface="微软雅黑" panose="020B0503020204020204" pitchFamily="34" charset="-122"/>
                  <a:ea typeface="微软雅黑" panose="020B0503020204020204" pitchFamily="34" charset="-122"/>
                </a:rPr>
                <a:t>全球销量</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达</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2.4</a:t>
              </a:r>
              <a:r>
                <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rPr>
                <a:t>亿辆，中国占</a:t>
              </a:r>
              <a:r>
                <a:rPr lang="en-US" altLang="zh-CN" sz="1600" i="0" dirty="0">
                  <a:solidFill>
                    <a:srgbClr val="05073B"/>
                  </a:solidFill>
                  <a:effectLst/>
                  <a:highlight>
                    <a:srgbClr val="FDFDFE"/>
                  </a:highlight>
                  <a:latin typeface="微软雅黑" panose="020B0503020204020204" pitchFamily="34" charset="-122"/>
                  <a:ea typeface="微软雅黑" panose="020B0503020204020204" pitchFamily="34" charset="-122"/>
                </a:rPr>
                <a:t>32.8%</a:t>
              </a:r>
              <a:r>
                <a:rPr lang="zh-CN" altLang="en-US" sz="1600" dirty="0">
                  <a:solidFill>
                    <a:srgbClr val="05073B"/>
                  </a:solidFill>
                  <a:highlight>
                    <a:srgbClr val="FDFDFE"/>
                  </a:highlight>
                  <a:latin typeface="微软雅黑" panose="020B0503020204020204" pitchFamily="34" charset="-122"/>
                  <a:ea typeface="微软雅黑" panose="020B0503020204020204" pitchFamily="34" charset="-122"/>
                </a:rPr>
                <a:t>，汽车产业依然是我国国民经济的重要支柱性产业。</a:t>
              </a:r>
              <a:endParaRPr lang="zh-CN" altLang="en-US" sz="1600" i="0" dirty="0">
                <a:solidFill>
                  <a:srgbClr val="05073B"/>
                </a:solidFill>
                <a:effectLst/>
                <a:highlight>
                  <a:srgbClr val="FDFDFE"/>
                </a:highlight>
                <a:latin typeface="微软雅黑" panose="020B0503020204020204" pitchFamily="34" charset="-122"/>
                <a:ea typeface="微软雅黑" panose="020B0503020204020204" pitchFamily="34" charset="-122"/>
              </a:endParaRPr>
            </a:p>
          </p:txBody>
        </p:sp>
        <p:grpSp>
          <p:nvGrpSpPr>
            <p:cNvPr id="3" name="组合 2"/>
            <p:cNvGrpSpPr/>
            <p:nvPr/>
          </p:nvGrpSpPr>
          <p:grpSpPr>
            <a:xfrm>
              <a:off x="1375628" y="863535"/>
              <a:ext cx="9978172" cy="3465479"/>
              <a:chOff x="1561632" y="927127"/>
              <a:chExt cx="9978172" cy="3465479"/>
            </a:xfrm>
          </p:grpSpPr>
          <p:sp>
            <p:nvSpPr>
              <p:cNvPr id="5" name="New shape"/>
              <p:cNvSpPr/>
              <p:nvPr/>
            </p:nvSpPr>
            <p:spPr>
              <a:xfrm>
                <a:off x="1561632" y="1643797"/>
                <a:ext cx="3907877" cy="1121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130000"/>
                  </a:lnSpc>
                </a:pPr>
                <a:r>
                  <a:rPr lang="zh-CN" altLang="en-US" sz="2100" b="1" dirty="0">
                    <a:solidFill>
                      <a:schemeClr val="accent1"/>
                    </a:solidFill>
                    <a:latin typeface="微软雅黑" panose="020B0503020204020204" pitchFamily="34" charset="-122"/>
                    <a:ea typeface="微软雅黑" panose="020B0503020204020204" pitchFamily="34" charset="-122"/>
                  </a:rPr>
                  <a:t>问题与挑战</a:t>
                </a:r>
              </a:p>
              <a:p>
                <a:pPr lvl="1" algn="just">
                  <a:lnSpc>
                    <a:spcPct val="130000"/>
                  </a:lnSpc>
                </a:pP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道路交通事故发生的数量不断提高、城市交通拥堵加剧、环境污染扩散</a:t>
                </a:r>
              </a:p>
            </p:txBody>
          </p:sp>
          <p:sp>
            <p:nvSpPr>
              <p:cNvPr id="6" name="New shape"/>
              <p:cNvSpPr/>
              <p:nvPr/>
            </p:nvSpPr>
            <p:spPr>
              <a:xfrm>
                <a:off x="6389655" y="2630970"/>
                <a:ext cx="5150149" cy="176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130000"/>
                  </a:lnSpc>
                </a:pPr>
                <a:r>
                  <a:rPr lang="zh-CN" altLang="en-US" sz="2100" b="1" dirty="0">
                    <a:solidFill>
                      <a:schemeClr val="accent1"/>
                    </a:solidFill>
                    <a:latin typeface="微软雅黑" panose="020B0503020204020204" pitchFamily="34" charset="-122"/>
                    <a:ea typeface="微软雅黑" panose="020B0503020204020204" pitchFamily="34" charset="-122"/>
                  </a:rPr>
                  <a:t>新能源汽车的崛起</a:t>
                </a:r>
              </a:p>
              <a:p>
                <a:pPr algn="just">
                  <a:lnSpc>
                    <a:spcPct val="130000"/>
                  </a:lnSpc>
                </a:pP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新能源汽车成为国家重大发展战略、</a:t>
                </a:r>
                <a:r>
                  <a:rPr lang="en-US" altLang="zh-CN" sz="1600" b="0" i="0" dirty="0">
                    <a:solidFill>
                      <a:srgbClr val="05073B"/>
                    </a:solidFill>
                    <a:effectLst/>
                    <a:highlight>
                      <a:srgbClr val="FDFDFE"/>
                    </a:highlight>
                    <a:latin typeface="微软雅黑" panose="020B0503020204020204" pitchFamily="34" charset="-122"/>
                    <a:ea typeface="微软雅黑" panose="020B0503020204020204" pitchFamily="34" charset="-122"/>
                  </a:rPr>
                  <a:t>《</a:t>
                </a: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新能源汽车产业发展规划（</a:t>
                </a:r>
                <a:r>
                  <a:rPr lang="en-US" altLang="zh-CN" sz="1600" b="0" i="0" dirty="0">
                    <a:solidFill>
                      <a:srgbClr val="05073B"/>
                    </a:solidFill>
                    <a:effectLst/>
                    <a:highlight>
                      <a:srgbClr val="FDFDFE"/>
                    </a:highlight>
                    <a:latin typeface="微软雅黑" panose="020B0503020204020204" pitchFamily="34" charset="-122"/>
                    <a:ea typeface="微软雅黑" panose="020B0503020204020204" pitchFamily="34" charset="-122"/>
                  </a:rPr>
                  <a:t>2021-2035</a:t>
                </a: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年）</a:t>
                </a:r>
                <a:r>
                  <a:rPr lang="en-US" altLang="zh-CN" sz="1600" b="0" i="0" dirty="0">
                    <a:solidFill>
                      <a:srgbClr val="05073B"/>
                    </a:solidFill>
                    <a:effectLst/>
                    <a:highlight>
                      <a:srgbClr val="FDFDFE"/>
                    </a:highlight>
                    <a:latin typeface="微软雅黑" panose="020B0503020204020204" pitchFamily="34" charset="-122"/>
                    <a:ea typeface="微软雅黑" panose="020B0503020204020204" pitchFamily="34" charset="-122"/>
                  </a:rPr>
                  <a:t>》</a:t>
                </a: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推动核心技术突破、</a:t>
                </a:r>
                <a:r>
                  <a:rPr lang="en-US" altLang="zh-CN" sz="1600" dirty="0">
                    <a:solidFill>
                      <a:srgbClr val="05073B"/>
                    </a:solidFill>
                    <a:highlight>
                      <a:srgbClr val="FDFDFE"/>
                    </a:highlight>
                    <a:latin typeface="微软雅黑" panose="020B0503020204020204" pitchFamily="34" charset="-122"/>
                    <a:ea typeface="微软雅黑" panose="020B0503020204020204" pitchFamily="34" charset="-122"/>
                  </a:rPr>
                  <a:t>2023</a:t>
                </a:r>
                <a:r>
                  <a:rPr lang="zh-CN" altLang="en-US" sz="1600" dirty="0">
                    <a:solidFill>
                      <a:srgbClr val="05073B"/>
                    </a:solidFill>
                    <a:highlight>
                      <a:srgbClr val="FDFDFE"/>
                    </a:highlight>
                    <a:latin typeface="微软雅黑" panose="020B0503020204020204" pitchFamily="34" charset="-122"/>
                    <a:ea typeface="微软雅黑" panose="020B0503020204020204" pitchFamily="34" charset="-122"/>
                  </a:rPr>
                  <a:t>年</a:t>
                </a: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我国新能源汽车产销量占全球比重超过</a:t>
                </a:r>
                <a:r>
                  <a:rPr lang="en-US" altLang="zh-CN" sz="1600" b="0" i="0" dirty="0">
                    <a:solidFill>
                      <a:srgbClr val="05073B"/>
                    </a:solidFill>
                    <a:effectLst/>
                    <a:highlight>
                      <a:srgbClr val="FDFDFE"/>
                    </a:highlight>
                    <a:latin typeface="微软雅黑" panose="020B0503020204020204" pitchFamily="34" charset="-122"/>
                    <a:ea typeface="微软雅黑" panose="020B0503020204020204" pitchFamily="34" charset="-122"/>
                  </a:rPr>
                  <a:t>60%</a:t>
                </a: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、连续</a:t>
                </a:r>
                <a:r>
                  <a:rPr lang="en-US" altLang="zh-CN" sz="1600" b="0" i="0" dirty="0">
                    <a:solidFill>
                      <a:srgbClr val="05073B"/>
                    </a:solidFill>
                    <a:effectLst/>
                    <a:highlight>
                      <a:srgbClr val="FDFDFE"/>
                    </a:highlight>
                    <a:latin typeface="微软雅黑" panose="020B0503020204020204" pitchFamily="34" charset="-122"/>
                    <a:ea typeface="微软雅黑" panose="020B0503020204020204" pitchFamily="34" charset="-122"/>
                  </a:rPr>
                  <a:t>9</a:t>
                </a:r>
                <a:r>
                  <a:rPr lang="zh-CN" altLang="en-US" sz="1600" b="0" i="0" dirty="0">
                    <a:solidFill>
                      <a:srgbClr val="05073B"/>
                    </a:solidFill>
                    <a:effectLst/>
                    <a:highlight>
                      <a:srgbClr val="FDFDFE"/>
                    </a:highlight>
                    <a:latin typeface="微软雅黑" panose="020B0503020204020204" pitchFamily="34" charset="-122"/>
                    <a:ea typeface="微软雅黑" panose="020B0503020204020204" pitchFamily="34" charset="-122"/>
                  </a:rPr>
                  <a:t>年位居世界第一位；</a:t>
                </a:r>
                <a:endParaRPr lang="en-US" altLang="zh-CN" sz="1600" b="0" i="0" dirty="0">
                  <a:solidFill>
                    <a:srgbClr val="05073B"/>
                  </a:solidFill>
                  <a:effectLst/>
                  <a:highlight>
                    <a:srgbClr val="FDFDFE"/>
                  </a:highlight>
                  <a:latin typeface="微软雅黑" panose="020B0503020204020204" pitchFamily="34" charset="-122"/>
                  <a:ea typeface="微软雅黑" panose="020B0503020204020204" pitchFamily="34" charset="-122"/>
                </a:endParaRPr>
              </a:p>
            </p:txBody>
          </p:sp>
          <p:sp>
            <p:nvSpPr>
              <p:cNvPr id="7" name="New shape"/>
              <p:cNvSpPr/>
              <p:nvPr/>
            </p:nvSpPr>
            <p:spPr>
              <a:xfrm>
                <a:off x="5909782" y="1297927"/>
                <a:ext cx="39600" cy="464400"/>
              </a:xfrm>
              <a:prstGeom prst="rect">
                <a:avLst/>
              </a:prstGeom>
              <a:solidFill>
                <a:srgbClr val="558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ew shape"/>
              <p:cNvSpPr/>
              <p:nvPr/>
            </p:nvSpPr>
            <p:spPr>
              <a:xfrm>
                <a:off x="6096982" y="1107667"/>
                <a:ext cx="309600" cy="39600"/>
              </a:xfrm>
              <a:prstGeom prst="rect">
                <a:avLst/>
              </a:prstGeom>
              <a:solidFill>
                <a:srgbClr val="558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New shape"/>
              <p:cNvSpPr/>
              <p:nvPr/>
            </p:nvSpPr>
            <p:spPr>
              <a:xfrm>
                <a:off x="5751382" y="927127"/>
                <a:ext cx="360000" cy="370800"/>
              </a:xfrm>
              <a:prstGeom prst="roundRect">
                <a:avLst>
                  <a:gd name="adj" fmla="val 8819"/>
                </a:avLst>
              </a:prstGeom>
              <a:solidFill>
                <a:srgbClr val="202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1</a:t>
                </a:r>
              </a:p>
            </p:txBody>
          </p:sp>
          <p:sp>
            <p:nvSpPr>
              <p:cNvPr id="11" name="New shape"/>
              <p:cNvSpPr/>
              <p:nvPr/>
            </p:nvSpPr>
            <p:spPr>
              <a:xfrm>
                <a:off x="5909782" y="2133128"/>
                <a:ext cx="39600" cy="604606"/>
              </a:xfrm>
              <a:prstGeom prst="rect">
                <a:avLst/>
              </a:prstGeom>
              <a:solidFill>
                <a:srgbClr val="558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ew shape"/>
              <p:cNvSpPr/>
              <p:nvPr/>
            </p:nvSpPr>
            <p:spPr>
              <a:xfrm>
                <a:off x="5459782" y="1942868"/>
                <a:ext cx="309600" cy="39600"/>
              </a:xfrm>
              <a:prstGeom prst="rect">
                <a:avLst/>
              </a:prstGeom>
              <a:solidFill>
                <a:srgbClr val="558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New shape"/>
              <p:cNvSpPr/>
              <p:nvPr/>
            </p:nvSpPr>
            <p:spPr>
              <a:xfrm>
                <a:off x="5751382" y="1762328"/>
                <a:ext cx="360000" cy="370800"/>
              </a:xfrm>
              <a:prstGeom prst="roundRect">
                <a:avLst>
                  <a:gd name="adj" fmla="val 8819"/>
                </a:avLst>
              </a:prstGeom>
              <a:solidFill>
                <a:srgbClr val="202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p>
            </p:txBody>
          </p:sp>
          <p:sp>
            <p:nvSpPr>
              <p:cNvPr id="14" name="New shape"/>
              <p:cNvSpPr/>
              <p:nvPr/>
            </p:nvSpPr>
            <p:spPr>
              <a:xfrm>
                <a:off x="5909782" y="3108534"/>
                <a:ext cx="39600" cy="457200"/>
              </a:xfrm>
              <a:prstGeom prst="rect">
                <a:avLst/>
              </a:prstGeom>
              <a:solidFill>
                <a:srgbClr val="558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New shape"/>
              <p:cNvSpPr/>
              <p:nvPr/>
            </p:nvSpPr>
            <p:spPr>
              <a:xfrm>
                <a:off x="6096982" y="2918274"/>
                <a:ext cx="309600" cy="39600"/>
              </a:xfrm>
              <a:prstGeom prst="rect">
                <a:avLst/>
              </a:prstGeom>
              <a:solidFill>
                <a:srgbClr val="558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New shape"/>
              <p:cNvSpPr/>
              <p:nvPr/>
            </p:nvSpPr>
            <p:spPr>
              <a:xfrm>
                <a:off x="5751382" y="2737734"/>
                <a:ext cx="360000" cy="370800"/>
              </a:xfrm>
              <a:prstGeom prst="roundRect">
                <a:avLst>
                  <a:gd name="adj" fmla="val 8819"/>
                </a:avLst>
              </a:prstGeom>
              <a:solidFill>
                <a:srgbClr val="202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3</a:t>
                </a:r>
              </a:p>
            </p:txBody>
          </p:sp>
        </p:grpSp>
      </p:grpSp>
      <p:grpSp>
        <p:nvGrpSpPr>
          <p:cNvPr id="20" name="组合 19"/>
          <p:cNvGrpSpPr/>
          <p:nvPr/>
        </p:nvGrpSpPr>
        <p:grpSpPr>
          <a:xfrm>
            <a:off x="6111960" y="4108465"/>
            <a:ext cx="4215446" cy="2462397"/>
            <a:chOff x="6741850" y="4409398"/>
            <a:chExt cx="4215446" cy="2462397"/>
          </a:xfrm>
        </p:grpSpPr>
        <p:pic>
          <p:nvPicPr>
            <p:cNvPr id="21" name="图片 20"/>
            <p:cNvPicPr>
              <a:picLocks noChangeAspect="1"/>
            </p:cNvPicPr>
            <p:nvPr/>
          </p:nvPicPr>
          <p:blipFill>
            <a:blip r:embed="rId3"/>
            <a:stretch>
              <a:fillRect/>
            </a:stretch>
          </p:blipFill>
          <p:spPr>
            <a:xfrm>
              <a:off x="6741850" y="4409398"/>
              <a:ext cx="4215446" cy="2093065"/>
            </a:xfrm>
            <a:prstGeom prst="rect">
              <a:avLst/>
            </a:prstGeom>
          </p:spPr>
        </p:pic>
        <p:sp>
          <p:nvSpPr>
            <p:cNvPr id="22" name="文本框 21"/>
            <p:cNvSpPr txBox="1"/>
            <p:nvPr/>
          </p:nvSpPr>
          <p:spPr>
            <a:xfrm>
              <a:off x="6914568" y="6502463"/>
              <a:ext cx="3683791" cy="369332"/>
            </a:xfrm>
            <a:prstGeom prst="rect">
              <a:avLst/>
            </a:prstGeom>
            <a:noFill/>
          </p:spPr>
          <p:txBody>
            <a:bodyPr wrap="square">
              <a:spAutoFit/>
            </a:bodyPr>
            <a:lstStyle/>
            <a:p>
              <a:pPr algn="ctr"/>
              <a:r>
                <a:rPr lang="zh-CN" altLang="en-US" sz="1100" b="0" i="0" u="none" strike="noStrike" baseline="0" dirty="0">
                  <a:latin typeface="微软雅黑" panose="020B0503020204020204" pitchFamily="34" charset="-122"/>
                  <a:ea typeface="微软雅黑" panose="020B0503020204020204" pitchFamily="34" charset="-122"/>
                </a:rPr>
                <a:t>全球新能源汽车销量统计数据</a:t>
              </a:r>
              <a:endParaRPr lang="en-US" altLang="zh-CN" sz="1100" b="0" i="0" u="none" strike="noStrike" baseline="0" dirty="0">
                <a:latin typeface="微软雅黑" panose="020B0503020204020204" pitchFamily="34" charset="-122"/>
                <a:ea typeface="微软雅黑" panose="020B0503020204020204" pitchFamily="34" charset="-122"/>
              </a:endParaRPr>
            </a:p>
            <a:p>
              <a:pPr algn="ctr"/>
              <a:r>
                <a:rPr lang="zh-CN" altLang="en-US" sz="700" b="0" i="0" u="none" strike="noStrike" baseline="0" dirty="0">
                  <a:latin typeface="微软雅黑" panose="020B0503020204020204" pitchFamily="34" charset="-122"/>
                  <a:ea typeface="微软雅黑" panose="020B0503020204020204" pitchFamily="34" charset="-122"/>
                </a:rPr>
                <a:t>（数据来源：中国汽车工业协会）</a:t>
              </a:r>
              <a:endParaRPr lang="zh-CN" altLang="en-US" sz="700" dirty="0">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1645896" y="4108466"/>
            <a:ext cx="3683791" cy="2462396"/>
            <a:chOff x="1218514" y="3474716"/>
            <a:chExt cx="3683791" cy="2462396"/>
          </a:xfrm>
        </p:grpSpPr>
        <p:pic>
          <p:nvPicPr>
            <p:cNvPr id="24" name="图片 23"/>
            <p:cNvPicPr>
              <a:picLocks noChangeAspect="1"/>
            </p:cNvPicPr>
            <p:nvPr/>
          </p:nvPicPr>
          <p:blipFill>
            <a:blip r:embed="rId4"/>
            <a:stretch>
              <a:fillRect/>
            </a:stretch>
          </p:blipFill>
          <p:spPr>
            <a:xfrm>
              <a:off x="1218514" y="3474716"/>
              <a:ext cx="3683791" cy="2099126"/>
            </a:xfrm>
            <a:prstGeom prst="rect">
              <a:avLst/>
            </a:prstGeom>
          </p:spPr>
        </p:pic>
        <p:sp>
          <p:nvSpPr>
            <p:cNvPr id="25" name="文本框 24"/>
            <p:cNvSpPr txBox="1"/>
            <p:nvPr/>
          </p:nvSpPr>
          <p:spPr>
            <a:xfrm>
              <a:off x="1218514" y="5567780"/>
              <a:ext cx="3683791" cy="369332"/>
            </a:xfrm>
            <a:prstGeom prst="rect">
              <a:avLst/>
            </a:prstGeom>
            <a:noFill/>
          </p:spPr>
          <p:txBody>
            <a:bodyPr wrap="square">
              <a:spAutoFit/>
            </a:bodyPr>
            <a:lstStyle/>
            <a:p>
              <a:pPr algn="ctr"/>
              <a:r>
                <a:rPr lang="zh-CN" altLang="en-US" sz="1100" dirty="0">
                  <a:latin typeface="微软雅黑" panose="020B0503020204020204" pitchFamily="34" charset="-122"/>
                  <a:ea typeface="微软雅黑" panose="020B0503020204020204" pitchFamily="34" charset="-122"/>
                </a:rPr>
                <a:t>近几年中国汽车销量统计数据</a:t>
              </a:r>
              <a:endParaRPr lang="en-US" altLang="zh-CN" sz="1100" dirty="0">
                <a:latin typeface="微软雅黑" panose="020B0503020204020204" pitchFamily="34" charset="-122"/>
                <a:ea typeface="微软雅黑" panose="020B0503020204020204" pitchFamily="34" charset="-122"/>
              </a:endParaRPr>
            </a:p>
            <a:p>
              <a:pPr algn="ctr"/>
              <a:r>
                <a:rPr lang="zh-CN" altLang="en-US" sz="700" dirty="0">
                  <a:latin typeface="微软雅黑" panose="020B0503020204020204" pitchFamily="34" charset="-122"/>
                  <a:ea typeface="微软雅黑" panose="020B0503020204020204" pitchFamily="34" charset="-122"/>
                </a:rPr>
                <a:t>（数据来源：中国汽车工业协会）</a:t>
              </a:r>
            </a:p>
          </p:txBody>
        </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1E06C4-4C7C-7650-EC64-58481B30222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5</a:t>
            </a:fld>
            <a:endParaRPr lang="zh-HK" altLang="en-US">
              <a:solidFill>
                <a:prstClr val="black">
                  <a:tint val="75000"/>
                </a:prstClr>
              </a:solidFill>
            </a:endParaRPr>
          </a:p>
        </p:txBody>
      </p:sp>
      <p:sp>
        <p:nvSpPr>
          <p:cNvPr id="11" name="文本框 10">
            <a:extLst>
              <a:ext uri="{FF2B5EF4-FFF2-40B4-BE49-F238E27FC236}">
                <a16:creationId xmlns:a16="http://schemas.microsoft.com/office/drawing/2014/main" id="{E131B8A8-4B65-0AF6-C8E4-C687D511A267}"/>
              </a:ext>
            </a:extLst>
          </p:cNvPr>
          <p:cNvSpPr txBox="1"/>
          <p:nvPr/>
        </p:nvSpPr>
        <p:spPr>
          <a:xfrm>
            <a:off x="838200" y="926381"/>
            <a:ext cx="10477500" cy="3372846"/>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sz="1600" b="1" i="0" dirty="0">
                <a:solidFill>
                  <a:schemeClr val="accent1"/>
                </a:solidFill>
                <a:effectLst/>
                <a:latin typeface="微软雅黑" panose="020B0503020204020204" pitchFamily="34" charset="-122"/>
                <a:ea typeface="微软雅黑" panose="020B0503020204020204" pitchFamily="34" charset="-122"/>
              </a:rPr>
              <a:t>汽车底盘技术变革：</a:t>
            </a:r>
            <a:endParaRPr lang="en-US" altLang="zh-CN" sz="1600" b="1" i="0" dirty="0">
              <a:solidFill>
                <a:schemeClr val="accent1"/>
              </a:solidFill>
              <a:effectLst/>
              <a:latin typeface="微软雅黑" panose="020B0503020204020204" pitchFamily="34" charset="-122"/>
              <a:ea typeface="微软雅黑" panose="020B0503020204020204" pitchFamily="34" charset="-122"/>
            </a:endParaRPr>
          </a:p>
          <a:p>
            <a:pPr lvl="1">
              <a:lnSpc>
                <a:spcPct val="150000"/>
              </a:lnSpc>
            </a:pP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随着电动化的不断深化和智能化的快速发展，</a:t>
            </a:r>
            <a:r>
              <a:rPr lang="zh-CN" altLang="en-US" sz="1600" b="1" dirty="0">
                <a:latin typeface="微软雅黑" panose="020B0503020204020204" pitchFamily="34" charset="-122"/>
                <a:ea typeface="微软雅黑" panose="020B0503020204020204" pitchFamily="34" charset="-122"/>
                <a:sym typeface="字魂105号-简雅黑" panose="00000500000000000000" pitchFamily="2" charset="-122"/>
              </a:rPr>
              <a:t>汽车底盘正经历着从传统底盘到电动底盘，再到分布式线控底盘的重大技术变革。</a:t>
            </a: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对汽车底盘的要求也日益更新。</a:t>
            </a:r>
          </a:p>
          <a:p>
            <a:pPr marL="285750" indent="-285750">
              <a:lnSpc>
                <a:spcPct val="150000"/>
              </a:lnSpc>
              <a:buFont typeface="Wingdings" panose="05000000000000000000" pitchFamily="2" charset="2"/>
              <a:buChar char="l"/>
            </a:pPr>
            <a:r>
              <a:rPr lang="zh-CN" altLang="en-US" sz="1600" b="1" i="0" dirty="0">
                <a:solidFill>
                  <a:schemeClr val="accent1"/>
                </a:solidFill>
                <a:effectLst/>
                <a:latin typeface="微软雅黑" panose="020B0503020204020204" pitchFamily="34" charset="-122"/>
                <a:ea typeface="微软雅黑" panose="020B0503020204020204" pitchFamily="34" charset="-122"/>
              </a:rPr>
              <a:t>智能电动汽车现存问题：</a:t>
            </a:r>
            <a:endParaRPr lang="en-US" altLang="zh-CN" sz="1600" b="1" i="0" dirty="0">
              <a:solidFill>
                <a:schemeClr val="accent1"/>
              </a:solidFill>
              <a:effectLst/>
              <a:latin typeface="微软雅黑" panose="020B0503020204020204" pitchFamily="34" charset="-122"/>
              <a:ea typeface="微软雅黑" panose="020B0503020204020204" pitchFamily="34" charset="-122"/>
            </a:endParaRPr>
          </a:p>
          <a:p>
            <a:pPr lvl="1">
              <a:lnSpc>
                <a:spcPct val="150000"/>
              </a:lnSpc>
            </a:pP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目前阶段的智能电动汽车在高速行驶、紧急避撞等交通场景下，存在</a:t>
            </a:r>
            <a:r>
              <a:rPr lang="zh-CN" altLang="en-US" sz="1600" b="1" dirty="0">
                <a:latin typeface="微软雅黑" panose="020B0503020204020204" pitchFamily="34" charset="-122"/>
                <a:ea typeface="微软雅黑" panose="020B0503020204020204" pitchFamily="34" charset="-122"/>
                <a:sym typeface="字魂105号-简雅黑" panose="00000500000000000000" pitchFamily="2" charset="-122"/>
              </a:rPr>
              <a:t>安全性欠佳以及策略过于保守</a:t>
            </a: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等问题。</a:t>
            </a:r>
          </a:p>
          <a:p>
            <a:pPr marL="285750" indent="-285750">
              <a:lnSpc>
                <a:spcPct val="150000"/>
              </a:lnSpc>
              <a:buFont typeface="Wingdings" panose="05000000000000000000" pitchFamily="2" charset="2"/>
              <a:buChar char="l"/>
            </a:pPr>
            <a:r>
              <a:rPr lang="zh-CN" altLang="en-US" sz="1600" b="1" dirty="0">
                <a:solidFill>
                  <a:schemeClr val="accent1"/>
                </a:solidFill>
                <a:effectLst/>
                <a:latin typeface="微软雅黑" panose="020B0503020204020204" pitchFamily="34" charset="-122"/>
                <a:ea typeface="微软雅黑" panose="020B0503020204020204" pitchFamily="34" charset="-122"/>
              </a:rPr>
              <a:t>分布式底盘电动汽车运动规划的优势与挑战：</a:t>
            </a:r>
            <a:endParaRPr lang="en-US" altLang="zh-CN" sz="1600" b="1" dirty="0">
              <a:solidFill>
                <a:schemeClr val="accent1"/>
              </a:solidFill>
              <a:effectLst/>
              <a:latin typeface="微软雅黑" panose="020B0503020204020204" pitchFamily="34" charset="-122"/>
              <a:ea typeface="微软雅黑" panose="020B0503020204020204" pitchFamily="34" charset="-122"/>
            </a:endParaRPr>
          </a:p>
          <a:p>
            <a:pPr lvl="1">
              <a:lnSpc>
                <a:spcPct val="150000"/>
              </a:lnSpc>
            </a:pP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其凭借自身更为出色的动力学特性，</a:t>
            </a:r>
            <a:r>
              <a:rPr lang="zh-CN" altLang="en-US" sz="1600" b="1" dirty="0">
                <a:latin typeface="微软雅黑" panose="020B0503020204020204" pitchFamily="34" charset="-122"/>
                <a:ea typeface="微软雅黑" panose="020B0503020204020204" pitchFamily="34" charset="-122"/>
                <a:sym typeface="字魂105号-简雅黑" panose="00000500000000000000" pitchFamily="2" charset="-122"/>
              </a:rPr>
              <a:t>扩大了其稳定性边界，能够打破结构上固有的运动学约束</a:t>
            </a: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。正因如此，它被广泛公认为</a:t>
            </a:r>
            <a:r>
              <a:rPr lang="zh-CN" altLang="en-US" sz="1600" b="1" dirty="0">
                <a:latin typeface="微软雅黑" panose="020B0503020204020204" pitchFamily="34" charset="-122"/>
                <a:ea typeface="微软雅黑" panose="020B0503020204020204" pitchFamily="34" charset="-122"/>
                <a:sym typeface="字魂105号-简雅黑" panose="00000500000000000000" pitchFamily="2" charset="-122"/>
              </a:rPr>
              <a:t>智能电动汽车的专用底盘以及智能驾驶的最佳载体。</a:t>
            </a:r>
            <a:r>
              <a:rPr lang="zh-CN" altLang="en-US" sz="1600" dirty="0">
                <a:latin typeface="微软雅黑" panose="020B0503020204020204" pitchFamily="34" charset="-122"/>
                <a:ea typeface="微软雅黑" panose="020B0503020204020204" pitchFamily="34" charset="-122"/>
                <a:sym typeface="字魂105号-简雅黑" panose="00000500000000000000" pitchFamily="2" charset="-122"/>
              </a:rPr>
              <a:t>但是，其控制维度的增加也给智能驾驶架构的设计带来了全新的挑战。</a:t>
            </a:r>
          </a:p>
        </p:txBody>
      </p:sp>
      <p:pic>
        <p:nvPicPr>
          <p:cNvPr id="14" name="图片 13">
            <a:extLst>
              <a:ext uri="{FF2B5EF4-FFF2-40B4-BE49-F238E27FC236}">
                <a16:creationId xmlns:a16="http://schemas.microsoft.com/office/drawing/2014/main" id="{03FEC39E-C6D7-B8BF-8221-FF020790C994}"/>
              </a:ext>
            </a:extLst>
          </p:cNvPr>
          <p:cNvPicPr>
            <a:picLocks noChangeAspect="1"/>
          </p:cNvPicPr>
          <p:nvPr/>
        </p:nvPicPr>
        <p:blipFill>
          <a:blip r:embed="rId3"/>
          <a:stretch>
            <a:fillRect/>
          </a:stretch>
        </p:blipFill>
        <p:spPr>
          <a:xfrm>
            <a:off x="8520112" y="4131506"/>
            <a:ext cx="2162175" cy="1291072"/>
          </a:xfrm>
          <a:prstGeom prst="rect">
            <a:avLst/>
          </a:prstGeom>
        </p:spPr>
      </p:pic>
      <p:pic>
        <p:nvPicPr>
          <p:cNvPr id="15" name="图片 14">
            <a:extLst>
              <a:ext uri="{FF2B5EF4-FFF2-40B4-BE49-F238E27FC236}">
                <a16:creationId xmlns:a16="http://schemas.microsoft.com/office/drawing/2014/main" id="{92F03F90-B839-3A8B-62AB-B8E572B0E630}"/>
              </a:ext>
            </a:extLst>
          </p:cNvPr>
          <p:cNvPicPr>
            <a:picLocks noChangeAspect="1"/>
          </p:cNvPicPr>
          <p:nvPr/>
        </p:nvPicPr>
        <p:blipFill>
          <a:blip r:embed="rId4"/>
          <a:stretch>
            <a:fillRect/>
          </a:stretch>
        </p:blipFill>
        <p:spPr>
          <a:xfrm>
            <a:off x="8520112" y="5422578"/>
            <a:ext cx="2162175" cy="1255848"/>
          </a:xfrm>
          <a:prstGeom prst="rect">
            <a:avLst/>
          </a:prstGeom>
        </p:spPr>
      </p:pic>
      <p:pic>
        <p:nvPicPr>
          <p:cNvPr id="16" name="图片 15">
            <a:extLst>
              <a:ext uri="{FF2B5EF4-FFF2-40B4-BE49-F238E27FC236}">
                <a16:creationId xmlns:a16="http://schemas.microsoft.com/office/drawing/2014/main" id="{A01F81C1-43C1-E6FF-14DC-947E4E254B20}"/>
              </a:ext>
            </a:extLst>
          </p:cNvPr>
          <p:cNvPicPr>
            <a:picLocks noChangeAspect="1"/>
          </p:cNvPicPr>
          <p:nvPr/>
        </p:nvPicPr>
        <p:blipFill>
          <a:blip r:embed="rId5"/>
          <a:stretch>
            <a:fillRect/>
          </a:stretch>
        </p:blipFill>
        <p:spPr>
          <a:xfrm>
            <a:off x="1438275" y="4364543"/>
            <a:ext cx="6867525" cy="2174369"/>
          </a:xfrm>
          <a:prstGeom prst="rect">
            <a:avLst/>
          </a:prstGeom>
        </p:spPr>
      </p:pic>
    </p:spTree>
    <p:extLst>
      <p:ext uri="{BB962C8B-B14F-4D97-AF65-F5344CB8AC3E}">
        <p14:creationId xmlns:p14="http://schemas.microsoft.com/office/powerpoint/2010/main" val="269756816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AE5048B-8150-71AF-8EA5-86E7878F85D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a:t>
            </a:fld>
            <a:endParaRPr lang="zh-HK" altLang="en-US">
              <a:solidFill>
                <a:prstClr val="black">
                  <a:tint val="75000"/>
                </a:prstClr>
              </a:solidFill>
            </a:endParaRPr>
          </a:p>
        </p:txBody>
      </p:sp>
      <p:sp>
        <p:nvSpPr>
          <p:cNvPr id="6" name="文本框 5">
            <a:extLst>
              <a:ext uri="{FF2B5EF4-FFF2-40B4-BE49-F238E27FC236}">
                <a16:creationId xmlns:a16="http://schemas.microsoft.com/office/drawing/2014/main" id="{FF6C830A-93EA-40C4-54E9-51624447C1D7}"/>
              </a:ext>
            </a:extLst>
          </p:cNvPr>
          <p:cNvSpPr txBox="1"/>
          <p:nvPr/>
        </p:nvSpPr>
        <p:spPr>
          <a:xfrm>
            <a:off x="2795588" y="1319177"/>
            <a:ext cx="8558212" cy="4850174"/>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长期以来，汽车智能化研究多以前轮主动转向汽车为主，</a:t>
            </a:r>
            <a:r>
              <a:rPr lang="zh-CN" altLang="en-US" sz="1600" b="1" dirty="0">
                <a:latin typeface="微软雅黑" panose="020B0503020204020204" pitchFamily="34" charset="-122"/>
                <a:ea typeface="微软雅黑" panose="020B0503020204020204" pitchFamily="34" charset="-122"/>
              </a:rPr>
              <a:t>而分布式线控底盘车辆因其具有超高可靠性和执行能力，为车辆智能化的实现提供了更便利的载体。</a:t>
            </a:r>
            <a:r>
              <a:rPr lang="zh-CN" altLang="en-US" sz="1600" dirty="0">
                <a:latin typeface="微软雅黑" panose="020B0503020204020204" pitchFamily="34" charset="-122"/>
                <a:ea typeface="微软雅黑" panose="020B0503020204020204" pitchFamily="34" charset="-122"/>
              </a:rPr>
              <a:t>将全线控电动车辆与车辆智能化结合起来研究具有重要意义。</a:t>
            </a:r>
          </a:p>
          <a:p>
            <a:pPr marL="285750" indent="-285750">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分布式驱动电动汽车凭借更优秀的动力学特性，扩大了稳定性边界，打破结构上固有的运动学约束，但其</a:t>
            </a:r>
            <a:r>
              <a:rPr lang="zh-CN" altLang="en-US" sz="1600" b="1" dirty="0">
                <a:latin typeface="微软雅黑" panose="020B0503020204020204" pitchFamily="34" charset="-122"/>
                <a:ea typeface="微软雅黑" panose="020B0503020204020204" pitchFamily="34" charset="-122"/>
              </a:rPr>
              <a:t>控制维度的增高也给智能驾驶架构的设计带来新挑战</a:t>
            </a:r>
            <a:r>
              <a:rPr lang="zh-CN" altLang="en-US" sz="1600" dirty="0">
                <a:latin typeface="微软雅黑" panose="020B0503020204020204" pitchFamily="34" charset="-122"/>
                <a:ea typeface="微软雅黑" panose="020B0503020204020204" pitchFamily="34" charset="-122"/>
              </a:rPr>
              <a:t>。车辆行驶稳定性和运动可靠性是分布式驱动电动汽车智能化水平评价的重要准则。揭示非线性稳定域机理，并</a:t>
            </a:r>
            <a:r>
              <a:rPr lang="zh-CN" altLang="en-US" sz="1600" b="1" dirty="0">
                <a:latin typeface="微软雅黑" panose="020B0503020204020204" pitchFamily="34" charset="-122"/>
                <a:ea typeface="微软雅黑" panose="020B0503020204020204" pitchFamily="34" charset="-122"/>
              </a:rPr>
              <a:t>将新动力学特性充分融合于智能驾驶架构设计成为研究难点</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在汽车智能化发展满足多元驾驶场景需求的背景下，智能驾驶系统的研究需要克服现阶段智能驾驶功能实现无法</a:t>
            </a:r>
            <a:r>
              <a:rPr lang="zh-CN" altLang="en-US" sz="1600" b="1" dirty="0">
                <a:latin typeface="微软雅黑" panose="020B0503020204020204" pitchFamily="34" charset="-122"/>
                <a:ea typeface="微软雅黑" panose="020B0503020204020204" pitchFamily="34" charset="-122"/>
              </a:rPr>
              <a:t>充分挖掘分布式线控底盘电动车辆动力学特性及系统执行过程中多目标协同优化</a:t>
            </a:r>
            <a:r>
              <a:rPr lang="zh-CN" altLang="en-US" sz="1600" dirty="0">
                <a:latin typeface="微软雅黑" panose="020B0503020204020204" pitchFamily="34" charset="-122"/>
                <a:ea typeface="微软雅黑" panose="020B0503020204020204" pitchFamily="34" charset="-122"/>
              </a:rPr>
              <a:t>难度大等问题。</a:t>
            </a:r>
          </a:p>
          <a:p>
            <a:pPr marL="285750" indent="-285750">
              <a:lnSpc>
                <a:spcPct val="15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充分利用分布式驱动电动汽车的稳定域对</a:t>
            </a:r>
            <a:r>
              <a:rPr lang="zh-CN" altLang="en-US" sz="1600" b="1" dirty="0">
                <a:latin typeface="微软雅黑" panose="020B0503020204020204" pitchFamily="34" charset="-122"/>
                <a:ea typeface="微软雅黑" panose="020B0503020204020204" pitchFamily="34" charset="-122"/>
              </a:rPr>
              <a:t>智能驾驶层进行顶层设计</a:t>
            </a:r>
            <a:r>
              <a:rPr lang="zh-CN" altLang="en-US" sz="1600" dirty="0">
                <a:latin typeface="微软雅黑" panose="020B0503020204020204" pitchFamily="34" charset="-122"/>
                <a:ea typeface="微软雅黑" panose="020B0503020204020204" pitchFamily="34" charset="-122"/>
              </a:rPr>
              <a:t>至关重要，最大程度上挖掘瞬时动力学特性，可保证智能电动车辆在高速、紧急避撞等交通场景下的行驶安全性，这是亟需探究和解决的关键研究问题。</a:t>
            </a:r>
          </a:p>
        </p:txBody>
      </p:sp>
      <p:grpSp>
        <p:nvGrpSpPr>
          <p:cNvPr id="7" name="组合 6">
            <a:extLst>
              <a:ext uri="{FF2B5EF4-FFF2-40B4-BE49-F238E27FC236}">
                <a16:creationId xmlns:a16="http://schemas.microsoft.com/office/drawing/2014/main" id="{4719C476-D353-C8CD-3185-2FC9D9C8A0D5}"/>
              </a:ext>
            </a:extLst>
          </p:cNvPr>
          <p:cNvGrpSpPr/>
          <p:nvPr/>
        </p:nvGrpSpPr>
        <p:grpSpPr>
          <a:xfrm>
            <a:off x="1270546" y="1269420"/>
            <a:ext cx="1283076" cy="4860235"/>
            <a:chOff x="1763642" y="1731147"/>
            <a:chExt cx="1283076" cy="4860235"/>
          </a:xfrm>
        </p:grpSpPr>
        <p:sp>
          <p:nvSpPr>
            <p:cNvPr id="8" name="学论网-www.xuelun.me">
              <a:extLst>
                <a:ext uri="{FF2B5EF4-FFF2-40B4-BE49-F238E27FC236}">
                  <a16:creationId xmlns:a16="http://schemas.microsoft.com/office/drawing/2014/main" id="{798EE09A-67E7-DFF0-7D6C-104B585961AE}"/>
                </a:ext>
              </a:extLst>
            </p:cNvPr>
            <p:cNvSpPr/>
            <p:nvPr/>
          </p:nvSpPr>
          <p:spPr>
            <a:xfrm rot="5400000">
              <a:off x="1763642" y="1731147"/>
              <a:ext cx="1283075" cy="1283075"/>
            </a:xfrm>
            <a:prstGeom prst="blockArc">
              <a:avLst>
                <a:gd name="adj1" fmla="val 10800000"/>
                <a:gd name="adj2" fmla="val 149699"/>
                <a:gd name="adj3" fmla="val 6982"/>
              </a:avLst>
            </a:prstGeom>
            <a:solidFill>
              <a:srgbClr val="28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学论网-www.xuelun.me">
              <a:extLst>
                <a:ext uri="{FF2B5EF4-FFF2-40B4-BE49-F238E27FC236}">
                  <a16:creationId xmlns:a16="http://schemas.microsoft.com/office/drawing/2014/main" id="{72A8790B-E346-9BCA-F3AF-CFB4D005D7DE}"/>
                </a:ext>
              </a:extLst>
            </p:cNvPr>
            <p:cNvSpPr/>
            <p:nvPr/>
          </p:nvSpPr>
          <p:spPr>
            <a:xfrm rot="16200000" flipH="1">
              <a:off x="1763643" y="2922916"/>
              <a:ext cx="1283075" cy="1283075"/>
            </a:xfrm>
            <a:prstGeom prst="blockArc">
              <a:avLst>
                <a:gd name="adj1" fmla="val 10800000"/>
                <a:gd name="adj2" fmla="val 149699"/>
                <a:gd name="adj3" fmla="val 6982"/>
              </a:avLst>
            </a:prstGeom>
            <a:solidFill>
              <a:srgbClr val="28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学论网-www.xuelun.me">
              <a:extLst>
                <a:ext uri="{FF2B5EF4-FFF2-40B4-BE49-F238E27FC236}">
                  <a16:creationId xmlns:a16="http://schemas.microsoft.com/office/drawing/2014/main" id="{1226AF06-21F8-AAAA-E5B3-0829241F410C}"/>
                </a:ext>
              </a:extLst>
            </p:cNvPr>
            <p:cNvSpPr/>
            <p:nvPr/>
          </p:nvSpPr>
          <p:spPr>
            <a:xfrm rot="5400000">
              <a:off x="1763643" y="4116538"/>
              <a:ext cx="1283075" cy="1283075"/>
            </a:xfrm>
            <a:prstGeom prst="blockArc">
              <a:avLst>
                <a:gd name="adj1" fmla="val 10800000"/>
                <a:gd name="adj2" fmla="val 149699"/>
                <a:gd name="adj3" fmla="val 6982"/>
              </a:avLst>
            </a:prstGeom>
            <a:solidFill>
              <a:srgbClr val="28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学论网-www.xuelun.me">
              <a:extLst>
                <a:ext uri="{FF2B5EF4-FFF2-40B4-BE49-F238E27FC236}">
                  <a16:creationId xmlns:a16="http://schemas.microsoft.com/office/drawing/2014/main" id="{002DFB3B-B5A4-FBB9-6D6D-529C8A4087BA}"/>
                </a:ext>
              </a:extLst>
            </p:cNvPr>
            <p:cNvSpPr/>
            <p:nvPr/>
          </p:nvSpPr>
          <p:spPr>
            <a:xfrm rot="16200000" flipH="1">
              <a:off x="1763643" y="5308307"/>
              <a:ext cx="1283075" cy="1283075"/>
            </a:xfrm>
            <a:prstGeom prst="blockArc">
              <a:avLst>
                <a:gd name="adj1" fmla="val 10800000"/>
                <a:gd name="adj2" fmla="val 149699"/>
                <a:gd name="adj3" fmla="val 6982"/>
              </a:avLst>
            </a:prstGeom>
            <a:solidFill>
              <a:srgbClr val="28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9" name="组合 18">
            <a:extLst>
              <a:ext uri="{FF2B5EF4-FFF2-40B4-BE49-F238E27FC236}">
                <a16:creationId xmlns:a16="http://schemas.microsoft.com/office/drawing/2014/main" id="{5BF2F66C-08E8-4957-84A9-6A9FD4F8EB70}"/>
              </a:ext>
            </a:extLst>
          </p:cNvPr>
          <p:cNvGrpSpPr/>
          <p:nvPr/>
        </p:nvGrpSpPr>
        <p:grpSpPr>
          <a:xfrm>
            <a:off x="1774357" y="2666874"/>
            <a:ext cx="900248" cy="782251"/>
            <a:chOff x="1203250" y="1518905"/>
            <a:chExt cx="900248" cy="782251"/>
          </a:xfrm>
          <a:solidFill>
            <a:srgbClr val="0A2B7C"/>
          </a:solidFill>
        </p:grpSpPr>
        <p:sp>
          <p:nvSpPr>
            <p:cNvPr id="5" name="等腰三角形 2">
              <a:extLst>
                <a:ext uri="{FF2B5EF4-FFF2-40B4-BE49-F238E27FC236}">
                  <a16:creationId xmlns:a16="http://schemas.microsoft.com/office/drawing/2014/main" id="{D5DA0984-66C9-BD0B-B937-E8C01FD2CE73}"/>
                </a:ext>
              </a:extLst>
            </p:cNvPr>
            <p:cNvSpPr/>
            <p:nvPr/>
          </p:nvSpPr>
          <p:spPr bwMode="auto">
            <a:xfrm>
              <a:off x="1203250" y="1518905"/>
              <a:ext cx="900248" cy="782251"/>
            </a:xfrm>
            <a:prstGeom prst="roundRect">
              <a:avLst/>
            </a:prstGeom>
            <a:grpFill/>
            <a:ln>
              <a:noFill/>
            </a:ln>
          </p:spPr>
          <p:txBody>
            <a:bodyPr wrap="none"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cs typeface="+mn-ea"/>
                <a:sym typeface="+mn-lt"/>
              </a:endParaRPr>
            </a:p>
          </p:txBody>
        </p:sp>
        <p:sp>
          <p:nvSpPr>
            <p:cNvPr id="16" name="TextBox 23">
              <a:extLst>
                <a:ext uri="{FF2B5EF4-FFF2-40B4-BE49-F238E27FC236}">
                  <a16:creationId xmlns:a16="http://schemas.microsoft.com/office/drawing/2014/main" id="{66DCA36F-7300-AEAF-FAF0-070DA31AA5F9}"/>
                </a:ext>
              </a:extLst>
            </p:cNvPr>
            <p:cNvSpPr txBox="1"/>
            <p:nvPr/>
          </p:nvSpPr>
          <p:spPr>
            <a:xfrm>
              <a:off x="1370935" y="1755466"/>
              <a:ext cx="584126" cy="309128"/>
            </a:xfrm>
            <a:prstGeom prst="rect">
              <a:avLst/>
            </a:prstGeom>
            <a:grpFill/>
            <a:ln>
              <a:noFill/>
            </a:ln>
          </p:spPr>
          <p:txBody>
            <a:bodyPr wrap="none" lIns="68580" tIns="34290" rIns="68580" bIns="34290"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srgbClr val="FFFFFF"/>
                  </a:solidFill>
                  <a:effectLst/>
                  <a:uLnTx/>
                  <a:uFillTx/>
                  <a:latin typeface="+mn-lt"/>
                  <a:ea typeface="+mn-ea"/>
                  <a:cs typeface="+mn-ea"/>
                  <a:sym typeface="+mn-lt"/>
                </a:rPr>
                <a:t>2</a:t>
              </a:r>
              <a:endParaRPr kumimoji="0" lang="zh-CN" altLang="en-US" sz="4000" b="1" i="0" u="none" strike="noStrike" kern="0" cap="none" spc="0" normalizeH="0" baseline="0" noProof="0" dirty="0">
                <a:ln>
                  <a:noFill/>
                </a:ln>
                <a:solidFill>
                  <a:srgbClr val="FFFFFF"/>
                </a:solidFill>
                <a:effectLst/>
                <a:uLnTx/>
                <a:uFillTx/>
                <a:latin typeface="+mn-lt"/>
                <a:ea typeface="+mn-ea"/>
                <a:cs typeface="+mn-ea"/>
                <a:sym typeface="+mn-lt"/>
              </a:endParaRPr>
            </a:p>
          </p:txBody>
        </p:sp>
      </p:grpSp>
      <p:grpSp>
        <p:nvGrpSpPr>
          <p:cNvPr id="24" name="组合 23">
            <a:extLst>
              <a:ext uri="{FF2B5EF4-FFF2-40B4-BE49-F238E27FC236}">
                <a16:creationId xmlns:a16="http://schemas.microsoft.com/office/drawing/2014/main" id="{3856DE5F-CCDD-D6EA-4898-F46D31D721DC}"/>
              </a:ext>
            </a:extLst>
          </p:cNvPr>
          <p:cNvGrpSpPr/>
          <p:nvPr/>
        </p:nvGrpSpPr>
        <p:grpSpPr>
          <a:xfrm>
            <a:off x="937753" y="1540611"/>
            <a:ext cx="900248" cy="782251"/>
            <a:chOff x="1203250" y="1518905"/>
            <a:chExt cx="900248" cy="782251"/>
          </a:xfrm>
        </p:grpSpPr>
        <p:sp>
          <p:nvSpPr>
            <p:cNvPr id="25" name="等腰三角形 2">
              <a:extLst>
                <a:ext uri="{FF2B5EF4-FFF2-40B4-BE49-F238E27FC236}">
                  <a16:creationId xmlns:a16="http://schemas.microsoft.com/office/drawing/2014/main" id="{7F3DE8E1-BC25-1CF0-8584-0E122DDEF120}"/>
                </a:ext>
              </a:extLst>
            </p:cNvPr>
            <p:cNvSpPr/>
            <p:nvPr/>
          </p:nvSpPr>
          <p:spPr bwMode="auto">
            <a:xfrm>
              <a:off x="1203250" y="1518905"/>
              <a:ext cx="900248" cy="782251"/>
            </a:xfrm>
            <a:prstGeom prst="roundRect">
              <a:avLst/>
            </a:prstGeom>
            <a:solidFill>
              <a:srgbClr val="0A2B7C"/>
            </a:solidFill>
            <a:ln>
              <a:noFill/>
            </a:ln>
          </p:spPr>
          <p:txBody>
            <a:bodyPr wrap="none"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cs typeface="+mn-ea"/>
                <a:sym typeface="+mn-lt"/>
              </a:endParaRPr>
            </a:p>
          </p:txBody>
        </p:sp>
        <p:sp>
          <p:nvSpPr>
            <p:cNvPr id="26" name="TextBox 23">
              <a:extLst>
                <a:ext uri="{FF2B5EF4-FFF2-40B4-BE49-F238E27FC236}">
                  <a16:creationId xmlns:a16="http://schemas.microsoft.com/office/drawing/2014/main" id="{B8DDCC1B-08D8-3AFD-86BA-5772A4DCD18F}"/>
                </a:ext>
              </a:extLst>
            </p:cNvPr>
            <p:cNvSpPr txBox="1"/>
            <p:nvPr/>
          </p:nvSpPr>
          <p:spPr>
            <a:xfrm>
              <a:off x="1370935" y="1755466"/>
              <a:ext cx="584126" cy="309128"/>
            </a:xfrm>
            <a:prstGeom prst="rect">
              <a:avLst/>
            </a:prstGeom>
            <a:noFill/>
            <a:ln>
              <a:noFill/>
            </a:ln>
          </p:spPr>
          <p:txBody>
            <a:bodyPr wrap="none" lIns="68580" tIns="34290" rIns="68580" bIns="34290"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srgbClr val="FFFFFF"/>
                  </a:solidFill>
                  <a:effectLst/>
                  <a:uLnTx/>
                  <a:uFillTx/>
                  <a:latin typeface="+mn-lt"/>
                  <a:ea typeface="+mn-ea"/>
                  <a:cs typeface="+mn-ea"/>
                  <a:sym typeface="+mn-lt"/>
                </a:rPr>
                <a:t>1</a:t>
              </a:r>
              <a:endParaRPr kumimoji="0" lang="zh-CN" altLang="en-US" sz="4000" b="1" i="0" u="none" strike="noStrike" kern="0" cap="none" spc="0" normalizeH="0" baseline="0" noProof="0" dirty="0">
                <a:ln>
                  <a:noFill/>
                </a:ln>
                <a:solidFill>
                  <a:srgbClr val="FFFFFF"/>
                </a:solidFill>
                <a:effectLst/>
                <a:uLnTx/>
                <a:uFillTx/>
                <a:latin typeface="+mn-lt"/>
                <a:ea typeface="+mn-ea"/>
                <a:cs typeface="+mn-ea"/>
                <a:sym typeface="+mn-lt"/>
              </a:endParaRPr>
            </a:p>
          </p:txBody>
        </p:sp>
      </p:grpSp>
      <p:grpSp>
        <p:nvGrpSpPr>
          <p:cNvPr id="27" name="组合 26">
            <a:extLst>
              <a:ext uri="{FF2B5EF4-FFF2-40B4-BE49-F238E27FC236}">
                <a16:creationId xmlns:a16="http://schemas.microsoft.com/office/drawing/2014/main" id="{6AD01BF1-D5F8-D03D-D145-6B6F58F7C492}"/>
              </a:ext>
            </a:extLst>
          </p:cNvPr>
          <p:cNvGrpSpPr/>
          <p:nvPr/>
        </p:nvGrpSpPr>
        <p:grpSpPr>
          <a:xfrm>
            <a:off x="928129" y="3897768"/>
            <a:ext cx="900248" cy="782251"/>
            <a:chOff x="1203250" y="1518905"/>
            <a:chExt cx="900248" cy="782251"/>
          </a:xfrm>
          <a:solidFill>
            <a:srgbClr val="0A2B7C"/>
          </a:solidFill>
        </p:grpSpPr>
        <p:sp>
          <p:nvSpPr>
            <p:cNvPr id="28" name="等腰三角形 2">
              <a:extLst>
                <a:ext uri="{FF2B5EF4-FFF2-40B4-BE49-F238E27FC236}">
                  <a16:creationId xmlns:a16="http://schemas.microsoft.com/office/drawing/2014/main" id="{8C088672-DB1D-4415-EE4B-7E9EBB25975E}"/>
                </a:ext>
              </a:extLst>
            </p:cNvPr>
            <p:cNvSpPr/>
            <p:nvPr/>
          </p:nvSpPr>
          <p:spPr bwMode="auto">
            <a:xfrm>
              <a:off x="1203250" y="1518905"/>
              <a:ext cx="900248" cy="782251"/>
            </a:xfrm>
            <a:prstGeom prst="roundRect">
              <a:avLst/>
            </a:prstGeom>
            <a:grpFill/>
            <a:ln>
              <a:noFill/>
            </a:ln>
          </p:spPr>
          <p:txBody>
            <a:bodyPr wrap="none"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cs typeface="+mn-ea"/>
                <a:sym typeface="+mn-lt"/>
              </a:endParaRPr>
            </a:p>
          </p:txBody>
        </p:sp>
        <p:sp>
          <p:nvSpPr>
            <p:cNvPr id="29" name="TextBox 23">
              <a:extLst>
                <a:ext uri="{FF2B5EF4-FFF2-40B4-BE49-F238E27FC236}">
                  <a16:creationId xmlns:a16="http://schemas.microsoft.com/office/drawing/2014/main" id="{C7C28B10-3ACD-6224-5B19-EF5808AB7ADD}"/>
                </a:ext>
              </a:extLst>
            </p:cNvPr>
            <p:cNvSpPr txBox="1"/>
            <p:nvPr/>
          </p:nvSpPr>
          <p:spPr>
            <a:xfrm>
              <a:off x="1370935" y="1755466"/>
              <a:ext cx="584126" cy="309128"/>
            </a:xfrm>
            <a:prstGeom prst="rect">
              <a:avLst/>
            </a:prstGeom>
            <a:grpFill/>
            <a:ln>
              <a:noFill/>
            </a:ln>
          </p:spPr>
          <p:txBody>
            <a:bodyPr wrap="none" lIns="68580" tIns="34290" rIns="68580" bIns="34290"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000" b="1" dirty="0">
                  <a:latin typeface="+mn-lt"/>
                  <a:ea typeface="+mn-ea"/>
                  <a:cs typeface="+mn-ea"/>
                  <a:sym typeface="+mn-lt"/>
                </a:rPr>
                <a:t>3</a:t>
              </a:r>
              <a:endParaRPr kumimoji="0" lang="zh-CN" altLang="en-US" sz="4000" b="1" i="0" u="none" strike="noStrike" kern="0" cap="none" spc="0" normalizeH="0" baseline="0" noProof="0" dirty="0">
                <a:ln>
                  <a:noFill/>
                </a:ln>
                <a:solidFill>
                  <a:srgbClr val="FFFFFF"/>
                </a:solidFill>
                <a:effectLst/>
                <a:uLnTx/>
                <a:uFillTx/>
                <a:latin typeface="+mn-lt"/>
                <a:ea typeface="+mn-ea"/>
                <a:cs typeface="+mn-ea"/>
                <a:sym typeface="+mn-lt"/>
              </a:endParaRPr>
            </a:p>
          </p:txBody>
        </p:sp>
      </p:grpSp>
      <p:grpSp>
        <p:nvGrpSpPr>
          <p:cNvPr id="30" name="组合 29">
            <a:extLst>
              <a:ext uri="{FF2B5EF4-FFF2-40B4-BE49-F238E27FC236}">
                <a16:creationId xmlns:a16="http://schemas.microsoft.com/office/drawing/2014/main" id="{AD08D67B-3C79-46B0-B661-D01E2185A077}"/>
              </a:ext>
            </a:extLst>
          </p:cNvPr>
          <p:cNvGrpSpPr/>
          <p:nvPr/>
        </p:nvGrpSpPr>
        <p:grpSpPr>
          <a:xfrm>
            <a:off x="1783981" y="5110353"/>
            <a:ext cx="900248" cy="782251"/>
            <a:chOff x="1244555" y="1518904"/>
            <a:chExt cx="900248" cy="782251"/>
          </a:xfrm>
          <a:solidFill>
            <a:srgbClr val="0A2B7C"/>
          </a:solidFill>
        </p:grpSpPr>
        <p:sp>
          <p:nvSpPr>
            <p:cNvPr id="31" name="等腰三角形 2">
              <a:extLst>
                <a:ext uri="{FF2B5EF4-FFF2-40B4-BE49-F238E27FC236}">
                  <a16:creationId xmlns:a16="http://schemas.microsoft.com/office/drawing/2014/main" id="{A081D4C3-F3A6-7F76-38E0-BE9EFD8D62CF}"/>
                </a:ext>
              </a:extLst>
            </p:cNvPr>
            <p:cNvSpPr/>
            <p:nvPr/>
          </p:nvSpPr>
          <p:spPr bwMode="auto">
            <a:xfrm>
              <a:off x="1244555" y="1518904"/>
              <a:ext cx="900248" cy="782251"/>
            </a:xfrm>
            <a:prstGeom prst="roundRect">
              <a:avLst/>
            </a:prstGeom>
            <a:grpFill/>
            <a:ln>
              <a:noFill/>
            </a:ln>
          </p:spPr>
          <p:txBody>
            <a:bodyPr wrap="none"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rgbClr val="FFFFFF"/>
                </a:solidFill>
                <a:effectLst/>
                <a:uLnTx/>
                <a:uFillTx/>
                <a:cs typeface="+mn-ea"/>
                <a:sym typeface="+mn-lt"/>
              </a:endParaRPr>
            </a:p>
          </p:txBody>
        </p:sp>
        <p:sp>
          <p:nvSpPr>
            <p:cNvPr id="32" name="TextBox 23">
              <a:extLst>
                <a:ext uri="{FF2B5EF4-FFF2-40B4-BE49-F238E27FC236}">
                  <a16:creationId xmlns:a16="http://schemas.microsoft.com/office/drawing/2014/main" id="{20BCAC4F-2127-5DC3-2FB2-D5E85AAA63AD}"/>
                </a:ext>
              </a:extLst>
            </p:cNvPr>
            <p:cNvSpPr txBox="1"/>
            <p:nvPr/>
          </p:nvSpPr>
          <p:spPr>
            <a:xfrm>
              <a:off x="1370935" y="1755466"/>
              <a:ext cx="584126" cy="309128"/>
            </a:xfrm>
            <a:prstGeom prst="rect">
              <a:avLst/>
            </a:prstGeom>
            <a:grpFill/>
            <a:ln>
              <a:noFill/>
            </a:ln>
          </p:spPr>
          <p:txBody>
            <a:bodyPr wrap="none" lIns="68580" tIns="34290" rIns="68580" bIns="34290"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000" b="1" dirty="0">
                  <a:latin typeface="+mn-lt"/>
                  <a:ea typeface="+mn-ea"/>
                  <a:cs typeface="+mn-ea"/>
                  <a:sym typeface="+mn-lt"/>
                </a:rPr>
                <a:t>4</a:t>
              </a:r>
              <a:endParaRPr kumimoji="0" lang="zh-CN" altLang="en-US" sz="4000" b="1" i="0" u="none" strike="noStrike" kern="0" cap="none" spc="0" normalizeH="0" baseline="0" noProof="0" dirty="0">
                <a:ln>
                  <a:noFill/>
                </a:ln>
                <a:solidFill>
                  <a:srgbClr val="FFFFFF"/>
                </a:solidFill>
                <a:effectLst/>
                <a:uLnTx/>
                <a:uFillTx/>
                <a:latin typeface="+mn-lt"/>
                <a:ea typeface="+mn-ea"/>
                <a:cs typeface="+mn-ea"/>
                <a:sym typeface="+mn-lt"/>
              </a:endParaRPr>
            </a:p>
          </p:txBody>
        </p:sp>
      </p:grpSp>
    </p:spTree>
    <p:extLst>
      <p:ext uri="{BB962C8B-B14F-4D97-AF65-F5344CB8AC3E}">
        <p14:creationId xmlns:p14="http://schemas.microsoft.com/office/powerpoint/2010/main" val="369728772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849457" y="2568507"/>
            <a:ext cx="10942905" cy="1720986"/>
            <a:chOff x="1184275" y="2717410"/>
            <a:chExt cx="10942905"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12" name="Freeform 7"/>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13" name="文本框 12"/>
            <p:cNvSpPr txBox="1"/>
            <p:nvPr/>
          </p:nvSpPr>
          <p:spPr>
            <a:xfrm>
              <a:off x="3187699" y="2847430"/>
              <a:ext cx="8939481" cy="1107996"/>
            </a:xfrm>
            <a:prstGeom prst="rect">
              <a:avLst/>
            </a:prstGeom>
            <a:noFill/>
          </p:spPr>
          <p:txBody>
            <a:bodyPr wrap="square" rtlCol="0">
              <a:spAutoFit/>
            </a:bodyPr>
            <a:lstStyle/>
            <a:p>
              <a:r>
                <a:rPr lang="zh-CN" altLang="en-US" sz="6600" b="1" spc="300" dirty="0">
                  <a:solidFill>
                    <a:schemeClr val="bg1"/>
                  </a:solidFill>
                  <a:latin typeface="微软雅黑" panose="020B0503020204020204" pitchFamily="34" charset="-122"/>
                  <a:ea typeface="微软雅黑" panose="020B0503020204020204" pitchFamily="34" charset="-122"/>
                </a:rPr>
                <a:t>国内外研究现状</a:t>
              </a:r>
              <a:endParaRPr lang="zh-CN" altLang="zh-HK" sz="6600" b="1" spc="3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830439-CCBE-2B57-0C55-C4F4A2D89383}"/>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8</a:t>
            </a:fld>
            <a:endParaRPr lang="zh-HK" altLang="en-US">
              <a:solidFill>
                <a:prstClr val="black">
                  <a:tint val="75000"/>
                </a:prstClr>
              </a:solidFill>
            </a:endParaRPr>
          </a:p>
        </p:txBody>
      </p:sp>
      <p:grpSp>
        <p:nvGrpSpPr>
          <p:cNvPr id="8" name="组合 7">
            <a:extLst>
              <a:ext uri="{FF2B5EF4-FFF2-40B4-BE49-F238E27FC236}">
                <a16:creationId xmlns:a16="http://schemas.microsoft.com/office/drawing/2014/main" id="{E9BFFEC0-AD95-7F98-C430-BDFE1AE9F51F}"/>
              </a:ext>
            </a:extLst>
          </p:cNvPr>
          <p:cNvGrpSpPr/>
          <p:nvPr/>
        </p:nvGrpSpPr>
        <p:grpSpPr>
          <a:xfrm>
            <a:off x="1333500" y="989339"/>
            <a:ext cx="4191000" cy="849845"/>
            <a:chOff x="3638554" y="4253032"/>
            <a:chExt cx="1274967" cy="572648"/>
          </a:xfrm>
          <a:solidFill>
            <a:schemeClr val="accent2"/>
          </a:solidFill>
        </p:grpSpPr>
        <p:sp>
          <p:nvSpPr>
            <p:cNvPr id="9" name="矩形 8">
              <a:extLst>
                <a:ext uri="{FF2B5EF4-FFF2-40B4-BE49-F238E27FC236}">
                  <a16:creationId xmlns:a16="http://schemas.microsoft.com/office/drawing/2014/main" id="{FBD65839-16EC-2D7F-2D98-A4D276080840}"/>
                </a:ext>
              </a:extLst>
            </p:cNvPr>
            <p:cNvSpPr/>
            <p:nvPr/>
          </p:nvSpPr>
          <p:spPr>
            <a:xfrm>
              <a:off x="3638554" y="4253032"/>
              <a:ext cx="1130300" cy="351218"/>
            </a:xfrm>
            <a:prstGeom prst="rect">
              <a:avLst/>
            </a:prstGeom>
            <a:solidFill>
              <a:srgbClr val="0A2B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cs typeface="+mn-ea"/>
                <a:sym typeface="+mn-lt"/>
              </a:endParaRPr>
            </a:p>
          </p:txBody>
        </p:sp>
        <p:sp>
          <p:nvSpPr>
            <p:cNvPr id="10" name="矩形 9">
              <a:extLst>
                <a:ext uri="{FF2B5EF4-FFF2-40B4-BE49-F238E27FC236}">
                  <a16:creationId xmlns:a16="http://schemas.microsoft.com/office/drawing/2014/main" id="{546817F3-AE3A-7C78-3849-76E5F88AB60F}"/>
                </a:ext>
              </a:extLst>
            </p:cNvPr>
            <p:cNvSpPr/>
            <p:nvPr/>
          </p:nvSpPr>
          <p:spPr>
            <a:xfrm>
              <a:off x="3705605" y="4265732"/>
              <a:ext cx="1207916" cy="559948"/>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cs typeface="+mn-ea"/>
                  <a:sym typeface="+mn-lt"/>
                </a:rPr>
                <a:t>轨迹规划研究现状总结</a:t>
              </a:r>
              <a:endParaRPr kumimoji="0" lang="zh-CN" altLang="en-US" sz="2400" b="1" i="0" u="none" strike="noStrike" kern="1200" cap="none" spc="0" normalizeH="0" baseline="0" noProof="0" dirty="0">
                <a:ln>
                  <a:noFill/>
                </a:ln>
                <a:solidFill>
                  <a:prstClr val="white"/>
                </a:solidFill>
                <a:effectLst/>
                <a:uLnTx/>
                <a:uFillTx/>
                <a:cs typeface="+mn-ea"/>
                <a:sym typeface="+mn-lt"/>
              </a:endParaRPr>
            </a:p>
          </p:txBody>
        </p:sp>
      </p:grpSp>
      <p:grpSp>
        <p:nvGrpSpPr>
          <p:cNvPr id="12" name="组合 11">
            <a:extLst>
              <a:ext uri="{FF2B5EF4-FFF2-40B4-BE49-F238E27FC236}">
                <a16:creationId xmlns:a16="http://schemas.microsoft.com/office/drawing/2014/main" id="{F8FB8FED-A2D6-40BB-5D7A-5287F1514E42}"/>
              </a:ext>
            </a:extLst>
          </p:cNvPr>
          <p:cNvGrpSpPr/>
          <p:nvPr/>
        </p:nvGrpSpPr>
        <p:grpSpPr>
          <a:xfrm>
            <a:off x="6977063" y="989339"/>
            <a:ext cx="4191000" cy="521229"/>
            <a:chOff x="3638554" y="4253032"/>
            <a:chExt cx="1274967" cy="351218"/>
          </a:xfrm>
          <a:solidFill>
            <a:schemeClr val="accent2"/>
          </a:solidFill>
        </p:grpSpPr>
        <p:sp>
          <p:nvSpPr>
            <p:cNvPr id="13" name="矩形 12">
              <a:extLst>
                <a:ext uri="{FF2B5EF4-FFF2-40B4-BE49-F238E27FC236}">
                  <a16:creationId xmlns:a16="http://schemas.microsoft.com/office/drawing/2014/main" id="{AE1450D9-ADAC-A643-B26F-FD349A7C4700}"/>
                </a:ext>
              </a:extLst>
            </p:cNvPr>
            <p:cNvSpPr/>
            <p:nvPr/>
          </p:nvSpPr>
          <p:spPr>
            <a:xfrm>
              <a:off x="3638554" y="4253032"/>
              <a:ext cx="1130300" cy="351218"/>
            </a:xfrm>
            <a:prstGeom prst="rect">
              <a:avLst/>
            </a:prstGeom>
            <a:solidFill>
              <a:srgbClr val="0A2B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cs typeface="+mn-ea"/>
                <a:sym typeface="+mn-lt"/>
              </a:endParaRPr>
            </a:p>
          </p:txBody>
        </p:sp>
        <p:sp>
          <p:nvSpPr>
            <p:cNvPr id="14" name="矩形 13">
              <a:extLst>
                <a:ext uri="{FF2B5EF4-FFF2-40B4-BE49-F238E27FC236}">
                  <a16:creationId xmlns:a16="http://schemas.microsoft.com/office/drawing/2014/main" id="{AB330E50-52FC-B6CC-9900-0A3EC67711D4}"/>
                </a:ext>
              </a:extLst>
            </p:cNvPr>
            <p:cNvSpPr/>
            <p:nvPr/>
          </p:nvSpPr>
          <p:spPr>
            <a:xfrm>
              <a:off x="3705605" y="4265732"/>
              <a:ext cx="1207916" cy="311082"/>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cs typeface="+mn-ea"/>
                  <a:sym typeface="+mn-lt"/>
                </a:rPr>
                <a:t>运动控制研究现状总结</a:t>
              </a:r>
              <a:endParaRPr kumimoji="0" lang="zh-CN" altLang="en-US" sz="2400" b="1" i="0" u="none" strike="noStrike" kern="1200" cap="none" spc="0" normalizeH="0" baseline="0" noProof="0" dirty="0">
                <a:ln>
                  <a:noFill/>
                </a:ln>
                <a:solidFill>
                  <a:prstClr val="white"/>
                </a:solidFill>
                <a:effectLst/>
                <a:uLnTx/>
                <a:uFillTx/>
                <a:cs typeface="+mn-ea"/>
                <a:sym typeface="+mn-lt"/>
              </a:endParaRPr>
            </a:p>
          </p:txBody>
        </p:sp>
      </p:grpSp>
      <p:sp>
        <p:nvSpPr>
          <p:cNvPr id="15" name="圆角矩形 3">
            <a:extLst>
              <a:ext uri="{FF2B5EF4-FFF2-40B4-BE49-F238E27FC236}">
                <a16:creationId xmlns:a16="http://schemas.microsoft.com/office/drawing/2014/main" id="{34BFE464-FD09-7DC7-8C1A-853D519B62CD}"/>
              </a:ext>
            </a:extLst>
          </p:cNvPr>
          <p:cNvSpPr>
            <a:spLocks noChangeArrowheads="1"/>
          </p:cNvSpPr>
          <p:nvPr/>
        </p:nvSpPr>
        <p:spPr bwMode="auto">
          <a:xfrm>
            <a:off x="721164" y="1667009"/>
            <a:ext cx="5136711" cy="5054466"/>
          </a:xfrm>
          <a:prstGeom prst="roundRect">
            <a:avLst>
              <a:gd name="adj" fmla="val 16667"/>
            </a:avLst>
          </a:prstGeom>
          <a:solidFill>
            <a:schemeClr val="bg1"/>
          </a:solidFill>
          <a:ln w="38100" algn="ctr">
            <a:solidFill>
              <a:srgbClr val="0A2B7C"/>
            </a:solidFill>
            <a:round/>
            <a:headEnd/>
            <a:tailEnd/>
          </a:ln>
        </p:spPr>
        <p:txBody>
          <a:bodyPr/>
          <a:lstStyle/>
          <a:p>
            <a:pPr marL="285750" indent="-285750" algn="l">
              <a:lnSpc>
                <a:spcPct val="150000"/>
              </a:lnSpc>
              <a:buFont typeface="Wingdings" panose="05000000000000000000" pitchFamily="2" charset="2"/>
              <a:buChar char="l"/>
            </a:pPr>
            <a:r>
              <a:rPr lang="zh-CN" altLang="en-US" b="0" i="0" dirty="0">
                <a:effectLst/>
                <a:latin typeface="微软雅黑" panose="020B0503020204020204" pitchFamily="34" charset="-122"/>
                <a:ea typeface="微软雅黑" panose="020B0503020204020204" pitchFamily="34" charset="-122"/>
              </a:rPr>
              <a:t>常用轨迹规划方法主要有</a:t>
            </a:r>
            <a:r>
              <a:rPr lang="zh-CN" altLang="en-US" b="1" i="0" dirty="0">
                <a:effectLst/>
                <a:latin typeface="微软雅黑" panose="020B0503020204020204" pitchFamily="34" charset="-122"/>
                <a:ea typeface="微软雅黑" panose="020B0503020204020204" pitchFamily="34" charset="-122"/>
              </a:rPr>
              <a:t>图搜索算法、曲线插值算法、采样方法和数值优化方法</a:t>
            </a:r>
            <a:r>
              <a:rPr lang="zh-CN" altLang="en-US" b="0" i="0" dirty="0">
                <a:effectLst/>
                <a:latin typeface="微软雅黑" panose="020B0503020204020204" pitchFamily="34" charset="-122"/>
                <a:ea typeface="微软雅黑" panose="020B0503020204020204" pitchFamily="34" charset="-122"/>
              </a:rPr>
              <a:t>。</a:t>
            </a:r>
          </a:p>
          <a:p>
            <a:pPr marL="285750" indent="-285750" algn="l">
              <a:lnSpc>
                <a:spcPct val="150000"/>
              </a:lnSpc>
              <a:buFont typeface="Wingdings" panose="05000000000000000000" pitchFamily="2" charset="2"/>
              <a:buChar char="l"/>
            </a:pPr>
            <a:r>
              <a:rPr lang="zh-CN" altLang="en-US" b="0" i="0" dirty="0">
                <a:effectLst/>
                <a:latin typeface="微软雅黑" panose="020B0503020204020204" pitchFamily="34" charset="-122"/>
                <a:ea typeface="微软雅黑" panose="020B0503020204020204" pitchFamily="34" charset="-122"/>
              </a:rPr>
              <a:t>图搜索算法通常只考虑静态障碍物，对车辆动力学约束考虑不足。</a:t>
            </a:r>
          </a:p>
          <a:p>
            <a:pPr marL="285750" indent="-285750" algn="l">
              <a:lnSpc>
                <a:spcPct val="150000"/>
              </a:lnSpc>
              <a:buFont typeface="Wingdings" panose="05000000000000000000" pitchFamily="2" charset="2"/>
              <a:buChar char="l"/>
            </a:pPr>
            <a:r>
              <a:rPr lang="zh-CN" altLang="en-US" b="0" i="0" dirty="0">
                <a:effectLst/>
                <a:latin typeface="微软雅黑" panose="020B0503020204020204" pitchFamily="34" charset="-122"/>
                <a:ea typeface="微软雅黑" panose="020B0503020204020204" pitchFamily="34" charset="-122"/>
              </a:rPr>
              <a:t>曲线插值算法，需利用路径起点和终点的运动状态信息，避障终点因避障方式不同而变化，限制较多。</a:t>
            </a:r>
          </a:p>
          <a:p>
            <a:pPr marL="285750" indent="-285750" algn="l">
              <a:lnSpc>
                <a:spcPct val="150000"/>
              </a:lnSpc>
              <a:buFont typeface="Wingdings" panose="05000000000000000000" pitchFamily="2" charset="2"/>
              <a:buChar char="l"/>
            </a:pPr>
            <a:r>
              <a:rPr lang="zh-CN" altLang="en-US" b="0" i="0" dirty="0">
                <a:effectLst/>
                <a:latin typeface="微软雅黑" panose="020B0503020204020204" pitchFamily="34" charset="-122"/>
                <a:ea typeface="微软雅黑" panose="020B0503020204020204" pitchFamily="34" charset="-122"/>
              </a:rPr>
              <a:t>采样方法，规划出的轨迹有明显抖动，需经后端平滑处理。</a:t>
            </a:r>
          </a:p>
          <a:p>
            <a:pPr marL="285750" indent="-285750" algn="l">
              <a:lnSpc>
                <a:spcPct val="150000"/>
              </a:lnSpc>
              <a:buFont typeface="Wingdings" panose="05000000000000000000" pitchFamily="2" charset="2"/>
              <a:buChar char="l"/>
            </a:pPr>
            <a:r>
              <a:rPr lang="zh-CN" altLang="en-US" b="0" i="0" dirty="0">
                <a:effectLst/>
                <a:latin typeface="微软雅黑" panose="020B0503020204020204" pitchFamily="34" charset="-122"/>
                <a:ea typeface="微软雅黑" panose="020B0503020204020204" pitchFamily="34" charset="-122"/>
              </a:rPr>
              <a:t>数值优化方法规划的轨迹质量高，但面对非凸约束条件时求解效率低，实时性差。</a:t>
            </a:r>
          </a:p>
          <a:p>
            <a:endParaRPr lang="zh-CN" altLang="en-US" dirty="0"/>
          </a:p>
          <a:p>
            <a:pPr marL="285750" indent="-285750" algn="l">
              <a:buFont typeface="Wingdings" panose="05000000000000000000" pitchFamily="2" charset="2"/>
              <a:buChar char="l"/>
            </a:pPr>
            <a:endParaRPr lang="zh-CN" altLang="en-US" b="0" i="0" dirty="0">
              <a:effectLst/>
              <a:latin typeface="微软雅黑" panose="020B0503020204020204" pitchFamily="34" charset="-122"/>
              <a:ea typeface="微软雅黑" panose="020B0503020204020204" pitchFamily="34" charset="-122"/>
            </a:endParaRPr>
          </a:p>
        </p:txBody>
      </p:sp>
      <p:sp>
        <p:nvSpPr>
          <p:cNvPr id="17" name="圆角矩形 3">
            <a:extLst>
              <a:ext uri="{FF2B5EF4-FFF2-40B4-BE49-F238E27FC236}">
                <a16:creationId xmlns:a16="http://schemas.microsoft.com/office/drawing/2014/main" id="{1237F478-2E91-3FD9-78F3-1B5971033449}"/>
              </a:ext>
            </a:extLst>
          </p:cNvPr>
          <p:cNvSpPr>
            <a:spLocks noChangeArrowheads="1"/>
          </p:cNvSpPr>
          <p:nvPr/>
        </p:nvSpPr>
        <p:spPr bwMode="auto">
          <a:xfrm>
            <a:off x="6491640" y="1667009"/>
            <a:ext cx="5137200" cy="5054400"/>
          </a:xfrm>
          <a:prstGeom prst="roundRect">
            <a:avLst>
              <a:gd name="adj" fmla="val 16667"/>
            </a:avLst>
          </a:prstGeom>
          <a:solidFill>
            <a:schemeClr val="bg1"/>
          </a:solidFill>
          <a:ln w="38100" algn="ctr">
            <a:solidFill>
              <a:srgbClr val="0A2B7C"/>
            </a:solidFill>
            <a:round/>
            <a:headEnd/>
            <a:tailEnd/>
          </a:ln>
        </p:spPr>
        <p:txBody>
          <a:bodyPr/>
          <a:lstStyle/>
          <a:p>
            <a:pPr marL="285750" indent="-285750" algn="l">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目前运动控制分</a:t>
            </a:r>
            <a:r>
              <a:rPr lang="zh-CN" altLang="en-US" b="1" dirty="0">
                <a:latin typeface="微软雅黑" panose="020B0503020204020204" pitchFamily="34" charset="-122"/>
                <a:ea typeface="微软雅黑" panose="020B0503020204020204" pitchFamily="34" charset="-122"/>
              </a:rPr>
              <a:t>解耦式</a:t>
            </a:r>
            <a:r>
              <a:rPr lang="zh-CN" altLang="en-US" dirty="0">
                <a:latin typeface="微软雅黑" panose="020B0503020204020204" pitchFamily="34" charset="-122"/>
                <a:ea typeface="微软雅黑" panose="020B0503020204020204" pitchFamily="34" charset="-122"/>
              </a:rPr>
              <a:t>和</a:t>
            </a:r>
            <a:r>
              <a:rPr lang="zh-CN" altLang="en-US" b="1" dirty="0">
                <a:latin typeface="微软雅黑" panose="020B0503020204020204" pitchFamily="34" charset="-122"/>
                <a:ea typeface="微软雅黑" panose="020B0503020204020204" pitchFamily="34" charset="-122"/>
              </a:rPr>
              <a:t>耦合式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解耦式将运动控制分为横向和纵向子任务，较保守，无法充分利用底盘性能。</a:t>
            </a:r>
            <a:endParaRPr lang="en-US" altLang="zh-CN" dirty="0">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耦合式分</a:t>
            </a:r>
            <a:r>
              <a:rPr lang="zh-CN" altLang="en-US" b="1" dirty="0">
                <a:latin typeface="微软雅黑" panose="020B0503020204020204" pitchFamily="34" charset="-122"/>
                <a:ea typeface="微软雅黑" panose="020B0503020204020204" pitchFamily="34" charset="-122"/>
              </a:rPr>
              <a:t>集中控制器</a:t>
            </a:r>
            <a:r>
              <a:rPr lang="zh-CN" altLang="en-US" dirty="0">
                <a:latin typeface="微软雅黑" panose="020B0503020204020204" pitchFamily="34" charset="-122"/>
                <a:ea typeface="微软雅黑" panose="020B0503020204020204" pitchFamily="34" charset="-122"/>
              </a:rPr>
              <a:t>和</a:t>
            </a:r>
            <a:r>
              <a:rPr lang="zh-CN" altLang="en-US" b="1" dirty="0">
                <a:latin typeface="微软雅黑" panose="020B0503020204020204" pitchFamily="34" charset="-122"/>
                <a:ea typeface="微软雅黑" panose="020B0503020204020204" pitchFamily="34" charset="-122"/>
              </a:rPr>
              <a:t>分层控制器</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集中式为整体结构设计，约束车辆状态和控制输入，但计算资源消耗高。</a:t>
            </a:r>
            <a:endParaRPr lang="en-US" altLang="zh-CN" dirty="0">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分层式采用分层架构，一般分为</a:t>
            </a:r>
            <a:r>
              <a:rPr lang="zh-CN" altLang="en-US" b="1" dirty="0">
                <a:latin typeface="微软雅黑" panose="020B0503020204020204" pitchFamily="34" charset="-122"/>
                <a:ea typeface="微软雅黑" panose="020B0503020204020204" pitchFamily="34" charset="-122"/>
              </a:rPr>
              <a:t>运动跟踪层、控制分配层和执行层</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运动跟踪层设计基于 </a:t>
            </a:r>
            <a:r>
              <a:rPr lang="en-US" altLang="zh-CN" dirty="0">
                <a:latin typeface="微软雅黑" panose="020B0503020204020204" pitchFamily="34" charset="-122"/>
                <a:ea typeface="微软雅黑" panose="020B0503020204020204" pitchFamily="34" charset="-122"/>
              </a:rPr>
              <a:t>PID </a:t>
            </a:r>
            <a:r>
              <a:rPr lang="zh-CN" altLang="en-US" dirty="0">
                <a:latin typeface="微软雅黑" panose="020B0503020204020204" pitchFamily="34" charset="-122"/>
                <a:ea typeface="微软雅黑" panose="020B0503020204020204" pitchFamily="34" charset="-122"/>
              </a:rPr>
              <a:t>方法、滑模控制方法、线性二次调节器方法和基于 </a:t>
            </a:r>
            <a:r>
              <a:rPr lang="en-US" altLang="zh-CN" dirty="0">
                <a:latin typeface="微软雅黑" panose="020B0503020204020204" pitchFamily="34" charset="-122"/>
                <a:ea typeface="微软雅黑" panose="020B0503020204020204" pitchFamily="34" charset="-122"/>
              </a:rPr>
              <a:t>MPC </a:t>
            </a:r>
            <a:r>
              <a:rPr lang="zh-CN" altLang="en-US" dirty="0">
                <a:latin typeface="微软雅黑" panose="020B0503020204020204" pitchFamily="34" charset="-122"/>
                <a:ea typeface="微软雅黑" panose="020B0503020204020204" pitchFamily="34" charset="-122"/>
              </a:rPr>
              <a:t>方法。</a:t>
            </a:r>
          </a:p>
        </p:txBody>
      </p:sp>
    </p:spTree>
    <p:extLst>
      <p:ext uri="{BB962C8B-B14F-4D97-AF65-F5344CB8AC3E}">
        <p14:creationId xmlns:p14="http://schemas.microsoft.com/office/powerpoint/2010/main" val="409350174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1842BB-65DC-D667-B4DF-0AECB678DB00}"/>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9</a:t>
            </a:fld>
            <a:endParaRPr lang="zh-HK" altLang="en-US">
              <a:solidFill>
                <a:prstClr val="black">
                  <a:tint val="75000"/>
                </a:prstClr>
              </a:solidFill>
            </a:endParaRPr>
          </a:p>
        </p:txBody>
      </p:sp>
      <p:grpSp>
        <p:nvGrpSpPr>
          <p:cNvPr id="23" name="组合 22">
            <a:extLst>
              <a:ext uri="{FF2B5EF4-FFF2-40B4-BE49-F238E27FC236}">
                <a16:creationId xmlns:a16="http://schemas.microsoft.com/office/drawing/2014/main" id="{1F305C92-F96B-D3D0-48FE-B4552FDC63A9}"/>
              </a:ext>
            </a:extLst>
          </p:cNvPr>
          <p:cNvGrpSpPr/>
          <p:nvPr/>
        </p:nvGrpSpPr>
        <p:grpSpPr>
          <a:xfrm>
            <a:off x="1181099" y="1072424"/>
            <a:ext cx="9620251" cy="2407582"/>
            <a:chOff x="1181099" y="1072424"/>
            <a:chExt cx="9620251" cy="2407582"/>
          </a:xfrm>
        </p:grpSpPr>
        <p:sp>
          <p:nvSpPr>
            <p:cNvPr id="7" name="矩形 6">
              <a:extLst>
                <a:ext uri="{FF2B5EF4-FFF2-40B4-BE49-F238E27FC236}">
                  <a16:creationId xmlns:a16="http://schemas.microsoft.com/office/drawing/2014/main" id="{2C817BA3-2ECD-821C-261E-F144C06C6AE1}"/>
                </a:ext>
              </a:extLst>
            </p:cNvPr>
            <p:cNvSpPr/>
            <p:nvPr/>
          </p:nvSpPr>
          <p:spPr>
            <a:xfrm>
              <a:off x="1181099" y="1331947"/>
              <a:ext cx="9620251" cy="2148059"/>
            </a:xfrm>
            <a:prstGeom prst="rect">
              <a:avLst/>
            </a:prstGeom>
            <a:noFill/>
            <a:ln>
              <a:solidFill>
                <a:srgbClr val="0A2B7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gradFill>
                  <a:gsLst>
                    <a:gs pos="83000">
                      <a:srgbClr val="C00000"/>
                    </a:gs>
                    <a:gs pos="100000">
                      <a:srgbClr val="C00000"/>
                    </a:gs>
                  </a:gsLst>
                  <a:lin ang="5400000" scaled="1"/>
                </a:gradFill>
                <a:effectLst/>
                <a:uLnTx/>
                <a:uFillTx/>
                <a:cs typeface="+mn-ea"/>
                <a:sym typeface="+mn-lt"/>
              </a:endParaRPr>
            </a:p>
          </p:txBody>
        </p:sp>
        <p:sp>
          <p:nvSpPr>
            <p:cNvPr id="8" name="矩形 7">
              <a:extLst>
                <a:ext uri="{FF2B5EF4-FFF2-40B4-BE49-F238E27FC236}">
                  <a16:creationId xmlns:a16="http://schemas.microsoft.com/office/drawing/2014/main" id="{DF3E3CE4-9408-9A67-E777-F14847F76CED}"/>
                </a:ext>
              </a:extLst>
            </p:cNvPr>
            <p:cNvSpPr/>
            <p:nvPr/>
          </p:nvSpPr>
          <p:spPr>
            <a:xfrm>
              <a:off x="1372108" y="1616772"/>
              <a:ext cx="9410700" cy="1644617"/>
            </a:xfrm>
            <a:prstGeom prst="rect">
              <a:avLst/>
            </a:prstGeom>
          </p:spPr>
          <p:txBody>
            <a:bodyPr wrap="square">
              <a:spAutoFit/>
            </a:bodyPr>
            <a:lstStyle/>
            <a:p>
              <a:pPr lvl="0" indent="457200">
                <a:lnSpc>
                  <a:spcPts val="3100"/>
                </a:lnSpc>
                <a:defRPr/>
              </a:pPr>
              <a:r>
                <a:rPr lang="zh-CN" altLang="en-US" dirty="0">
                  <a:latin typeface="微软雅黑" panose="020B0503020204020204" pitchFamily="34" charset="-122"/>
                  <a:ea typeface="微软雅黑" panose="020B0503020204020204" pitchFamily="34" charset="-122"/>
                </a:rPr>
                <a:t>紧急避障场景下，现有图搜索、采样、曲线插值轨迹规划方法在终点状态未知时失效且无法兼顾避障与车辆动力学约束。数值优化规划轨迹质量高但求解效率低，难满足实时性要求。</a:t>
              </a:r>
              <a:r>
                <a:rPr lang="zh-CN" altLang="en-US" b="1" dirty="0">
                  <a:latin typeface="微软雅黑" panose="020B0503020204020204" pitchFamily="34" charset="-122"/>
                  <a:ea typeface="微软雅黑" panose="020B0503020204020204" pitchFamily="34" charset="-122"/>
                </a:rPr>
                <a:t>在有动态障碍物的紧急避障场景，结合分布式线控底盘特性规划出满足车辆约束且具实时性的紧急避障轨迹是关键问题。</a:t>
              </a:r>
              <a:endParaRPr kumimoji="0" lang="zh-CN" altLang="en-US" sz="2400" b="1" i="0" u="none" strike="noStrike" kern="1200" cap="none" spc="0" normalizeH="0" baseline="0" noProof="0" dirty="0">
                <a:ln>
                  <a:noFill/>
                </a:ln>
                <a:gradFill>
                  <a:gsLst>
                    <a:gs pos="0">
                      <a:prstClr val="black">
                        <a:lumMod val="50000"/>
                        <a:lumOff val="50000"/>
                      </a:prstClr>
                    </a:gs>
                    <a:gs pos="100000">
                      <a:prstClr val="black">
                        <a:lumMod val="50000"/>
                        <a:lumOff val="50000"/>
                      </a:prstClr>
                    </a:gs>
                  </a:gsLst>
                  <a:lin ang="2700000" scaled="1"/>
                </a:gradFill>
                <a:effectLst/>
                <a:uLnTx/>
                <a:uFillTx/>
                <a:latin typeface="微软雅黑" panose="020B0503020204020204" pitchFamily="34" charset="-122"/>
                <a:ea typeface="微软雅黑" panose="020B0503020204020204" pitchFamily="34" charset="-122"/>
                <a:cs typeface="+mn-ea"/>
                <a:sym typeface="+mn-lt"/>
              </a:endParaRPr>
            </a:p>
          </p:txBody>
        </p:sp>
        <p:grpSp>
          <p:nvGrpSpPr>
            <p:cNvPr id="9" name="组合 8">
              <a:extLst>
                <a:ext uri="{FF2B5EF4-FFF2-40B4-BE49-F238E27FC236}">
                  <a16:creationId xmlns:a16="http://schemas.microsoft.com/office/drawing/2014/main" id="{D4D267BA-8031-058D-B312-8FB474BAC88C}"/>
                </a:ext>
              </a:extLst>
            </p:cNvPr>
            <p:cNvGrpSpPr/>
            <p:nvPr/>
          </p:nvGrpSpPr>
          <p:grpSpPr>
            <a:xfrm>
              <a:off x="1573093" y="1072424"/>
              <a:ext cx="3732840" cy="507531"/>
              <a:chOff x="4904651" y="1612051"/>
              <a:chExt cx="2529636" cy="677945"/>
            </a:xfrm>
          </p:grpSpPr>
          <p:sp>
            <p:nvSpPr>
              <p:cNvPr id="10" name="圆角矩形 12">
                <a:extLst>
                  <a:ext uri="{FF2B5EF4-FFF2-40B4-BE49-F238E27FC236}">
                    <a16:creationId xmlns:a16="http://schemas.microsoft.com/office/drawing/2014/main" id="{63BE7E48-8B9A-E6B1-F585-3780254D8C8E}"/>
                  </a:ext>
                </a:extLst>
              </p:cNvPr>
              <p:cNvSpPr/>
              <p:nvPr/>
            </p:nvSpPr>
            <p:spPr>
              <a:xfrm>
                <a:off x="4904651" y="1612051"/>
                <a:ext cx="2529636" cy="677945"/>
              </a:xfrm>
              <a:prstGeom prst="roundRect">
                <a:avLst>
                  <a:gd name="adj" fmla="val 0"/>
                </a:avLst>
              </a:prstGeom>
              <a:solidFill>
                <a:srgbClr val="0A2B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90000">
                        <a:srgbClr val="C00000"/>
                      </a:gs>
                      <a:gs pos="30000">
                        <a:srgbClr val="FF3300"/>
                      </a:gs>
                    </a:gsLst>
                    <a:lin ang="5400000" scaled="1"/>
                  </a:gradFill>
                  <a:effectLst/>
                  <a:uLnTx/>
                  <a:uFillTx/>
                  <a:cs typeface="+mn-ea"/>
                  <a:sym typeface="+mn-lt"/>
                </a:endParaRPr>
              </a:p>
            </p:txBody>
          </p:sp>
          <p:sp>
            <p:nvSpPr>
              <p:cNvPr id="11" name="矩形 10">
                <a:extLst>
                  <a:ext uri="{FF2B5EF4-FFF2-40B4-BE49-F238E27FC236}">
                    <a16:creationId xmlns:a16="http://schemas.microsoft.com/office/drawing/2014/main" id="{B748A201-BB18-3E00-B17F-B58EA80183F9}"/>
                  </a:ext>
                </a:extLst>
              </p:cNvPr>
              <p:cNvSpPr/>
              <p:nvPr/>
            </p:nvSpPr>
            <p:spPr>
              <a:xfrm>
                <a:off x="5050444" y="1657627"/>
                <a:ext cx="2239192" cy="61667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cs typeface="+mn-ea"/>
                    <a:sym typeface="+mn-lt"/>
                  </a:rPr>
                  <a:t>轨迹规划研究现状不足</a:t>
                </a:r>
                <a:endParaRPr kumimoji="0" lang="zh-CN" altLang="en-US" sz="2400" b="1" i="0" u="none" strike="noStrike" kern="1200" cap="none" spc="0" normalizeH="0" baseline="0" noProof="0" dirty="0">
                  <a:ln>
                    <a:noFill/>
                  </a:ln>
                  <a:gradFill>
                    <a:gsLst>
                      <a:gs pos="83000">
                        <a:prstClr val="white"/>
                      </a:gs>
                      <a:gs pos="100000">
                        <a:prstClr val="white"/>
                      </a:gs>
                    </a:gsLst>
                    <a:lin ang="5400000" scaled="1"/>
                  </a:gradFill>
                  <a:effectLst/>
                  <a:uLnTx/>
                  <a:uFillTx/>
                  <a:cs typeface="+mn-ea"/>
                  <a:sym typeface="+mn-lt"/>
                </a:endParaRPr>
              </a:p>
            </p:txBody>
          </p:sp>
        </p:grpSp>
      </p:grpSp>
      <p:grpSp>
        <p:nvGrpSpPr>
          <p:cNvPr id="22" name="组合 21">
            <a:extLst>
              <a:ext uri="{FF2B5EF4-FFF2-40B4-BE49-F238E27FC236}">
                <a16:creationId xmlns:a16="http://schemas.microsoft.com/office/drawing/2014/main" id="{979FBD7C-BD28-1A69-784E-45474605847F}"/>
              </a:ext>
            </a:extLst>
          </p:cNvPr>
          <p:cNvGrpSpPr/>
          <p:nvPr/>
        </p:nvGrpSpPr>
        <p:grpSpPr>
          <a:xfrm>
            <a:off x="1181099" y="3754973"/>
            <a:ext cx="9620251" cy="2791777"/>
            <a:chOff x="1181099" y="2925193"/>
            <a:chExt cx="9620251" cy="2791777"/>
          </a:xfrm>
        </p:grpSpPr>
        <p:sp>
          <p:nvSpPr>
            <p:cNvPr id="12" name="矩形 11">
              <a:extLst>
                <a:ext uri="{FF2B5EF4-FFF2-40B4-BE49-F238E27FC236}">
                  <a16:creationId xmlns:a16="http://schemas.microsoft.com/office/drawing/2014/main" id="{0C6CC9DA-3073-67EB-7A77-CEB6B25E53D3}"/>
                </a:ext>
              </a:extLst>
            </p:cNvPr>
            <p:cNvSpPr/>
            <p:nvPr/>
          </p:nvSpPr>
          <p:spPr>
            <a:xfrm>
              <a:off x="1181099" y="3184716"/>
              <a:ext cx="9620251" cy="2532254"/>
            </a:xfrm>
            <a:prstGeom prst="rect">
              <a:avLst/>
            </a:prstGeom>
            <a:noFill/>
            <a:ln>
              <a:solidFill>
                <a:srgbClr val="0A2B7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gradFill>
                  <a:gsLst>
                    <a:gs pos="83000">
                      <a:srgbClr val="C00000"/>
                    </a:gs>
                    <a:gs pos="100000">
                      <a:srgbClr val="C00000"/>
                    </a:gs>
                  </a:gsLst>
                  <a:lin ang="5400000" scaled="1"/>
                </a:gradFill>
                <a:effectLst/>
                <a:uLnTx/>
                <a:uFillTx/>
                <a:cs typeface="+mn-ea"/>
                <a:sym typeface="+mn-lt"/>
              </a:endParaRPr>
            </a:p>
          </p:txBody>
        </p:sp>
        <p:sp>
          <p:nvSpPr>
            <p:cNvPr id="13" name="矩形 12">
              <a:extLst>
                <a:ext uri="{FF2B5EF4-FFF2-40B4-BE49-F238E27FC236}">
                  <a16:creationId xmlns:a16="http://schemas.microsoft.com/office/drawing/2014/main" id="{B954C619-E172-9B86-FF20-ACA1209864C1}"/>
                </a:ext>
              </a:extLst>
            </p:cNvPr>
            <p:cNvSpPr/>
            <p:nvPr/>
          </p:nvSpPr>
          <p:spPr>
            <a:xfrm>
              <a:off x="1364130" y="3466844"/>
              <a:ext cx="9437220" cy="2042162"/>
            </a:xfrm>
            <a:prstGeom prst="rect">
              <a:avLst/>
            </a:prstGeom>
          </p:spPr>
          <p:txBody>
            <a:bodyPr wrap="square">
              <a:spAutoFit/>
            </a:bodyPr>
            <a:lstStyle/>
            <a:p>
              <a:pPr lvl="0" indent="457200">
                <a:lnSpc>
                  <a:spcPts val="3100"/>
                </a:lnSpc>
                <a:defRPr/>
              </a:pPr>
              <a:r>
                <a:rPr lang="zh-CN" altLang="en-US" dirty="0">
                  <a:latin typeface="微软雅黑" panose="020B0503020204020204" pitchFamily="34" charset="-122"/>
                  <a:ea typeface="微软雅黑" panose="020B0503020204020204" pitchFamily="34" charset="-122"/>
                </a:rPr>
                <a:t>常用解耦式运动控制方法保守，现有分层式耦合运动控制方法在运动跟踪层未考虑整车控制量约束和分层控制特性，导致运动跟踪控制效果差。轨迹规划模块受到无法考量复杂车辆动力学和轮胎特性的限制，难以满足瞬态动力学特性，盲目跟踪易致车辆失稳。</a:t>
              </a:r>
              <a:r>
                <a:rPr lang="zh-CN" altLang="en-US" b="1" dirty="0">
                  <a:latin typeface="微软雅黑" panose="020B0503020204020204" pitchFamily="34" charset="-122"/>
                  <a:ea typeface="微软雅黑" panose="020B0503020204020204" pitchFamily="34" charset="-122"/>
                </a:rPr>
                <a:t>依据分布式线控底盘特性构建横、纵向耦合运动的控制框架，调节车速并确保运动跟踪精度、扩展整车运动控制性能至稳定域边界是技术挑战。</a:t>
              </a:r>
              <a:endParaRPr kumimoji="0" lang="zh-CN" altLang="en-US" sz="2400" b="1" i="0" u="none" strike="noStrike" kern="1200" cap="none" spc="0" normalizeH="0" baseline="0" noProof="0" dirty="0">
                <a:ln>
                  <a:noFill/>
                </a:ln>
                <a:gradFill>
                  <a:gsLst>
                    <a:gs pos="0">
                      <a:prstClr val="black">
                        <a:lumMod val="50000"/>
                        <a:lumOff val="50000"/>
                      </a:prstClr>
                    </a:gs>
                    <a:gs pos="100000">
                      <a:prstClr val="black">
                        <a:lumMod val="50000"/>
                        <a:lumOff val="50000"/>
                      </a:prstClr>
                    </a:gs>
                  </a:gsLst>
                  <a:lin ang="2700000" scaled="1"/>
                </a:gradFill>
                <a:effectLst/>
                <a:uLnTx/>
                <a:uFillTx/>
                <a:latin typeface="微软雅黑" panose="020B0503020204020204" pitchFamily="34" charset="-122"/>
                <a:ea typeface="微软雅黑" panose="020B0503020204020204" pitchFamily="34" charset="-122"/>
                <a:cs typeface="+mn-ea"/>
                <a:sym typeface="+mn-lt"/>
              </a:endParaRPr>
            </a:p>
          </p:txBody>
        </p:sp>
        <p:grpSp>
          <p:nvGrpSpPr>
            <p:cNvPr id="14" name="组合 13">
              <a:extLst>
                <a:ext uri="{FF2B5EF4-FFF2-40B4-BE49-F238E27FC236}">
                  <a16:creationId xmlns:a16="http://schemas.microsoft.com/office/drawing/2014/main" id="{0B15D4F0-B3A5-5BC3-6E18-EEFFDB0699ED}"/>
                </a:ext>
              </a:extLst>
            </p:cNvPr>
            <p:cNvGrpSpPr/>
            <p:nvPr/>
          </p:nvGrpSpPr>
          <p:grpSpPr>
            <a:xfrm>
              <a:off x="1573093" y="2925193"/>
              <a:ext cx="3732840" cy="507531"/>
              <a:chOff x="4904651" y="1612051"/>
              <a:chExt cx="2529636" cy="677945"/>
            </a:xfrm>
          </p:grpSpPr>
          <p:sp>
            <p:nvSpPr>
              <p:cNvPr id="15" name="圆角矩形 12">
                <a:extLst>
                  <a:ext uri="{FF2B5EF4-FFF2-40B4-BE49-F238E27FC236}">
                    <a16:creationId xmlns:a16="http://schemas.microsoft.com/office/drawing/2014/main" id="{046987EC-A838-3CB7-DD98-EB20764B063F}"/>
                  </a:ext>
                </a:extLst>
              </p:cNvPr>
              <p:cNvSpPr/>
              <p:nvPr/>
            </p:nvSpPr>
            <p:spPr>
              <a:xfrm>
                <a:off x="4904651" y="1612051"/>
                <a:ext cx="2529636" cy="677945"/>
              </a:xfrm>
              <a:prstGeom prst="roundRect">
                <a:avLst>
                  <a:gd name="adj" fmla="val 0"/>
                </a:avLst>
              </a:prstGeom>
              <a:solidFill>
                <a:srgbClr val="0A2B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90000">
                        <a:srgbClr val="C00000"/>
                      </a:gs>
                      <a:gs pos="30000">
                        <a:srgbClr val="FF3300"/>
                      </a:gs>
                    </a:gsLst>
                    <a:lin ang="5400000" scaled="1"/>
                  </a:gradFill>
                  <a:effectLst/>
                  <a:uLnTx/>
                  <a:uFillTx/>
                  <a:cs typeface="+mn-ea"/>
                  <a:sym typeface="+mn-lt"/>
                </a:endParaRPr>
              </a:p>
            </p:txBody>
          </p:sp>
          <p:sp>
            <p:nvSpPr>
              <p:cNvPr id="16" name="矩形 15">
                <a:extLst>
                  <a:ext uri="{FF2B5EF4-FFF2-40B4-BE49-F238E27FC236}">
                    <a16:creationId xmlns:a16="http://schemas.microsoft.com/office/drawing/2014/main" id="{2C24F95F-3D71-5E0B-EC8B-96B8187F1FF3}"/>
                  </a:ext>
                </a:extLst>
              </p:cNvPr>
              <p:cNvSpPr/>
              <p:nvPr/>
            </p:nvSpPr>
            <p:spPr>
              <a:xfrm>
                <a:off x="5050444" y="1657627"/>
                <a:ext cx="2239192" cy="61667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cs typeface="+mn-ea"/>
                    <a:sym typeface="+mn-lt"/>
                  </a:rPr>
                  <a:t>运动控制研究现状不足</a:t>
                </a:r>
                <a:endParaRPr kumimoji="0" lang="zh-CN" altLang="en-US" sz="2400" b="1" i="0" u="none" strike="noStrike" kern="1200" cap="none" spc="0" normalizeH="0" baseline="0" noProof="0" dirty="0">
                  <a:ln>
                    <a:noFill/>
                  </a:ln>
                  <a:gradFill>
                    <a:gsLst>
                      <a:gs pos="83000">
                        <a:prstClr val="white"/>
                      </a:gs>
                      <a:gs pos="100000">
                        <a:prstClr val="white"/>
                      </a:gs>
                    </a:gsLst>
                    <a:lin ang="5400000" scaled="1"/>
                  </a:gradFill>
                  <a:effectLst/>
                  <a:uLnTx/>
                  <a:uFillTx/>
                  <a:cs typeface="+mn-ea"/>
                  <a:sym typeface="+mn-lt"/>
                </a:endParaRPr>
              </a:p>
            </p:txBody>
          </p:sp>
        </p:grpSp>
      </p:grpSp>
    </p:spTree>
    <p:extLst>
      <p:ext uri="{BB962C8B-B14F-4D97-AF65-F5344CB8AC3E}">
        <p14:creationId xmlns:p14="http://schemas.microsoft.com/office/powerpoint/2010/main" val="269984224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B971993A-AB65-F3D2-C458-2C0B114C8566}"/>
              </a:ext>
            </a:extLst>
          </p:cNvPr>
          <p:cNvGrpSpPr/>
          <p:nvPr/>
        </p:nvGrpSpPr>
        <p:grpSpPr>
          <a:xfrm>
            <a:off x="1952333" y="2568575"/>
            <a:ext cx="10433632" cy="1720850"/>
            <a:chOff x="1184275" y="2717410"/>
            <a:chExt cx="10433083" cy="1720986"/>
          </a:xfrm>
        </p:grpSpPr>
        <p:grpSp>
          <p:nvGrpSpPr>
            <p:cNvPr id="6" name="Group 4">
              <a:extLst>
                <a:ext uri="{FF2B5EF4-FFF2-40B4-BE49-F238E27FC236}">
                  <a16:creationId xmlns:a16="http://schemas.microsoft.com/office/drawing/2014/main" id="{42E4366D-EFA7-E39D-F2E0-1AE1714DD8A0}"/>
                </a:ext>
              </a:extLst>
            </p:cNvPr>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9" name="Freeform 6">
                <a:extLst>
                  <a:ext uri="{FF2B5EF4-FFF2-40B4-BE49-F238E27FC236}">
                    <a16:creationId xmlns:a16="http://schemas.microsoft.com/office/drawing/2014/main" id="{CC7FA328-3BB3-C669-939B-6248A9A31B70}"/>
                  </a:ext>
                </a:extLst>
              </p:cNvPr>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15" name="Freeform 7">
                <a:extLst>
                  <a:ext uri="{FF2B5EF4-FFF2-40B4-BE49-F238E27FC236}">
                    <a16:creationId xmlns:a16="http://schemas.microsoft.com/office/drawing/2014/main" id="{45224879-7D47-3916-3F30-142B7D366750}"/>
                  </a:ext>
                </a:extLst>
              </p:cNvPr>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8" name="文本框 7">
              <a:extLst>
                <a:ext uri="{FF2B5EF4-FFF2-40B4-BE49-F238E27FC236}">
                  <a16:creationId xmlns:a16="http://schemas.microsoft.com/office/drawing/2014/main" id="{8FEAFAA6-A4E0-ED69-2D0A-7C9DA5998BEA}"/>
                </a:ext>
              </a:extLst>
            </p:cNvPr>
            <p:cNvSpPr txBox="1"/>
            <p:nvPr/>
          </p:nvSpPr>
          <p:spPr>
            <a:xfrm>
              <a:off x="3187699" y="2847430"/>
              <a:ext cx="8429659" cy="1108084"/>
            </a:xfrm>
            <a:prstGeom prst="rect">
              <a:avLst/>
            </a:prstGeom>
            <a:noFill/>
          </p:spPr>
          <p:txBody>
            <a:bodyPr wrap="square" rtlCol="0">
              <a:spAutoFit/>
            </a:bodyPr>
            <a:lstStyle/>
            <a:p>
              <a:r>
                <a:rPr lang="zh-CN" altLang="en-US" sz="6600" b="1" spc="300" dirty="0">
                  <a:solidFill>
                    <a:schemeClr val="bg1"/>
                  </a:solidFill>
                  <a:latin typeface="微软雅黑" panose="020B0503020204020204" pitchFamily="34" charset="-122"/>
                  <a:ea typeface="微软雅黑" panose="020B0503020204020204" pitchFamily="34" charset="-122"/>
                </a:rPr>
                <a:t>研究目标及内容</a:t>
              </a:r>
            </a:p>
          </p:txBody>
        </p:sp>
      </p:gr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5ED5C6E-0952-ED66-6DC5-262C5C311880}"/>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11</a:t>
            </a:fld>
            <a:endParaRPr lang="zh-HK" altLang="en-US">
              <a:solidFill>
                <a:prstClr val="black">
                  <a:tint val="75000"/>
                </a:prstClr>
              </a:solidFill>
            </a:endParaRPr>
          </a:p>
        </p:txBody>
      </p:sp>
      <p:sp>
        <p:nvSpPr>
          <p:cNvPr id="22" name="矩形 3">
            <a:extLst>
              <a:ext uri="{FF2B5EF4-FFF2-40B4-BE49-F238E27FC236}">
                <a16:creationId xmlns:a16="http://schemas.microsoft.com/office/drawing/2014/main" id="{51756CD7-881C-6ECE-E44B-1BF977323EDE}"/>
              </a:ext>
            </a:extLst>
          </p:cNvPr>
          <p:cNvSpPr/>
          <p:nvPr/>
        </p:nvSpPr>
        <p:spPr>
          <a:xfrm>
            <a:off x="1212982" y="4285961"/>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A2B7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TextBox 74">
            <a:extLst>
              <a:ext uri="{FF2B5EF4-FFF2-40B4-BE49-F238E27FC236}">
                <a16:creationId xmlns:a16="http://schemas.microsoft.com/office/drawing/2014/main" id="{BE2981BE-192A-38C5-02A8-D01AFB5FA0AD}"/>
              </a:ext>
            </a:extLst>
          </p:cNvPr>
          <p:cNvSpPr txBox="1"/>
          <p:nvPr/>
        </p:nvSpPr>
        <p:spPr>
          <a:xfrm>
            <a:off x="4915656" y="1934758"/>
            <a:ext cx="6324351" cy="868956"/>
          </a:xfrm>
          <a:prstGeom prst="rect">
            <a:avLst/>
          </a:prstGeom>
          <a:noFill/>
        </p:spPr>
        <p:txBody>
          <a:bodyPr wrap="square" lIns="0" tIns="0" rIns="0" bIns="0" rtlCol="0">
            <a:spAutoFit/>
          </a:bodyPr>
          <a:lstStyle/>
          <a:p>
            <a:pPr marL="342900" indent="-342900" algn="just">
              <a:lnSpc>
                <a:spcPct val="150000"/>
              </a:lnSpc>
              <a:buFont typeface="Arial" panose="020B0604020202020204" pitchFamily="34" charset="0"/>
              <a:buChar char="•"/>
            </a:pPr>
            <a:r>
              <a:rPr lang="zh-CN" altLang="en-US" sz="2000" dirty="0">
                <a:latin typeface="字魂105号-简雅黑" panose="00000500000000000000" pitchFamily="2" charset="-122"/>
                <a:ea typeface="字魂105号-简雅黑" panose="00000500000000000000" pitchFamily="2" charset="-122"/>
                <a:sym typeface="字魂105号-简雅黑" panose="00000500000000000000" pitchFamily="2" charset="-122"/>
              </a:rPr>
              <a:t>针对分布式架构线控底盘电动汽车的特点，</a:t>
            </a:r>
            <a:r>
              <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rPr>
              <a:t>设计合理的紧急避障工况的运动规划路径。</a:t>
            </a:r>
            <a:endParaRPr lang="en-US" altLang="zh-CN"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3">
            <a:extLst>
              <a:ext uri="{FF2B5EF4-FFF2-40B4-BE49-F238E27FC236}">
                <a16:creationId xmlns:a16="http://schemas.microsoft.com/office/drawing/2014/main" id="{80DAC0DC-9C76-7B06-A532-9EBB726A2F9E}"/>
              </a:ext>
            </a:extLst>
          </p:cNvPr>
          <p:cNvSpPr/>
          <p:nvPr/>
        </p:nvSpPr>
        <p:spPr>
          <a:xfrm>
            <a:off x="1204432" y="2016751"/>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A2B7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5" name="组合 24">
            <a:extLst>
              <a:ext uri="{FF2B5EF4-FFF2-40B4-BE49-F238E27FC236}">
                <a16:creationId xmlns:a16="http://schemas.microsoft.com/office/drawing/2014/main" id="{20757280-2CE1-2F4E-599A-3684DC557FAE}"/>
              </a:ext>
            </a:extLst>
          </p:cNvPr>
          <p:cNvGrpSpPr/>
          <p:nvPr/>
        </p:nvGrpSpPr>
        <p:grpSpPr>
          <a:xfrm>
            <a:off x="899366" y="2131639"/>
            <a:ext cx="672074" cy="672075"/>
            <a:chOff x="2769119" y="1848492"/>
            <a:chExt cx="504056" cy="504056"/>
          </a:xfrm>
        </p:grpSpPr>
        <p:sp>
          <p:nvSpPr>
            <p:cNvPr id="26" name="椭圆 25">
              <a:extLst>
                <a:ext uri="{FF2B5EF4-FFF2-40B4-BE49-F238E27FC236}">
                  <a16:creationId xmlns:a16="http://schemas.microsoft.com/office/drawing/2014/main" id="{F7A22032-B696-EF1E-0628-BD3F82FED9F1}"/>
                </a:ext>
              </a:extLst>
            </p:cNvPr>
            <p:cNvSpPr/>
            <p:nvPr/>
          </p:nvSpPr>
          <p:spPr>
            <a:xfrm>
              <a:off x="2769119" y="1848492"/>
              <a:ext cx="504056" cy="504056"/>
            </a:xfrm>
            <a:prstGeom prst="ellipse">
              <a:avLst/>
            </a:prstGeom>
            <a:solidFill>
              <a:srgbClr val="28384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TextBox 66">
              <a:extLst>
                <a:ext uri="{FF2B5EF4-FFF2-40B4-BE49-F238E27FC236}">
                  <a16:creationId xmlns:a16="http://schemas.microsoft.com/office/drawing/2014/main" id="{4FE67EF6-11BB-C94E-2DF9-1A4EEB953537}"/>
                </a:ext>
              </a:extLst>
            </p:cNvPr>
            <p:cNvSpPr txBox="1"/>
            <p:nvPr/>
          </p:nvSpPr>
          <p:spPr>
            <a:xfrm>
              <a:off x="2808589" y="1931243"/>
              <a:ext cx="372939" cy="315423"/>
            </a:xfrm>
            <a:prstGeom prst="rect">
              <a:avLst/>
            </a:prstGeom>
            <a:noFill/>
          </p:spPr>
          <p:txBody>
            <a:bodyPr wrap="none" rtlCol="0">
              <a:spAutoFit/>
            </a:bodyPr>
            <a:lstStyle/>
            <a:p>
              <a:r>
                <a:rPr lang="en-US" altLang="zh-CN"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8" name="组合 27">
            <a:extLst>
              <a:ext uri="{FF2B5EF4-FFF2-40B4-BE49-F238E27FC236}">
                <a16:creationId xmlns:a16="http://schemas.microsoft.com/office/drawing/2014/main" id="{7EB3CB54-AE18-8249-AB21-AB7EFD6B2B86}"/>
              </a:ext>
            </a:extLst>
          </p:cNvPr>
          <p:cNvGrpSpPr/>
          <p:nvPr/>
        </p:nvGrpSpPr>
        <p:grpSpPr>
          <a:xfrm>
            <a:off x="899366" y="4384753"/>
            <a:ext cx="672074" cy="672075"/>
            <a:chOff x="2471142" y="2586760"/>
            <a:chExt cx="504056" cy="504056"/>
          </a:xfrm>
        </p:grpSpPr>
        <p:sp>
          <p:nvSpPr>
            <p:cNvPr id="29" name="椭圆 28">
              <a:extLst>
                <a:ext uri="{FF2B5EF4-FFF2-40B4-BE49-F238E27FC236}">
                  <a16:creationId xmlns:a16="http://schemas.microsoft.com/office/drawing/2014/main" id="{77D98546-04F6-87D1-E122-2F432E0D1F8E}"/>
                </a:ext>
              </a:extLst>
            </p:cNvPr>
            <p:cNvSpPr/>
            <p:nvPr/>
          </p:nvSpPr>
          <p:spPr>
            <a:xfrm>
              <a:off x="2471142" y="2586760"/>
              <a:ext cx="504056" cy="504056"/>
            </a:xfrm>
            <a:prstGeom prst="ellipse">
              <a:avLst/>
            </a:prstGeom>
            <a:solidFill>
              <a:srgbClr val="28384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TextBox 69">
              <a:extLst>
                <a:ext uri="{FF2B5EF4-FFF2-40B4-BE49-F238E27FC236}">
                  <a16:creationId xmlns:a16="http://schemas.microsoft.com/office/drawing/2014/main" id="{74DC4E37-BCD4-3B3B-0914-F5C06CCE8781}"/>
                </a:ext>
              </a:extLst>
            </p:cNvPr>
            <p:cNvSpPr txBox="1"/>
            <p:nvPr/>
          </p:nvSpPr>
          <p:spPr>
            <a:xfrm>
              <a:off x="2510612" y="2669511"/>
              <a:ext cx="372939" cy="315423"/>
            </a:xfrm>
            <a:prstGeom prst="rect">
              <a:avLst/>
            </a:prstGeom>
            <a:noFill/>
          </p:spPr>
          <p:txBody>
            <a:bodyPr wrap="none" rtlCol="0">
              <a:spAutoFit/>
            </a:bodyPr>
            <a:lstStyle/>
            <a:p>
              <a:r>
                <a:rPr lang="en-US" altLang="zh-CN"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1" name="TextBox 82">
            <a:extLst>
              <a:ext uri="{FF2B5EF4-FFF2-40B4-BE49-F238E27FC236}">
                <a16:creationId xmlns:a16="http://schemas.microsoft.com/office/drawing/2014/main" id="{97E0E04D-3E13-9DB6-7382-FAD860938984}"/>
              </a:ext>
            </a:extLst>
          </p:cNvPr>
          <p:cNvSpPr txBox="1"/>
          <p:nvPr/>
        </p:nvSpPr>
        <p:spPr>
          <a:xfrm>
            <a:off x="1850661" y="2241973"/>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r>
              <a:rPr lang="zh-CN" altLang="en-US" sz="2933"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研究目标一</a:t>
            </a:r>
          </a:p>
        </p:txBody>
      </p:sp>
      <p:sp>
        <p:nvSpPr>
          <p:cNvPr id="32" name="TextBox 83">
            <a:extLst>
              <a:ext uri="{FF2B5EF4-FFF2-40B4-BE49-F238E27FC236}">
                <a16:creationId xmlns:a16="http://schemas.microsoft.com/office/drawing/2014/main" id="{34E8AA61-C141-634C-591A-B199F1F86964}"/>
              </a:ext>
            </a:extLst>
          </p:cNvPr>
          <p:cNvSpPr txBox="1"/>
          <p:nvPr/>
        </p:nvSpPr>
        <p:spPr>
          <a:xfrm>
            <a:off x="1859211" y="4495087"/>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r>
              <a:rPr lang="zh-CN" altLang="en-US" sz="2933"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研究目标二</a:t>
            </a:r>
          </a:p>
        </p:txBody>
      </p:sp>
      <p:sp>
        <p:nvSpPr>
          <p:cNvPr id="33" name="TextBox 74">
            <a:extLst>
              <a:ext uri="{FF2B5EF4-FFF2-40B4-BE49-F238E27FC236}">
                <a16:creationId xmlns:a16="http://schemas.microsoft.com/office/drawing/2014/main" id="{9EBF469A-FD4B-F110-70DE-CA05B5C08082}"/>
              </a:ext>
            </a:extLst>
          </p:cNvPr>
          <p:cNvSpPr txBox="1"/>
          <p:nvPr/>
        </p:nvSpPr>
        <p:spPr>
          <a:xfrm>
            <a:off x="4924205" y="4161416"/>
            <a:ext cx="6307251" cy="1330621"/>
          </a:xfrm>
          <a:prstGeom prst="rect">
            <a:avLst/>
          </a:prstGeom>
          <a:noFill/>
        </p:spPr>
        <p:txBody>
          <a:bodyPr wrap="square" lIns="0" tIns="0" rIns="0" bIns="0" rtlCol="0">
            <a:spAutoFit/>
          </a:bodyPr>
          <a:lstStyle/>
          <a:p>
            <a:pPr marL="342900" indent="-342900" algn="just">
              <a:lnSpc>
                <a:spcPct val="150000"/>
              </a:lnSpc>
              <a:buFont typeface="Arial" panose="020B0604020202020204" pitchFamily="34" charset="0"/>
              <a:buChar char="•"/>
            </a:pPr>
            <a:r>
              <a:rPr lang="zh-CN" altLang="en-US" sz="2000" dirty="0">
                <a:latin typeface="字魂105号-简雅黑" panose="00000500000000000000" pitchFamily="2" charset="-122"/>
                <a:ea typeface="字魂105号-简雅黑" panose="00000500000000000000" pitchFamily="2" charset="-122"/>
                <a:sym typeface="字魂105号-简雅黑" panose="00000500000000000000" pitchFamily="2" charset="-122"/>
              </a:rPr>
              <a:t>根据分布式架构线控底盘的驱动、转向、制动以及悬架对稳定性的影响，设计</a:t>
            </a:r>
            <a:r>
              <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rPr>
              <a:t>能满足线控底盘车辆在紧急避障工况下的运动控制策略</a:t>
            </a:r>
            <a:r>
              <a:rPr lang="zh-CN" altLang="en-US" sz="2000"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endParaRPr lang="en-US" altLang="zh-CN" sz="20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extLst>
      <p:ext uri="{BB962C8B-B14F-4D97-AF65-F5344CB8AC3E}">
        <p14:creationId xmlns:p14="http://schemas.microsoft.com/office/powerpoint/2010/main" val="52826265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9BBF0CE-917B-4663-C7CD-0186CDA42251}"/>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12</a:t>
            </a:fld>
            <a:endParaRPr lang="zh-HK" altLang="en-US">
              <a:solidFill>
                <a:prstClr val="black">
                  <a:tint val="75000"/>
                </a:prstClr>
              </a:solidFill>
            </a:endParaRPr>
          </a:p>
        </p:txBody>
      </p:sp>
      <p:grpSp>
        <p:nvGrpSpPr>
          <p:cNvPr id="78" name="Group 56">
            <a:extLst>
              <a:ext uri="{FF2B5EF4-FFF2-40B4-BE49-F238E27FC236}">
                <a16:creationId xmlns:a16="http://schemas.microsoft.com/office/drawing/2014/main" id="{E2CA6E90-5728-BCB7-2544-1AFFDEDC49F5}"/>
              </a:ext>
            </a:extLst>
          </p:cNvPr>
          <p:cNvGrpSpPr/>
          <p:nvPr/>
        </p:nvGrpSpPr>
        <p:grpSpPr bwMode="auto">
          <a:xfrm>
            <a:off x="2419349" y="2362921"/>
            <a:ext cx="7981950" cy="949325"/>
            <a:chOff x="839" y="1298"/>
            <a:chExt cx="4530" cy="598"/>
          </a:xfrm>
        </p:grpSpPr>
        <p:grpSp>
          <p:nvGrpSpPr>
            <p:cNvPr id="79" name="Group 42">
              <a:extLst>
                <a:ext uri="{FF2B5EF4-FFF2-40B4-BE49-F238E27FC236}">
                  <a16:creationId xmlns:a16="http://schemas.microsoft.com/office/drawing/2014/main" id="{CBE66820-B759-C979-FBE4-7CBC6A42E157}"/>
                </a:ext>
              </a:extLst>
            </p:cNvPr>
            <p:cNvGrpSpPr/>
            <p:nvPr/>
          </p:nvGrpSpPr>
          <p:grpSpPr bwMode="auto">
            <a:xfrm>
              <a:off x="962" y="1301"/>
              <a:ext cx="3868" cy="434"/>
              <a:chOff x="720" y="1392"/>
              <a:chExt cx="4058" cy="480"/>
            </a:xfrm>
          </p:grpSpPr>
          <p:sp>
            <p:nvSpPr>
              <p:cNvPr id="83" name="AutoShape 43">
                <a:extLst>
                  <a:ext uri="{FF2B5EF4-FFF2-40B4-BE49-F238E27FC236}">
                    <a16:creationId xmlns:a16="http://schemas.microsoft.com/office/drawing/2014/main" id="{62EDB15E-5C90-D003-2B53-40EF04351C39}"/>
                  </a:ext>
                </a:extLst>
              </p:cNvPr>
              <p:cNvSpPr>
                <a:spLocks noChangeArrowheads="1"/>
              </p:cNvSpPr>
              <p:nvPr/>
            </p:nvSpPr>
            <p:spPr bwMode="gray">
              <a:xfrm>
                <a:off x="720" y="1392"/>
                <a:ext cx="4058" cy="480"/>
              </a:xfrm>
              <a:prstGeom prst="roundRect">
                <a:avLst>
                  <a:gd name="adj" fmla="val 17509"/>
                </a:avLst>
              </a:prstGeom>
              <a:gradFill rotWithShape="1">
                <a:gsLst>
                  <a:gs pos="0">
                    <a:schemeClr val="accent1"/>
                  </a:gs>
                  <a:gs pos="50000">
                    <a:schemeClr val="accent1">
                      <a:gamma/>
                      <a:shade val="92157"/>
                      <a:invGamma/>
                    </a:schemeClr>
                  </a:gs>
                  <a:gs pos="100000">
                    <a:schemeClr val="accent1"/>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84" name="Group 44">
                <a:extLst>
                  <a:ext uri="{FF2B5EF4-FFF2-40B4-BE49-F238E27FC236}">
                    <a16:creationId xmlns:a16="http://schemas.microsoft.com/office/drawing/2014/main" id="{5247DF04-211F-380F-94D0-7BCAA833EEF6}"/>
                  </a:ext>
                </a:extLst>
              </p:cNvPr>
              <p:cNvGrpSpPr/>
              <p:nvPr/>
            </p:nvGrpSpPr>
            <p:grpSpPr bwMode="auto">
              <a:xfrm>
                <a:off x="730" y="1407"/>
                <a:ext cx="4043" cy="444"/>
                <a:chOff x="744" y="1407"/>
                <a:chExt cx="3988" cy="444"/>
              </a:xfrm>
            </p:grpSpPr>
            <p:sp>
              <p:nvSpPr>
                <p:cNvPr id="85" name="AutoShape 45">
                  <a:extLst>
                    <a:ext uri="{FF2B5EF4-FFF2-40B4-BE49-F238E27FC236}">
                      <a16:creationId xmlns:a16="http://schemas.microsoft.com/office/drawing/2014/main" id="{F862E789-453E-272E-B217-226A770FEAFE}"/>
                    </a:ext>
                  </a:extLst>
                </p:cNvPr>
                <p:cNvSpPr>
                  <a:spLocks noChangeArrowheads="1"/>
                </p:cNvSpPr>
                <p:nvPr/>
              </p:nvSpPr>
              <p:spPr bwMode="gray">
                <a:xfrm>
                  <a:off x="744" y="1736"/>
                  <a:ext cx="3988" cy="115"/>
                </a:xfrm>
                <a:prstGeom prst="roundRect">
                  <a:avLst>
                    <a:gd name="adj" fmla="val 50000"/>
                  </a:avLst>
                </a:prstGeom>
                <a:gradFill rotWithShape="1">
                  <a:gsLst>
                    <a:gs pos="0">
                      <a:schemeClr val="accent1">
                        <a:alpha val="0"/>
                      </a:schemeClr>
                    </a:gs>
                    <a:gs pos="100000">
                      <a:schemeClr val="accent1">
                        <a:gamma/>
                        <a:tint val="0"/>
                        <a:invGamma/>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6" name="AutoShape 46">
                  <a:extLst>
                    <a:ext uri="{FF2B5EF4-FFF2-40B4-BE49-F238E27FC236}">
                      <a16:creationId xmlns:a16="http://schemas.microsoft.com/office/drawing/2014/main" id="{F6CBAC2F-EBE9-E709-D06A-8AA575D573E5}"/>
                    </a:ext>
                  </a:extLst>
                </p:cNvPr>
                <p:cNvSpPr>
                  <a:spLocks noChangeArrowheads="1"/>
                </p:cNvSpPr>
                <p:nvPr/>
              </p:nvSpPr>
              <p:spPr bwMode="gray">
                <a:xfrm>
                  <a:off x="744" y="1407"/>
                  <a:ext cx="3988" cy="115"/>
                </a:xfrm>
                <a:prstGeom prst="roundRect">
                  <a:avLst>
                    <a:gd name="adj" fmla="val 50000"/>
                  </a:avLst>
                </a:prstGeom>
                <a:gradFill rotWithShape="1">
                  <a:gsLst>
                    <a:gs pos="0">
                      <a:schemeClr val="accent1">
                        <a:gamma/>
                        <a:tint val="0"/>
                        <a:invGamma/>
                      </a:schemeClr>
                    </a:gs>
                    <a:gs pos="100000">
                      <a:schemeClr val="accent1">
                        <a:alpha val="0"/>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80" name="Text Box 47">
              <a:extLst>
                <a:ext uri="{FF2B5EF4-FFF2-40B4-BE49-F238E27FC236}">
                  <a16:creationId xmlns:a16="http://schemas.microsoft.com/office/drawing/2014/main" id="{CA6CD2BB-C32F-6DDF-526A-E08D60EA653E}"/>
                </a:ext>
              </a:extLst>
            </p:cNvPr>
            <p:cNvSpPr txBox="1">
              <a:spLocks noChangeArrowheads="1"/>
            </p:cNvSpPr>
            <p:nvPr/>
          </p:nvSpPr>
          <p:spPr bwMode="white">
            <a:xfrm>
              <a:off x="1256" y="1368"/>
              <a:ext cx="4113" cy="291"/>
            </a:xfrm>
            <a:prstGeom prst="rect">
              <a:avLst/>
            </a:prstGeom>
            <a:noFill/>
            <a:ln w="9525">
              <a:noFill/>
              <a:miter lim="800000"/>
            </a:ln>
            <a:effectLst/>
          </p:spPr>
          <p:txBody>
            <a:bodyPr wrap="square">
              <a:spAutoFit/>
            </a:bodyPr>
            <a:lstStyle/>
            <a:p>
              <a:pPr marL="457200" indent="-457200">
                <a:spcBef>
                  <a:spcPct val="50000"/>
                </a:spcBef>
                <a:buClr>
                  <a:schemeClr val="tx1"/>
                </a:buClr>
              </a:pP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分布式线控底盘汽车系统动力学建模及验证</a:t>
              </a:r>
              <a:endParaRPr 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1" name="Picture 52" descr="1">
              <a:extLst>
                <a:ext uri="{FF2B5EF4-FFF2-40B4-BE49-F238E27FC236}">
                  <a16:creationId xmlns:a16="http://schemas.microsoft.com/office/drawing/2014/main" id="{8DC2F4DD-46B9-A322-CA14-76C838F3E1BA}"/>
                </a:ext>
              </a:extLst>
            </p:cNvPr>
            <p:cNvPicPr>
              <a:picLocks noChangeAspect="1" noChangeArrowheads="1"/>
            </p:cNvPicPr>
            <p:nvPr/>
          </p:nvPicPr>
          <p:blipFill>
            <a:blip r:embed="rId3" cstate="print">
              <a:lum bright="-6000" contrast="24000"/>
            </a:blip>
            <a:srcRect l="42606" t="64474" r="19473"/>
            <a:stretch>
              <a:fillRect/>
            </a:stretch>
          </p:blipFill>
          <p:spPr bwMode="auto">
            <a:xfrm>
              <a:off x="839" y="1298"/>
              <a:ext cx="499" cy="598"/>
            </a:xfrm>
            <a:prstGeom prst="rect">
              <a:avLst/>
            </a:prstGeom>
            <a:noFill/>
          </p:spPr>
        </p:pic>
        <p:sp>
          <p:nvSpPr>
            <p:cNvPr id="82" name="Text Box 53">
              <a:extLst>
                <a:ext uri="{FF2B5EF4-FFF2-40B4-BE49-F238E27FC236}">
                  <a16:creationId xmlns:a16="http://schemas.microsoft.com/office/drawing/2014/main" id="{2DFBA5EA-2ECC-0D32-0BED-10490EA977EA}"/>
                </a:ext>
              </a:extLst>
            </p:cNvPr>
            <p:cNvSpPr txBox="1">
              <a:spLocks noChangeArrowheads="1"/>
            </p:cNvSpPr>
            <p:nvPr/>
          </p:nvSpPr>
          <p:spPr bwMode="white">
            <a:xfrm>
              <a:off x="1041" y="1359"/>
              <a:ext cx="240" cy="288"/>
            </a:xfrm>
            <a:prstGeom prst="rect">
              <a:avLst/>
            </a:prstGeom>
            <a:noFill/>
            <a:ln w="9525">
              <a:noFill/>
              <a:miter lim="800000"/>
            </a:ln>
            <a:effectLst/>
          </p:spPr>
          <p:txBody>
            <a:bodyPr>
              <a:spAutoFit/>
            </a:bodyPr>
            <a:lstStyle/>
            <a:p>
              <a:pPr algn="ctr">
                <a:spcBef>
                  <a:spcPct val="50000"/>
                </a:spcBef>
              </a:pPr>
              <a:r>
                <a:rPr lang="en-US" altLang="zh-CN" sz="2400" b="1">
                  <a:solidFill>
                    <a:schemeClr val="bg1"/>
                  </a:solidFill>
                  <a:latin typeface="微软雅黑" panose="020B0503020204020204" pitchFamily="34" charset="-122"/>
                  <a:ea typeface="微软雅黑" panose="020B0503020204020204" pitchFamily="34" charset="-122"/>
                  <a:cs typeface="Arial" panose="020B0604020202020204" pitchFamily="34" charset="0"/>
                </a:rPr>
                <a:t>1</a:t>
              </a:r>
            </a:p>
          </p:txBody>
        </p:sp>
      </p:grpSp>
      <p:grpSp>
        <p:nvGrpSpPr>
          <p:cNvPr id="96" name="Group 58">
            <a:extLst>
              <a:ext uri="{FF2B5EF4-FFF2-40B4-BE49-F238E27FC236}">
                <a16:creationId xmlns:a16="http://schemas.microsoft.com/office/drawing/2014/main" id="{D5786DF9-BA38-2E7E-4CE1-90EE0E520FE1}"/>
              </a:ext>
            </a:extLst>
          </p:cNvPr>
          <p:cNvGrpSpPr/>
          <p:nvPr/>
        </p:nvGrpSpPr>
        <p:grpSpPr bwMode="auto">
          <a:xfrm>
            <a:off x="2419349" y="4092981"/>
            <a:ext cx="7172325" cy="949325"/>
            <a:chOff x="846" y="2374"/>
            <a:chExt cx="4057" cy="598"/>
          </a:xfrm>
        </p:grpSpPr>
        <p:grpSp>
          <p:nvGrpSpPr>
            <p:cNvPr id="97" name="Group 37">
              <a:extLst>
                <a:ext uri="{FF2B5EF4-FFF2-40B4-BE49-F238E27FC236}">
                  <a16:creationId xmlns:a16="http://schemas.microsoft.com/office/drawing/2014/main" id="{FDF20C71-1723-C6C4-C9F6-A2C84C66E0B7}"/>
                </a:ext>
              </a:extLst>
            </p:cNvPr>
            <p:cNvGrpSpPr/>
            <p:nvPr/>
          </p:nvGrpSpPr>
          <p:grpSpPr bwMode="auto">
            <a:xfrm>
              <a:off x="962" y="2390"/>
              <a:ext cx="3868" cy="434"/>
              <a:chOff x="720" y="1392"/>
              <a:chExt cx="4058" cy="480"/>
            </a:xfrm>
          </p:grpSpPr>
          <p:sp>
            <p:nvSpPr>
              <p:cNvPr id="101" name="AutoShape 38">
                <a:extLst>
                  <a:ext uri="{FF2B5EF4-FFF2-40B4-BE49-F238E27FC236}">
                    <a16:creationId xmlns:a16="http://schemas.microsoft.com/office/drawing/2014/main" id="{C1C6795D-87E9-C7D6-8207-6DCE042A6BB4}"/>
                  </a:ext>
                </a:extLst>
              </p:cNvPr>
              <p:cNvSpPr>
                <a:spLocks noChangeArrowheads="1"/>
              </p:cNvSpPr>
              <p:nvPr/>
            </p:nvSpPr>
            <p:spPr bwMode="gray">
              <a:xfrm>
                <a:off x="720" y="1392"/>
                <a:ext cx="4058" cy="480"/>
              </a:xfrm>
              <a:prstGeom prst="roundRect">
                <a:avLst>
                  <a:gd name="adj" fmla="val 17509"/>
                </a:avLst>
              </a:prstGeom>
              <a:gradFill rotWithShape="1">
                <a:gsLst>
                  <a:gs pos="0">
                    <a:schemeClr val="hlink"/>
                  </a:gs>
                  <a:gs pos="50000">
                    <a:schemeClr val="hlink">
                      <a:gamma/>
                      <a:shade val="92157"/>
                      <a:invGamma/>
                    </a:schemeClr>
                  </a:gs>
                  <a:gs pos="100000">
                    <a:schemeClr val="hlink"/>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02" name="Group 39">
                <a:extLst>
                  <a:ext uri="{FF2B5EF4-FFF2-40B4-BE49-F238E27FC236}">
                    <a16:creationId xmlns:a16="http://schemas.microsoft.com/office/drawing/2014/main" id="{2E296A52-BFCE-EA42-EB52-654F6BF018D0}"/>
                  </a:ext>
                </a:extLst>
              </p:cNvPr>
              <p:cNvGrpSpPr/>
              <p:nvPr/>
            </p:nvGrpSpPr>
            <p:grpSpPr bwMode="auto">
              <a:xfrm>
                <a:off x="730" y="1407"/>
                <a:ext cx="4043" cy="444"/>
                <a:chOff x="744" y="1407"/>
                <a:chExt cx="3988" cy="444"/>
              </a:xfrm>
            </p:grpSpPr>
            <p:sp>
              <p:nvSpPr>
                <p:cNvPr id="103" name="AutoShape 40">
                  <a:extLst>
                    <a:ext uri="{FF2B5EF4-FFF2-40B4-BE49-F238E27FC236}">
                      <a16:creationId xmlns:a16="http://schemas.microsoft.com/office/drawing/2014/main" id="{BE1E4743-7413-AB1B-EAC0-2DED65E3A874}"/>
                    </a:ext>
                  </a:extLst>
                </p:cNvPr>
                <p:cNvSpPr>
                  <a:spLocks noChangeArrowheads="1"/>
                </p:cNvSpPr>
                <p:nvPr/>
              </p:nvSpPr>
              <p:spPr bwMode="gray">
                <a:xfrm>
                  <a:off x="744" y="1736"/>
                  <a:ext cx="3988" cy="115"/>
                </a:xfrm>
                <a:prstGeom prst="roundRect">
                  <a:avLst>
                    <a:gd name="adj" fmla="val 50000"/>
                  </a:avLst>
                </a:prstGeom>
                <a:gradFill rotWithShape="1">
                  <a:gsLst>
                    <a:gs pos="0">
                      <a:schemeClr val="hlink">
                        <a:alpha val="0"/>
                      </a:schemeClr>
                    </a:gs>
                    <a:gs pos="100000">
                      <a:schemeClr val="hlink">
                        <a:gamma/>
                        <a:tint val="0"/>
                        <a:invGamma/>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4" name="AutoShape 41">
                  <a:extLst>
                    <a:ext uri="{FF2B5EF4-FFF2-40B4-BE49-F238E27FC236}">
                      <a16:creationId xmlns:a16="http://schemas.microsoft.com/office/drawing/2014/main" id="{29FB1938-C2C6-ED2E-5B54-BE0B5AA804DE}"/>
                    </a:ext>
                  </a:extLst>
                </p:cNvPr>
                <p:cNvSpPr>
                  <a:spLocks noChangeArrowheads="1"/>
                </p:cNvSpPr>
                <p:nvPr/>
              </p:nvSpPr>
              <p:spPr bwMode="gray">
                <a:xfrm>
                  <a:off x="744" y="1407"/>
                  <a:ext cx="3988" cy="115"/>
                </a:xfrm>
                <a:prstGeom prst="roundRect">
                  <a:avLst>
                    <a:gd name="adj" fmla="val 50000"/>
                  </a:avLst>
                </a:prstGeom>
                <a:gradFill rotWithShape="1">
                  <a:gsLst>
                    <a:gs pos="0">
                      <a:schemeClr val="hlink">
                        <a:gamma/>
                        <a:tint val="0"/>
                        <a:invGamma/>
                      </a:schemeClr>
                    </a:gs>
                    <a:gs pos="100000">
                      <a:schemeClr val="hlink">
                        <a:alpha val="0"/>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98" name="Text Box 49">
              <a:extLst>
                <a:ext uri="{FF2B5EF4-FFF2-40B4-BE49-F238E27FC236}">
                  <a16:creationId xmlns:a16="http://schemas.microsoft.com/office/drawing/2014/main" id="{DA717B76-B1B5-9EF1-308A-8BFBDA2DB779}"/>
                </a:ext>
              </a:extLst>
            </p:cNvPr>
            <p:cNvSpPr txBox="1">
              <a:spLocks noChangeArrowheads="1"/>
            </p:cNvSpPr>
            <p:nvPr/>
          </p:nvSpPr>
          <p:spPr bwMode="white">
            <a:xfrm>
              <a:off x="1263" y="2454"/>
              <a:ext cx="3640" cy="290"/>
            </a:xfrm>
            <a:prstGeom prst="rect">
              <a:avLst/>
            </a:prstGeom>
            <a:noFill/>
            <a:ln w="9525">
              <a:noFill/>
              <a:miter lim="800000"/>
            </a:ln>
            <a:effectLst/>
          </p:spPr>
          <p:txBody>
            <a:bodyPr wrap="square">
              <a:spAutoFit/>
            </a:bodyPr>
            <a:lstStyle/>
            <a:p>
              <a:pPr marL="457200" indent="-457200">
                <a:spcBef>
                  <a:spcPct val="50000"/>
                </a:spcBef>
                <a:buClr>
                  <a:schemeClr val="tx1"/>
                </a:buClr>
              </a:pP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分布式线控底盘耦合运动控制</a:t>
              </a:r>
              <a:endParaRPr lang="zh-CN"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9" name="Picture 50" descr="1">
              <a:extLst>
                <a:ext uri="{FF2B5EF4-FFF2-40B4-BE49-F238E27FC236}">
                  <a16:creationId xmlns:a16="http://schemas.microsoft.com/office/drawing/2014/main" id="{DA9F0726-0339-E872-E2F2-5861C1D7A757}"/>
                </a:ext>
              </a:extLst>
            </p:cNvPr>
            <p:cNvPicPr>
              <a:picLocks noChangeAspect="1" noChangeArrowheads="1"/>
            </p:cNvPicPr>
            <p:nvPr/>
          </p:nvPicPr>
          <p:blipFill>
            <a:blip r:embed="rId3" cstate="print">
              <a:lum bright="-6000" contrast="24000"/>
            </a:blip>
            <a:srcRect l="42606" t="64474" r="19473"/>
            <a:stretch>
              <a:fillRect/>
            </a:stretch>
          </p:blipFill>
          <p:spPr bwMode="auto">
            <a:xfrm>
              <a:off x="846" y="2374"/>
              <a:ext cx="499" cy="598"/>
            </a:xfrm>
            <a:prstGeom prst="rect">
              <a:avLst/>
            </a:prstGeom>
            <a:noFill/>
          </p:spPr>
        </p:pic>
        <p:sp>
          <p:nvSpPr>
            <p:cNvPr id="100" name="Text Box 55">
              <a:extLst>
                <a:ext uri="{FF2B5EF4-FFF2-40B4-BE49-F238E27FC236}">
                  <a16:creationId xmlns:a16="http://schemas.microsoft.com/office/drawing/2014/main" id="{5F07E4F0-FFBD-5863-CDE6-C23B867C388F}"/>
                </a:ext>
              </a:extLst>
            </p:cNvPr>
            <p:cNvSpPr txBox="1">
              <a:spLocks noChangeArrowheads="1"/>
            </p:cNvSpPr>
            <p:nvPr/>
          </p:nvSpPr>
          <p:spPr bwMode="white">
            <a:xfrm>
              <a:off x="1049" y="2459"/>
              <a:ext cx="240" cy="288"/>
            </a:xfrm>
            <a:prstGeom prst="rect">
              <a:avLst/>
            </a:prstGeom>
            <a:noFill/>
            <a:ln w="9525">
              <a:noFill/>
              <a:miter lim="800000"/>
            </a:ln>
            <a:effectLst/>
          </p:spPr>
          <p:txBody>
            <a:bodyPr>
              <a:spAutoFit/>
            </a:bodyPr>
            <a:lstStyle/>
            <a:p>
              <a:pPr algn="ctr">
                <a:spcBef>
                  <a:spcPct val="50000"/>
                </a:spcBef>
              </a:pP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3</a:t>
              </a:r>
            </a:p>
          </p:txBody>
        </p:sp>
      </p:grpSp>
      <p:sp>
        <p:nvSpPr>
          <p:cNvPr id="105" name="AutoShape 6">
            <a:extLst>
              <a:ext uri="{FF2B5EF4-FFF2-40B4-BE49-F238E27FC236}">
                <a16:creationId xmlns:a16="http://schemas.microsoft.com/office/drawing/2014/main" id="{00D89B45-8398-09CF-F305-F70D9DAB0CD7}"/>
              </a:ext>
            </a:extLst>
          </p:cNvPr>
          <p:cNvSpPr>
            <a:spLocks noChangeArrowheads="1"/>
          </p:cNvSpPr>
          <p:nvPr/>
        </p:nvSpPr>
        <p:spPr bwMode="gray">
          <a:xfrm>
            <a:off x="3298598" y="1413649"/>
            <a:ext cx="5580255" cy="479490"/>
          </a:xfrm>
          <a:prstGeom prst="roundRect">
            <a:avLst>
              <a:gd name="adj" fmla="val 50000"/>
            </a:avLst>
          </a:prstGeom>
          <a:solidFill>
            <a:srgbClr val="0A2B7C"/>
          </a:solidFill>
          <a:ln w="28575" algn="ctr">
            <a:solidFill>
              <a:srgbClr val="FFFFFF"/>
            </a:solidFill>
            <a:round/>
          </a:ln>
          <a:effectLst>
            <a:outerShdw dist="107763" dir="2700000" algn="ctr" rotWithShape="0">
              <a:srgbClr val="C0C0C0">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defRPr/>
            </a:pPr>
            <a:r>
              <a:rPr lang="zh-CN" altLang="en-US" sz="2400" b="1" kern="0" dirty="0">
                <a:solidFill>
                  <a:srgbClr val="FFFFFF"/>
                </a:solidFill>
                <a:latin typeface="微软雅黑" panose="020B0503020204020204" pitchFamily="34" charset="-122"/>
                <a:ea typeface="微软雅黑" panose="020B0503020204020204" pitchFamily="34" charset="-122"/>
              </a:rPr>
              <a:t>研究内容</a:t>
            </a:r>
          </a:p>
        </p:txBody>
      </p:sp>
      <p:grpSp>
        <p:nvGrpSpPr>
          <p:cNvPr id="106" name="Group 58">
            <a:extLst>
              <a:ext uri="{FF2B5EF4-FFF2-40B4-BE49-F238E27FC236}">
                <a16:creationId xmlns:a16="http://schemas.microsoft.com/office/drawing/2014/main" id="{79A34CA8-FEB2-4A41-FCE0-1E5D19D52E1D}"/>
              </a:ext>
            </a:extLst>
          </p:cNvPr>
          <p:cNvGrpSpPr/>
          <p:nvPr/>
        </p:nvGrpSpPr>
        <p:grpSpPr bwMode="auto">
          <a:xfrm>
            <a:off x="2419350" y="5001310"/>
            <a:ext cx="7172323" cy="949325"/>
            <a:chOff x="846" y="2374"/>
            <a:chExt cx="4057" cy="598"/>
          </a:xfrm>
        </p:grpSpPr>
        <p:grpSp>
          <p:nvGrpSpPr>
            <p:cNvPr id="107" name="Group 37">
              <a:extLst>
                <a:ext uri="{FF2B5EF4-FFF2-40B4-BE49-F238E27FC236}">
                  <a16:creationId xmlns:a16="http://schemas.microsoft.com/office/drawing/2014/main" id="{65F12D41-B378-0EE9-8FC3-DBFB0F89D9DB}"/>
                </a:ext>
              </a:extLst>
            </p:cNvPr>
            <p:cNvGrpSpPr/>
            <p:nvPr/>
          </p:nvGrpSpPr>
          <p:grpSpPr bwMode="auto">
            <a:xfrm>
              <a:off x="962" y="2390"/>
              <a:ext cx="3868" cy="434"/>
              <a:chOff x="720" y="1392"/>
              <a:chExt cx="4058" cy="480"/>
            </a:xfrm>
          </p:grpSpPr>
          <p:sp>
            <p:nvSpPr>
              <p:cNvPr id="111" name="AutoShape 38">
                <a:extLst>
                  <a:ext uri="{FF2B5EF4-FFF2-40B4-BE49-F238E27FC236}">
                    <a16:creationId xmlns:a16="http://schemas.microsoft.com/office/drawing/2014/main" id="{8197FDEB-140C-8FA9-D95A-4DF7E2E2BB78}"/>
                  </a:ext>
                </a:extLst>
              </p:cNvPr>
              <p:cNvSpPr>
                <a:spLocks noChangeArrowheads="1"/>
              </p:cNvSpPr>
              <p:nvPr/>
            </p:nvSpPr>
            <p:spPr bwMode="gray">
              <a:xfrm>
                <a:off x="720" y="1392"/>
                <a:ext cx="4058" cy="480"/>
              </a:xfrm>
              <a:prstGeom prst="roundRect">
                <a:avLst>
                  <a:gd name="adj" fmla="val 17509"/>
                </a:avLst>
              </a:prstGeom>
              <a:gradFill rotWithShape="1">
                <a:gsLst>
                  <a:gs pos="0">
                    <a:schemeClr val="hlink"/>
                  </a:gs>
                  <a:gs pos="50000">
                    <a:schemeClr val="hlink">
                      <a:gamma/>
                      <a:shade val="92157"/>
                      <a:invGamma/>
                    </a:schemeClr>
                  </a:gs>
                  <a:gs pos="100000">
                    <a:schemeClr val="hlink"/>
                  </a:gs>
                </a:gsLst>
                <a:lin ang="5400000" scaled="1"/>
              </a:gradFill>
              <a:ln w="9525">
                <a:noFill/>
                <a:round/>
              </a:ln>
              <a:effec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grpSp>
            <p:nvGrpSpPr>
              <p:cNvPr id="112" name="Group 39">
                <a:extLst>
                  <a:ext uri="{FF2B5EF4-FFF2-40B4-BE49-F238E27FC236}">
                    <a16:creationId xmlns:a16="http://schemas.microsoft.com/office/drawing/2014/main" id="{0DC91D59-3C18-462E-64B0-7B8A7FDF23E7}"/>
                  </a:ext>
                </a:extLst>
              </p:cNvPr>
              <p:cNvGrpSpPr/>
              <p:nvPr/>
            </p:nvGrpSpPr>
            <p:grpSpPr bwMode="auto">
              <a:xfrm>
                <a:off x="730" y="1407"/>
                <a:ext cx="4043" cy="444"/>
                <a:chOff x="744" y="1407"/>
                <a:chExt cx="3988" cy="444"/>
              </a:xfrm>
            </p:grpSpPr>
            <p:sp>
              <p:nvSpPr>
                <p:cNvPr id="113" name="AutoShape 40">
                  <a:extLst>
                    <a:ext uri="{FF2B5EF4-FFF2-40B4-BE49-F238E27FC236}">
                      <a16:creationId xmlns:a16="http://schemas.microsoft.com/office/drawing/2014/main" id="{FF3D97B4-456E-53D7-DEEF-A60F15F6F272}"/>
                    </a:ext>
                  </a:extLst>
                </p:cNvPr>
                <p:cNvSpPr>
                  <a:spLocks noChangeArrowheads="1"/>
                </p:cNvSpPr>
                <p:nvPr/>
              </p:nvSpPr>
              <p:spPr bwMode="gray">
                <a:xfrm>
                  <a:off x="744" y="1736"/>
                  <a:ext cx="3988" cy="115"/>
                </a:xfrm>
                <a:prstGeom prst="roundRect">
                  <a:avLst>
                    <a:gd name="adj" fmla="val 50000"/>
                  </a:avLst>
                </a:prstGeom>
                <a:gradFill rotWithShape="1">
                  <a:gsLst>
                    <a:gs pos="0">
                      <a:schemeClr val="hlink">
                        <a:alpha val="0"/>
                      </a:schemeClr>
                    </a:gs>
                    <a:gs pos="100000">
                      <a:schemeClr val="hlink">
                        <a:gamma/>
                        <a:tint val="0"/>
                        <a:invGamma/>
                      </a:schemeClr>
                    </a:gs>
                  </a:gsLst>
                  <a:lin ang="5400000" scaled="1"/>
                </a:gradFill>
                <a:ln w="9525">
                  <a:noFill/>
                  <a:round/>
                </a:ln>
                <a:effectLst>
                  <a:outerShdw blurRad="50800" dist="50800" dir="5400000" algn="ctr" rotWithShape="0">
                    <a:schemeClr val="accent2">
                      <a:lumMod val="40000"/>
                      <a:lumOff val="60000"/>
                    </a:schemeClr>
                  </a:outerShdw>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4" name="AutoShape 41">
                  <a:extLst>
                    <a:ext uri="{FF2B5EF4-FFF2-40B4-BE49-F238E27FC236}">
                      <a16:creationId xmlns:a16="http://schemas.microsoft.com/office/drawing/2014/main" id="{5D7F3117-7661-8D14-A6A4-C8C01684F784}"/>
                    </a:ext>
                  </a:extLst>
                </p:cNvPr>
                <p:cNvSpPr>
                  <a:spLocks noChangeArrowheads="1"/>
                </p:cNvSpPr>
                <p:nvPr/>
              </p:nvSpPr>
              <p:spPr bwMode="gray">
                <a:xfrm>
                  <a:off x="744" y="1407"/>
                  <a:ext cx="3988" cy="115"/>
                </a:xfrm>
                <a:prstGeom prst="roundRect">
                  <a:avLst>
                    <a:gd name="adj" fmla="val 50000"/>
                  </a:avLst>
                </a:prstGeom>
                <a:gradFill rotWithShape="1">
                  <a:gsLst>
                    <a:gs pos="0">
                      <a:schemeClr val="hlink">
                        <a:gamma/>
                        <a:tint val="0"/>
                        <a:invGamma/>
                      </a:schemeClr>
                    </a:gs>
                    <a:gs pos="100000">
                      <a:schemeClr val="hlink">
                        <a:alpha val="0"/>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108" name="Text Box 49">
              <a:extLst>
                <a:ext uri="{FF2B5EF4-FFF2-40B4-BE49-F238E27FC236}">
                  <a16:creationId xmlns:a16="http://schemas.microsoft.com/office/drawing/2014/main" id="{090E9733-3382-9961-AED0-D90BE1C18205}"/>
                </a:ext>
              </a:extLst>
            </p:cNvPr>
            <p:cNvSpPr txBox="1">
              <a:spLocks noChangeArrowheads="1"/>
            </p:cNvSpPr>
            <p:nvPr/>
          </p:nvSpPr>
          <p:spPr bwMode="white">
            <a:xfrm>
              <a:off x="1263" y="2454"/>
              <a:ext cx="3640" cy="290"/>
            </a:xfrm>
            <a:prstGeom prst="rect">
              <a:avLst/>
            </a:prstGeom>
            <a:noFill/>
            <a:ln w="9525">
              <a:noFill/>
              <a:miter lim="800000"/>
            </a:ln>
            <a:effectLst/>
          </p:spPr>
          <p:txBody>
            <a:bodyPr wrap="square">
              <a:spAutoFit/>
            </a:bodyPr>
            <a:lstStyle/>
            <a:p>
              <a:r>
                <a:rPr lang="zh-CN" altLang="en-US" sz="2400" b="1" dirty="0">
                  <a:ln>
                    <a:no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综合工况台架验证</a:t>
              </a:r>
              <a:endParaRPr sz="2400" b="1" dirty="0">
                <a:ln>
                  <a:no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9" name="Picture 50" descr="1">
              <a:extLst>
                <a:ext uri="{FF2B5EF4-FFF2-40B4-BE49-F238E27FC236}">
                  <a16:creationId xmlns:a16="http://schemas.microsoft.com/office/drawing/2014/main" id="{C7C76BD2-727F-8952-97DF-4E5436794320}"/>
                </a:ext>
              </a:extLst>
            </p:cNvPr>
            <p:cNvPicPr>
              <a:picLocks noChangeAspect="1" noChangeArrowheads="1"/>
            </p:cNvPicPr>
            <p:nvPr/>
          </p:nvPicPr>
          <p:blipFill>
            <a:blip r:embed="rId3" cstate="print">
              <a:lum bright="-6000" contrast="24000"/>
            </a:blip>
            <a:srcRect l="42606" t="64474" r="19473"/>
            <a:stretch>
              <a:fillRect/>
            </a:stretch>
          </p:blipFill>
          <p:spPr bwMode="auto">
            <a:xfrm>
              <a:off x="846" y="2374"/>
              <a:ext cx="499" cy="598"/>
            </a:xfrm>
            <a:prstGeom prst="rect">
              <a:avLst/>
            </a:prstGeom>
            <a:noFill/>
            <a:ln>
              <a:noFill/>
            </a:ln>
          </p:spPr>
        </p:pic>
        <p:sp>
          <p:nvSpPr>
            <p:cNvPr id="110" name="Text Box 55">
              <a:extLst>
                <a:ext uri="{FF2B5EF4-FFF2-40B4-BE49-F238E27FC236}">
                  <a16:creationId xmlns:a16="http://schemas.microsoft.com/office/drawing/2014/main" id="{6639C58E-EB50-395C-80A8-6CA622ADA977}"/>
                </a:ext>
              </a:extLst>
            </p:cNvPr>
            <p:cNvSpPr txBox="1">
              <a:spLocks noChangeArrowheads="1"/>
            </p:cNvSpPr>
            <p:nvPr/>
          </p:nvSpPr>
          <p:spPr bwMode="white">
            <a:xfrm>
              <a:off x="1049" y="2459"/>
              <a:ext cx="240" cy="288"/>
            </a:xfrm>
            <a:prstGeom prst="rect">
              <a:avLst/>
            </a:prstGeom>
            <a:noFill/>
            <a:ln w="9525">
              <a:noFill/>
              <a:miter lim="800000"/>
            </a:ln>
            <a:effectLst/>
          </p:spPr>
          <p:txBody>
            <a:bodyPr>
              <a:spAutoFit/>
            </a:bodyPr>
            <a:lstStyle/>
            <a:p>
              <a:pPr algn="ctr">
                <a:spcBef>
                  <a:spcPct val="50000"/>
                </a:spcBef>
              </a:pP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a:t>
              </a:r>
            </a:p>
          </p:txBody>
        </p:sp>
      </p:grpSp>
      <p:grpSp>
        <p:nvGrpSpPr>
          <p:cNvPr id="116" name="Group 58">
            <a:extLst>
              <a:ext uri="{FF2B5EF4-FFF2-40B4-BE49-F238E27FC236}">
                <a16:creationId xmlns:a16="http://schemas.microsoft.com/office/drawing/2014/main" id="{ECDF6F5F-DCAB-465A-5574-57921FD7F025}"/>
              </a:ext>
            </a:extLst>
          </p:cNvPr>
          <p:cNvGrpSpPr/>
          <p:nvPr/>
        </p:nvGrpSpPr>
        <p:grpSpPr bwMode="auto">
          <a:xfrm>
            <a:off x="2419348" y="3260726"/>
            <a:ext cx="7172325" cy="949325"/>
            <a:chOff x="846" y="2374"/>
            <a:chExt cx="4057" cy="598"/>
          </a:xfrm>
        </p:grpSpPr>
        <p:grpSp>
          <p:nvGrpSpPr>
            <p:cNvPr id="117" name="Group 37">
              <a:extLst>
                <a:ext uri="{FF2B5EF4-FFF2-40B4-BE49-F238E27FC236}">
                  <a16:creationId xmlns:a16="http://schemas.microsoft.com/office/drawing/2014/main" id="{BACC99CD-A3CD-271C-E49D-F3CE837C27F3}"/>
                </a:ext>
              </a:extLst>
            </p:cNvPr>
            <p:cNvGrpSpPr/>
            <p:nvPr/>
          </p:nvGrpSpPr>
          <p:grpSpPr bwMode="auto">
            <a:xfrm>
              <a:off x="962" y="2390"/>
              <a:ext cx="3868" cy="434"/>
              <a:chOff x="720" y="1392"/>
              <a:chExt cx="4058" cy="480"/>
            </a:xfrm>
          </p:grpSpPr>
          <p:sp>
            <p:nvSpPr>
              <p:cNvPr id="121" name="AutoShape 38">
                <a:extLst>
                  <a:ext uri="{FF2B5EF4-FFF2-40B4-BE49-F238E27FC236}">
                    <a16:creationId xmlns:a16="http://schemas.microsoft.com/office/drawing/2014/main" id="{DEB9CB06-2FED-226F-EC13-36BBA178D298}"/>
                  </a:ext>
                </a:extLst>
              </p:cNvPr>
              <p:cNvSpPr>
                <a:spLocks noChangeArrowheads="1"/>
              </p:cNvSpPr>
              <p:nvPr/>
            </p:nvSpPr>
            <p:spPr bwMode="gray">
              <a:xfrm>
                <a:off x="720" y="1392"/>
                <a:ext cx="4058" cy="480"/>
              </a:xfrm>
              <a:prstGeom prst="roundRect">
                <a:avLst>
                  <a:gd name="adj" fmla="val 17509"/>
                </a:avLst>
              </a:prstGeom>
              <a:gradFill rotWithShape="1">
                <a:gsLst>
                  <a:gs pos="0">
                    <a:schemeClr val="hlink"/>
                  </a:gs>
                  <a:gs pos="50000">
                    <a:schemeClr val="hlink">
                      <a:gamma/>
                      <a:shade val="92157"/>
                      <a:invGamma/>
                    </a:schemeClr>
                  </a:gs>
                  <a:gs pos="100000">
                    <a:schemeClr val="hlink"/>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22" name="Group 39">
                <a:extLst>
                  <a:ext uri="{FF2B5EF4-FFF2-40B4-BE49-F238E27FC236}">
                    <a16:creationId xmlns:a16="http://schemas.microsoft.com/office/drawing/2014/main" id="{2D6B42F1-1127-C0A4-B081-44E080B6D049}"/>
                  </a:ext>
                </a:extLst>
              </p:cNvPr>
              <p:cNvGrpSpPr/>
              <p:nvPr/>
            </p:nvGrpSpPr>
            <p:grpSpPr bwMode="auto">
              <a:xfrm>
                <a:off x="730" y="1407"/>
                <a:ext cx="4043" cy="444"/>
                <a:chOff x="744" y="1407"/>
                <a:chExt cx="3988" cy="444"/>
              </a:xfrm>
            </p:grpSpPr>
            <p:sp>
              <p:nvSpPr>
                <p:cNvPr id="123" name="AutoShape 40">
                  <a:extLst>
                    <a:ext uri="{FF2B5EF4-FFF2-40B4-BE49-F238E27FC236}">
                      <a16:creationId xmlns:a16="http://schemas.microsoft.com/office/drawing/2014/main" id="{3739DFEE-568D-9518-2CAB-171EBED68582}"/>
                    </a:ext>
                  </a:extLst>
                </p:cNvPr>
                <p:cNvSpPr>
                  <a:spLocks noChangeArrowheads="1"/>
                </p:cNvSpPr>
                <p:nvPr/>
              </p:nvSpPr>
              <p:spPr bwMode="gray">
                <a:xfrm>
                  <a:off x="744" y="1736"/>
                  <a:ext cx="3988" cy="115"/>
                </a:xfrm>
                <a:prstGeom prst="roundRect">
                  <a:avLst>
                    <a:gd name="adj" fmla="val 50000"/>
                  </a:avLst>
                </a:prstGeom>
                <a:gradFill rotWithShape="1">
                  <a:gsLst>
                    <a:gs pos="0">
                      <a:schemeClr val="hlink">
                        <a:alpha val="0"/>
                      </a:schemeClr>
                    </a:gs>
                    <a:gs pos="100000">
                      <a:schemeClr val="hlink">
                        <a:gamma/>
                        <a:tint val="0"/>
                        <a:invGamma/>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24" name="AutoShape 41">
                  <a:extLst>
                    <a:ext uri="{FF2B5EF4-FFF2-40B4-BE49-F238E27FC236}">
                      <a16:creationId xmlns:a16="http://schemas.microsoft.com/office/drawing/2014/main" id="{DEE6DC82-7C9D-B98C-2C69-71361BB86D54}"/>
                    </a:ext>
                  </a:extLst>
                </p:cNvPr>
                <p:cNvSpPr>
                  <a:spLocks noChangeArrowheads="1"/>
                </p:cNvSpPr>
                <p:nvPr/>
              </p:nvSpPr>
              <p:spPr bwMode="gray">
                <a:xfrm>
                  <a:off x="744" y="1407"/>
                  <a:ext cx="3988" cy="115"/>
                </a:xfrm>
                <a:prstGeom prst="roundRect">
                  <a:avLst>
                    <a:gd name="adj" fmla="val 50000"/>
                  </a:avLst>
                </a:prstGeom>
                <a:gradFill rotWithShape="1">
                  <a:gsLst>
                    <a:gs pos="0">
                      <a:schemeClr val="hlink">
                        <a:gamma/>
                        <a:tint val="0"/>
                        <a:invGamma/>
                      </a:schemeClr>
                    </a:gs>
                    <a:gs pos="100000">
                      <a:schemeClr val="hlink">
                        <a:alpha val="0"/>
                      </a:schemeClr>
                    </a:gs>
                  </a:gsLst>
                  <a:lin ang="5400000" scaled="1"/>
                </a:gradFill>
                <a:ln w="9525">
                  <a:no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118" name="Text Box 49">
              <a:extLst>
                <a:ext uri="{FF2B5EF4-FFF2-40B4-BE49-F238E27FC236}">
                  <a16:creationId xmlns:a16="http://schemas.microsoft.com/office/drawing/2014/main" id="{FBD1AF15-5DB3-FD92-0824-D75932B16FFE}"/>
                </a:ext>
              </a:extLst>
            </p:cNvPr>
            <p:cNvSpPr txBox="1">
              <a:spLocks noChangeArrowheads="1"/>
            </p:cNvSpPr>
            <p:nvPr/>
          </p:nvSpPr>
          <p:spPr bwMode="white">
            <a:xfrm>
              <a:off x="1263" y="2454"/>
              <a:ext cx="3640" cy="291"/>
            </a:xfrm>
            <a:prstGeom prst="rect">
              <a:avLst/>
            </a:prstGeom>
            <a:noFill/>
            <a:ln w="9525">
              <a:noFill/>
              <a:miter lim="800000"/>
            </a:ln>
            <a:effectLst/>
          </p:spPr>
          <p:txBody>
            <a:bodyPr wrap="square">
              <a:spAutoFit/>
            </a:bodyPr>
            <a:lstStyle/>
            <a:p>
              <a:pPr marL="457200" indent="-457200">
                <a:spcBef>
                  <a:spcPct val="50000"/>
                </a:spcBef>
                <a:buClr>
                  <a:schemeClr val="tx1"/>
                </a:buClr>
              </a:pPr>
              <a:r>
                <a:rPr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分布式线控底盘紧急避障场景下的轨迹规划</a:t>
              </a:r>
              <a:endParaRPr lang="zh-CN"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9" name="Picture 50" descr="1">
              <a:extLst>
                <a:ext uri="{FF2B5EF4-FFF2-40B4-BE49-F238E27FC236}">
                  <a16:creationId xmlns:a16="http://schemas.microsoft.com/office/drawing/2014/main" id="{1EFB87AB-A27C-F34D-F901-D7CC8BCFC622}"/>
                </a:ext>
              </a:extLst>
            </p:cNvPr>
            <p:cNvPicPr>
              <a:picLocks noChangeAspect="1" noChangeArrowheads="1"/>
            </p:cNvPicPr>
            <p:nvPr/>
          </p:nvPicPr>
          <p:blipFill>
            <a:blip r:embed="rId3" cstate="print">
              <a:lum bright="-6000" contrast="24000"/>
            </a:blip>
            <a:srcRect l="42606" t="64474" r="19473"/>
            <a:stretch>
              <a:fillRect/>
            </a:stretch>
          </p:blipFill>
          <p:spPr bwMode="auto">
            <a:xfrm>
              <a:off x="846" y="2374"/>
              <a:ext cx="499" cy="598"/>
            </a:xfrm>
            <a:prstGeom prst="rect">
              <a:avLst/>
            </a:prstGeom>
            <a:noFill/>
          </p:spPr>
        </p:pic>
        <p:sp>
          <p:nvSpPr>
            <p:cNvPr id="120" name="Text Box 55">
              <a:extLst>
                <a:ext uri="{FF2B5EF4-FFF2-40B4-BE49-F238E27FC236}">
                  <a16:creationId xmlns:a16="http://schemas.microsoft.com/office/drawing/2014/main" id="{D989C717-E73A-E512-F049-CE9589212ACE}"/>
                </a:ext>
              </a:extLst>
            </p:cNvPr>
            <p:cNvSpPr txBox="1">
              <a:spLocks noChangeArrowheads="1"/>
            </p:cNvSpPr>
            <p:nvPr/>
          </p:nvSpPr>
          <p:spPr bwMode="white">
            <a:xfrm>
              <a:off x="1049" y="2459"/>
              <a:ext cx="240" cy="288"/>
            </a:xfrm>
            <a:prstGeom prst="rect">
              <a:avLst/>
            </a:prstGeom>
            <a:noFill/>
            <a:ln w="9525">
              <a:noFill/>
              <a:miter lim="800000"/>
            </a:ln>
            <a:effectLst/>
          </p:spPr>
          <p:txBody>
            <a:bodyPr>
              <a:spAutoFit/>
            </a:bodyPr>
            <a:lstStyle/>
            <a:p>
              <a:pPr algn="ctr">
                <a:spcBef>
                  <a:spcPct val="50000"/>
                </a:spcBef>
              </a:pP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a:t>
              </a:r>
            </a:p>
          </p:txBody>
        </p:sp>
      </p:grpSp>
    </p:spTree>
    <p:extLst>
      <p:ext uri="{BB962C8B-B14F-4D97-AF65-F5344CB8AC3E}">
        <p14:creationId xmlns:p14="http://schemas.microsoft.com/office/powerpoint/2010/main" val="90592333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1D25CE7-494E-D0A7-1264-DDC2EFC22189}"/>
              </a:ext>
            </a:extLst>
          </p:cNvPr>
          <p:cNvGrpSpPr/>
          <p:nvPr/>
        </p:nvGrpSpPr>
        <p:grpSpPr>
          <a:xfrm>
            <a:off x="1206264" y="2568575"/>
            <a:ext cx="10542391" cy="1720850"/>
            <a:chOff x="1184275" y="2717410"/>
            <a:chExt cx="10541837" cy="1720986"/>
          </a:xfrm>
        </p:grpSpPr>
        <p:grpSp>
          <p:nvGrpSpPr>
            <p:cNvPr id="6" name="Group 4">
              <a:extLst>
                <a:ext uri="{FF2B5EF4-FFF2-40B4-BE49-F238E27FC236}">
                  <a16:creationId xmlns:a16="http://schemas.microsoft.com/office/drawing/2014/main" id="{BBF57D73-2142-3707-BA5D-2E2313D580F9}"/>
                </a:ext>
              </a:extLst>
            </p:cNvPr>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9" name="Freeform 6">
                <a:extLst>
                  <a:ext uri="{FF2B5EF4-FFF2-40B4-BE49-F238E27FC236}">
                    <a16:creationId xmlns:a16="http://schemas.microsoft.com/office/drawing/2014/main" id="{A5CD54A5-CEC5-870C-45C1-33D118B7A32B}"/>
                  </a:ext>
                </a:extLst>
              </p:cNvPr>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15" name="Freeform 7">
                <a:extLst>
                  <a:ext uri="{FF2B5EF4-FFF2-40B4-BE49-F238E27FC236}">
                    <a16:creationId xmlns:a16="http://schemas.microsoft.com/office/drawing/2014/main" id="{22DD9305-587A-33F9-17AF-A5DC1E39609D}"/>
                  </a:ext>
                </a:extLst>
              </p:cNvPr>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8" name="文本框 7">
              <a:extLst>
                <a:ext uri="{FF2B5EF4-FFF2-40B4-BE49-F238E27FC236}">
                  <a16:creationId xmlns:a16="http://schemas.microsoft.com/office/drawing/2014/main" id="{0D7DA9AE-7C70-DAAF-2D24-705BD8C8D637}"/>
                </a:ext>
              </a:extLst>
            </p:cNvPr>
            <p:cNvSpPr txBox="1"/>
            <p:nvPr/>
          </p:nvSpPr>
          <p:spPr>
            <a:xfrm>
              <a:off x="3187699" y="2847430"/>
              <a:ext cx="8538413" cy="1108084"/>
            </a:xfrm>
            <a:prstGeom prst="rect">
              <a:avLst/>
            </a:prstGeom>
            <a:noFill/>
          </p:spPr>
          <p:txBody>
            <a:bodyPr wrap="square" rtlCol="0">
              <a:spAutoFit/>
            </a:bodyPr>
            <a:lstStyle/>
            <a:p>
              <a:r>
                <a:rPr lang="zh-CN" altLang="en-US" sz="6600" b="1" spc="300" dirty="0">
                  <a:solidFill>
                    <a:schemeClr val="bg1"/>
                  </a:solidFill>
                  <a:latin typeface="微软雅黑" panose="020B0503020204020204" pitchFamily="34" charset="-122"/>
                  <a:ea typeface="微软雅黑" panose="020B0503020204020204" pitchFamily="34" charset="-122"/>
                </a:rPr>
                <a:t>研究方法及技术路线</a:t>
              </a:r>
            </a:p>
          </p:txBody>
        </p:sp>
      </p:gr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1C63B88-E3A8-27BC-7EA4-4AEDDB45447A}"/>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14</a:t>
            </a:fld>
            <a:endParaRPr lang="zh-HK" altLang="en-US">
              <a:solidFill>
                <a:prstClr val="black">
                  <a:tint val="75000"/>
                </a:prstClr>
              </a:solidFill>
            </a:endParaRPr>
          </a:p>
        </p:txBody>
      </p:sp>
      <p:sp>
        <p:nvSpPr>
          <p:cNvPr id="3" name="Rectangle 3">
            <a:extLst>
              <a:ext uri="{FF2B5EF4-FFF2-40B4-BE49-F238E27FC236}">
                <a16:creationId xmlns:a16="http://schemas.microsoft.com/office/drawing/2014/main" id="{901DCB58-4467-0764-2C92-B2F6366D17E2}"/>
              </a:ext>
            </a:extLst>
          </p:cNvPr>
          <p:cNvSpPr>
            <a:spLocks noChangeArrowheads="1"/>
          </p:cNvSpPr>
          <p:nvPr/>
        </p:nvSpPr>
        <p:spPr bwMode="auto">
          <a:xfrm>
            <a:off x="466725" y="1521487"/>
            <a:ext cx="8553450" cy="522092"/>
          </a:xfrm>
          <a:prstGeom prst="rect">
            <a:avLst/>
          </a:prstGeom>
          <a:noFill/>
          <a:ln w="9525">
            <a:noFill/>
            <a:miter lim="800000"/>
          </a:ln>
        </p:spPr>
        <p:txBody>
          <a:bodyPr/>
          <a:lstStyle/>
          <a:p>
            <a:pPr marL="342900" indent="-342900">
              <a:lnSpc>
                <a:spcPct val="80000"/>
              </a:lnSpc>
              <a:spcBef>
                <a:spcPct val="20000"/>
              </a:spcBef>
              <a:buClr>
                <a:schemeClr val="hlink"/>
              </a:buClr>
              <a:buFont typeface="Wingdings" panose="05000000000000000000" pitchFamily="2" charset="2"/>
              <a:buChar char="Ø"/>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研究方案</a:t>
            </a:r>
            <a:r>
              <a:rPr lang="en-US" altLang="zh-CN"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分布式线控底盘汽车系统动力学建模及验证</a:t>
            </a:r>
            <a:endParaRPr lang="en-US" altLang="zh-CN" sz="2800" b="1"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85144D6-9D23-9349-B2B8-3010E312C61A}"/>
              </a:ext>
            </a:extLst>
          </p:cNvPr>
          <p:cNvSpPr txBox="1"/>
          <p:nvPr/>
        </p:nvSpPr>
        <p:spPr>
          <a:xfrm>
            <a:off x="1104900" y="2294662"/>
            <a:ext cx="4029075" cy="3782895"/>
          </a:xfrm>
          <a:prstGeom prst="rect">
            <a:avLst/>
          </a:prstGeom>
          <a:noFill/>
        </p:spPr>
        <p:txBody>
          <a:bodyPr wrap="square">
            <a:spAutoFit/>
          </a:bodyPr>
          <a:lstStyle/>
          <a:p>
            <a:pPr indent="457200" algn="just">
              <a:lnSpc>
                <a:spcPct val="150000"/>
              </a:lnSpc>
            </a:pP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基于 </a:t>
            </a:r>
            <a:r>
              <a:rPr lang="en-US" altLang="zh-CN" sz="1800" dirty="0" err="1">
                <a:effectLst/>
                <a:latin typeface="微软雅黑" panose="020B0503020204020204" pitchFamily="34" charset="-122"/>
                <a:ea typeface="微软雅黑" panose="020B0503020204020204" pitchFamily="34" charset="-122"/>
                <a:cs typeface="Times New Roman" panose="02020603050405020304" pitchFamily="18" charset="0"/>
              </a:rPr>
              <a:t>CarSim</a:t>
            </a:r>
            <a:r>
              <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软件搭建整车动力学模型，</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MATLAB/Simulink </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软件，搭建驱动系统模型、转向系统模型模型，</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联合仿真建立</a:t>
            </a:r>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分布式线控底盘</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车辆模型，同时在</a:t>
            </a:r>
            <a:r>
              <a:rPr lang="en-US" altLang="zh-CN" sz="1800" dirty="0" err="1">
                <a:effectLst/>
                <a:latin typeface="微软雅黑" panose="020B0503020204020204" pitchFamily="34" charset="-122"/>
                <a:ea typeface="微软雅黑" panose="020B0503020204020204" pitchFamily="34" charset="-122"/>
              </a:rPr>
              <a:t>CarSim</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中设置仿真环境、设计出仿真车辆运行工况。最后参考汽车操纵稳定性试验标准对所建立模型的精度进行验证，确保模型可用于后续研究。</a:t>
            </a:r>
            <a:endParaRPr lang="zh-CN" altLang="en-US" dirty="0">
              <a:latin typeface="微软雅黑" panose="020B0503020204020204" pitchFamily="34" charset="-122"/>
              <a:ea typeface="微软雅黑" panose="020B0503020204020204" pitchFamily="34" charset="-122"/>
            </a:endParaRPr>
          </a:p>
        </p:txBody>
      </p:sp>
      <p:graphicFrame>
        <p:nvGraphicFramePr>
          <p:cNvPr id="8" name="对象 7">
            <a:extLst>
              <a:ext uri="{FF2B5EF4-FFF2-40B4-BE49-F238E27FC236}">
                <a16:creationId xmlns:a16="http://schemas.microsoft.com/office/drawing/2014/main" id="{766A8ED7-7007-42DC-AC04-1AFBBDA839F4}"/>
              </a:ext>
            </a:extLst>
          </p:cNvPr>
          <p:cNvGraphicFramePr>
            <a:graphicFrameLocks noChangeAspect="1"/>
          </p:cNvGraphicFramePr>
          <p:nvPr>
            <p:extLst>
              <p:ext uri="{D42A27DB-BD31-4B8C-83A1-F6EECF244321}">
                <p14:modId xmlns:p14="http://schemas.microsoft.com/office/powerpoint/2010/main" val="2915151257"/>
              </p:ext>
            </p:extLst>
          </p:nvPr>
        </p:nvGraphicFramePr>
        <p:xfrm>
          <a:off x="5462541" y="2421710"/>
          <a:ext cx="6005559" cy="3090647"/>
        </p:xfrm>
        <a:graphic>
          <a:graphicData uri="http://schemas.openxmlformats.org/presentationml/2006/ole">
            <mc:AlternateContent xmlns:mc="http://schemas.openxmlformats.org/markup-compatibility/2006">
              <mc:Choice xmlns:v="urn:schemas-microsoft-com:vml" Requires="v">
                <p:oleObj name="Visio" r:id="rId2" imgW="3992738" imgH="2057400" progId="Visio.Drawing.15">
                  <p:embed/>
                </p:oleObj>
              </mc:Choice>
              <mc:Fallback>
                <p:oleObj name="Visio" r:id="rId2" imgW="3992738" imgH="2057400" progId="Visio.Drawing.15">
                  <p:embed/>
                  <p:pic>
                    <p:nvPicPr>
                      <p:cNvPr id="8" name="对象 7">
                        <a:extLst>
                          <a:ext uri="{FF2B5EF4-FFF2-40B4-BE49-F238E27FC236}">
                            <a16:creationId xmlns:a16="http://schemas.microsoft.com/office/drawing/2014/main" id="{766A8ED7-7007-42DC-AC04-1AFBBDA839F4}"/>
                          </a:ext>
                        </a:extLst>
                      </p:cNvPr>
                      <p:cNvPicPr>
                        <a:picLocks noChangeAspect="1" noChangeArrowheads="1"/>
                      </p:cNvPicPr>
                      <p:nvPr/>
                    </p:nvPicPr>
                    <p:blipFill>
                      <a:blip r:embed="rId3"/>
                      <a:srcRect/>
                      <a:stretch>
                        <a:fillRect/>
                      </a:stretch>
                    </p:blipFill>
                    <p:spPr bwMode="auto">
                      <a:xfrm>
                        <a:off x="5462541" y="2421710"/>
                        <a:ext cx="6005559" cy="3090647"/>
                      </a:xfrm>
                      <a:prstGeom prst="rect">
                        <a:avLst/>
                      </a:prstGeom>
                      <a:noFill/>
                    </p:spPr>
                  </p:pic>
                </p:oleObj>
              </mc:Fallback>
            </mc:AlternateContent>
          </a:graphicData>
        </a:graphic>
      </p:graphicFrame>
    </p:spTree>
    <p:extLst>
      <p:ext uri="{BB962C8B-B14F-4D97-AF65-F5344CB8AC3E}">
        <p14:creationId xmlns:p14="http://schemas.microsoft.com/office/powerpoint/2010/main" val="101126075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36438BE-FC38-48A6-0380-1D058E4ED7C8}"/>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15</a:t>
            </a:fld>
            <a:endParaRPr lang="zh-HK" altLang="en-US">
              <a:solidFill>
                <a:prstClr val="black">
                  <a:tint val="75000"/>
                </a:prstClr>
              </a:solidFill>
            </a:endParaRPr>
          </a:p>
        </p:txBody>
      </p:sp>
      <p:sp>
        <p:nvSpPr>
          <p:cNvPr id="3" name="Rectangle 3">
            <a:extLst>
              <a:ext uri="{FF2B5EF4-FFF2-40B4-BE49-F238E27FC236}">
                <a16:creationId xmlns:a16="http://schemas.microsoft.com/office/drawing/2014/main" id="{EF408DB0-A1AD-8A54-15F7-6BF478D490F8}"/>
              </a:ext>
            </a:extLst>
          </p:cNvPr>
          <p:cNvSpPr>
            <a:spLocks noChangeArrowheads="1"/>
          </p:cNvSpPr>
          <p:nvPr/>
        </p:nvSpPr>
        <p:spPr bwMode="auto">
          <a:xfrm>
            <a:off x="670229" y="1291070"/>
            <a:ext cx="8991601" cy="522092"/>
          </a:xfrm>
          <a:prstGeom prst="rect">
            <a:avLst/>
          </a:prstGeom>
          <a:noFill/>
          <a:ln w="9525">
            <a:noFill/>
            <a:miter lim="800000"/>
          </a:ln>
        </p:spPr>
        <p:txBody>
          <a:bodyPr/>
          <a:lstStyle/>
          <a:p>
            <a:pPr marL="342900" indent="-342900">
              <a:lnSpc>
                <a:spcPct val="80000"/>
              </a:lnSpc>
              <a:spcBef>
                <a:spcPct val="20000"/>
              </a:spcBef>
              <a:buClr>
                <a:schemeClr val="hlink"/>
              </a:buClr>
              <a:buFont typeface="Wingdings" panose="05000000000000000000" pitchFamily="2" charset="2"/>
              <a:buChar char="Ø"/>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研究方案</a:t>
            </a:r>
            <a:r>
              <a:rPr lang="en-US" altLang="zh-CN"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分布式线控底盘汽车在紧急避障工况下的轨迹规划</a:t>
            </a:r>
            <a:endParaRPr lang="en-US" altLang="zh-CN" sz="2800" b="1"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9B842B56-2EA9-AB40-0BFF-39667420FB86}"/>
              </a:ext>
            </a:extLst>
          </p:cNvPr>
          <p:cNvSpPr txBox="1"/>
          <p:nvPr/>
        </p:nvSpPr>
        <p:spPr>
          <a:xfrm>
            <a:off x="1033669" y="1782533"/>
            <a:ext cx="5310809" cy="4939814"/>
          </a:xfrm>
          <a:prstGeom prst="rect">
            <a:avLst/>
          </a:prstGeom>
          <a:noFill/>
        </p:spPr>
        <p:txBody>
          <a:bodyPr wrap="square" rtlCol="0">
            <a:spAutoFit/>
          </a:bodyPr>
          <a:lstStyle/>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在存在动态障碍物的紧急避障场景下，依据感知模块输出的周边障碍物与行驶环境信息构建三维时空栅格地图。采用基于改进</a:t>
            </a:r>
            <a:r>
              <a:rPr lang="en-US" altLang="zh-CN" sz="1800" dirty="0">
                <a:effectLst/>
                <a:latin typeface="微软雅黑" panose="020B0503020204020204" pitchFamily="34" charset="-122"/>
                <a:ea typeface="微软雅黑" panose="020B0503020204020204" pitchFamily="34" charset="-122"/>
              </a:rPr>
              <a:t> Hybrid A * </a:t>
            </a:r>
            <a:r>
              <a:rPr lang="zh-CN" altLang="zh-CN" sz="1800" dirty="0">
                <a:effectLst/>
                <a:latin typeface="微软雅黑" panose="020B0503020204020204" pitchFamily="34" charset="-122"/>
                <a:ea typeface="微软雅黑" panose="020B0503020204020204" pitchFamily="34" charset="-122"/>
              </a:rPr>
              <a:t>的粗轨迹搜索算法来搜索出既满足碰撞安全又符合动力学要求的紧急避障粗轨迹。</a:t>
            </a:r>
          </a:p>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依据搜索到的粗轨迹，构建有效的线性安全走廊约束。利用无侧偏车辆预测模型，依照安全走廊信息以及分布式线控底盘的运动能力边界约束，经由</a:t>
            </a:r>
            <a:r>
              <a:rPr lang="en-US" altLang="zh-CN" sz="1800" dirty="0">
                <a:effectLst/>
                <a:latin typeface="微软雅黑" panose="020B0503020204020204" pitchFamily="34" charset="-122"/>
                <a:ea typeface="微软雅黑" panose="020B0503020204020204" pitchFamily="34" charset="-122"/>
              </a:rPr>
              <a:t> MPC</a:t>
            </a:r>
            <a:r>
              <a:rPr lang="zh-CN" altLang="zh-CN" sz="1800" dirty="0">
                <a:effectLst/>
                <a:latin typeface="微软雅黑" panose="020B0503020204020204" pitchFamily="34" charset="-122"/>
                <a:ea typeface="微软雅黑" panose="020B0503020204020204" pitchFamily="34" charset="-122"/>
              </a:rPr>
              <a:t>优化求解，得出既能安全避障又满足车辆动力学约束的避障轨迹，同时达到紧急避障轨迹规划的实时性要求。</a:t>
            </a:r>
          </a:p>
          <a:p>
            <a:pPr algn="just"/>
            <a:endParaRPr lang="zh-CN" altLang="en-US"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E1AF50E1-46F7-0EE0-0128-E5E69CACEB7D}"/>
              </a:ext>
            </a:extLst>
          </p:cNvPr>
          <p:cNvPicPr>
            <a:picLocks noChangeAspect="1"/>
          </p:cNvPicPr>
          <p:nvPr/>
        </p:nvPicPr>
        <p:blipFill>
          <a:blip r:embed="rId2"/>
          <a:stretch>
            <a:fillRect/>
          </a:stretch>
        </p:blipFill>
        <p:spPr>
          <a:xfrm>
            <a:off x="6953251" y="1782533"/>
            <a:ext cx="4701540" cy="4343400"/>
          </a:xfrm>
          <a:prstGeom prst="rect">
            <a:avLst/>
          </a:prstGeom>
        </p:spPr>
      </p:pic>
    </p:spTree>
    <p:extLst>
      <p:ext uri="{BB962C8B-B14F-4D97-AF65-F5344CB8AC3E}">
        <p14:creationId xmlns:p14="http://schemas.microsoft.com/office/powerpoint/2010/main" val="5625217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22DAE2-6A08-35EA-C1FC-D8C72CD6AB1D}"/>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16</a:t>
            </a:fld>
            <a:endParaRPr lang="zh-HK" altLang="en-US">
              <a:solidFill>
                <a:prstClr val="black">
                  <a:tint val="75000"/>
                </a:prstClr>
              </a:solidFill>
            </a:endParaRPr>
          </a:p>
        </p:txBody>
      </p:sp>
      <p:sp>
        <p:nvSpPr>
          <p:cNvPr id="3" name="Rectangle 3">
            <a:extLst>
              <a:ext uri="{FF2B5EF4-FFF2-40B4-BE49-F238E27FC236}">
                <a16:creationId xmlns:a16="http://schemas.microsoft.com/office/drawing/2014/main" id="{9817B808-A502-6CFF-4F55-6227BF5FF379}"/>
              </a:ext>
            </a:extLst>
          </p:cNvPr>
          <p:cNvSpPr>
            <a:spLocks noChangeArrowheads="1"/>
          </p:cNvSpPr>
          <p:nvPr/>
        </p:nvSpPr>
        <p:spPr bwMode="auto">
          <a:xfrm>
            <a:off x="670474" y="1350583"/>
            <a:ext cx="8991601" cy="522092"/>
          </a:xfrm>
          <a:prstGeom prst="rect">
            <a:avLst/>
          </a:prstGeom>
          <a:noFill/>
          <a:ln w="9525">
            <a:noFill/>
            <a:miter lim="800000"/>
          </a:ln>
        </p:spPr>
        <p:txBody>
          <a:bodyPr/>
          <a:lstStyle/>
          <a:p>
            <a:pPr marL="342900" indent="-342900">
              <a:lnSpc>
                <a:spcPct val="80000"/>
              </a:lnSpc>
              <a:spcBef>
                <a:spcPct val="20000"/>
              </a:spcBef>
              <a:buClr>
                <a:schemeClr val="hlink"/>
              </a:buClr>
              <a:buFont typeface="Wingdings" panose="05000000000000000000" pitchFamily="2" charset="2"/>
              <a:buChar char="Ø"/>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研究方案</a:t>
            </a:r>
            <a:r>
              <a:rPr lang="en-US" altLang="zh-CN"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分布式线控底盘耦合运动控制</a:t>
            </a:r>
            <a:endParaRPr lang="en-US" altLang="zh-CN" sz="28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BAFE23D-C534-97E2-52B3-48AAC441B36F}"/>
              </a:ext>
            </a:extLst>
          </p:cNvPr>
          <p:cNvSpPr txBox="1"/>
          <p:nvPr/>
        </p:nvSpPr>
        <p:spPr>
          <a:xfrm>
            <a:off x="925768" y="2150280"/>
            <a:ext cx="5276249" cy="3782895"/>
          </a:xfrm>
          <a:prstGeom prst="rect">
            <a:avLst/>
          </a:prstGeom>
          <a:noFill/>
        </p:spPr>
        <p:txBody>
          <a:bodyPr wrap="square">
            <a:spAutoFit/>
          </a:bodyPr>
          <a:lstStyle/>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针对具备高可控、多余度特性的分布式线控底盘，拟设计一种基于分层架构的耦合运动控制方法。</a:t>
            </a:r>
          </a:p>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基于可变步长离散线性时变模型预测控制</a:t>
            </a:r>
            <a:r>
              <a:rPr lang="zh-CN" altLang="en-US" sz="1800" dirty="0">
                <a:effectLst/>
                <a:latin typeface="微软雅黑" panose="020B0503020204020204" pitchFamily="34" charset="-122"/>
                <a:ea typeface="微软雅黑" panose="020B0503020204020204" pitchFamily="34" charset="-122"/>
              </a:rPr>
              <a:t>，</a:t>
            </a:r>
            <a:r>
              <a:rPr lang="zh-CN" altLang="zh-CN" sz="1800" dirty="0">
                <a:effectLst/>
                <a:latin typeface="微软雅黑" panose="020B0503020204020204" pitchFamily="34" charset="-122"/>
                <a:ea typeface="微软雅黑" panose="020B0503020204020204" pitchFamily="34" charset="-122"/>
              </a:rPr>
              <a:t>依据上一时刻的预测状态与控制序列信息，对线性化工作点进行自适应调整，从而提高预测模型的精度。通过</a:t>
            </a:r>
            <a:r>
              <a:rPr lang="en-US" altLang="zh-CN" sz="1800" dirty="0">
                <a:effectLst/>
                <a:latin typeface="微软雅黑" panose="020B0503020204020204" pitchFamily="34" charset="-122"/>
                <a:ea typeface="微软雅黑" panose="020B0503020204020204" pitchFamily="34" charset="-122"/>
              </a:rPr>
              <a:t>MPC</a:t>
            </a:r>
            <a:r>
              <a:rPr lang="zh-CN" altLang="zh-CN" sz="1800" dirty="0">
                <a:effectLst/>
                <a:latin typeface="微软雅黑" panose="020B0503020204020204" pitchFamily="34" charset="-122"/>
                <a:ea typeface="微软雅黑" panose="020B0503020204020204" pitchFamily="34" charset="-122"/>
              </a:rPr>
              <a:t>求解计算出目标整车控制量。</a:t>
            </a:r>
          </a:p>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在控制分配层，考虑垂向载荷转移并确保各轮摩擦圆约束，借助二次规划算法计算得出各轮的目标驱动力以及前、后轴的目标侧向力。</a:t>
            </a:r>
          </a:p>
        </p:txBody>
      </p:sp>
      <p:pic>
        <p:nvPicPr>
          <p:cNvPr id="6" name="图片 5">
            <a:extLst>
              <a:ext uri="{FF2B5EF4-FFF2-40B4-BE49-F238E27FC236}">
                <a16:creationId xmlns:a16="http://schemas.microsoft.com/office/drawing/2014/main" id="{5A440AAF-1826-A36C-645C-D5FE4319D612}"/>
              </a:ext>
            </a:extLst>
          </p:cNvPr>
          <p:cNvPicPr>
            <a:picLocks noChangeAspect="1"/>
          </p:cNvPicPr>
          <p:nvPr/>
        </p:nvPicPr>
        <p:blipFill>
          <a:blip r:embed="rId2"/>
          <a:stretch>
            <a:fillRect/>
          </a:stretch>
        </p:blipFill>
        <p:spPr>
          <a:xfrm>
            <a:off x="6606662" y="2057400"/>
            <a:ext cx="4858352" cy="3743739"/>
          </a:xfrm>
          <a:prstGeom prst="rect">
            <a:avLst/>
          </a:prstGeom>
        </p:spPr>
      </p:pic>
    </p:spTree>
    <p:extLst>
      <p:ext uri="{BB962C8B-B14F-4D97-AF65-F5344CB8AC3E}">
        <p14:creationId xmlns:p14="http://schemas.microsoft.com/office/powerpoint/2010/main" val="348400953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CC87D50-CF15-D855-64D6-F953B61C6308}"/>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17</a:t>
            </a:fld>
            <a:endParaRPr lang="zh-HK" altLang="en-US">
              <a:solidFill>
                <a:prstClr val="black">
                  <a:tint val="75000"/>
                </a:prstClr>
              </a:solidFill>
            </a:endParaRPr>
          </a:p>
        </p:txBody>
      </p:sp>
      <p:sp>
        <p:nvSpPr>
          <p:cNvPr id="3" name="Rectangle 3">
            <a:extLst>
              <a:ext uri="{FF2B5EF4-FFF2-40B4-BE49-F238E27FC236}">
                <a16:creationId xmlns:a16="http://schemas.microsoft.com/office/drawing/2014/main" id="{A29AF0F0-E37C-A838-8A88-24E94472DB3C}"/>
              </a:ext>
            </a:extLst>
          </p:cNvPr>
          <p:cNvSpPr>
            <a:spLocks noChangeArrowheads="1"/>
          </p:cNvSpPr>
          <p:nvPr/>
        </p:nvSpPr>
        <p:spPr bwMode="auto">
          <a:xfrm>
            <a:off x="699878" y="1360782"/>
            <a:ext cx="8991601" cy="522092"/>
          </a:xfrm>
          <a:prstGeom prst="rect">
            <a:avLst/>
          </a:prstGeom>
          <a:noFill/>
          <a:ln w="9525">
            <a:noFill/>
            <a:miter lim="800000"/>
          </a:ln>
        </p:spPr>
        <p:txBody>
          <a:bodyPr/>
          <a:lstStyle/>
          <a:p>
            <a:pPr marL="342900" indent="-342900">
              <a:lnSpc>
                <a:spcPct val="80000"/>
              </a:lnSpc>
              <a:spcBef>
                <a:spcPct val="20000"/>
              </a:spcBef>
              <a:buClr>
                <a:schemeClr val="hlink"/>
              </a:buClr>
              <a:buFont typeface="Wingdings" panose="05000000000000000000" pitchFamily="2" charset="2"/>
              <a:buChar char="Ø"/>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研究方案</a:t>
            </a:r>
            <a:r>
              <a:rPr lang="en-US" altLang="zh-CN"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综合工况台架验证</a:t>
            </a:r>
            <a:endParaRPr lang="en-US" altLang="zh-CN" sz="2800" b="1" dirty="0">
              <a:latin typeface="微软雅黑" panose="020B0503020204020204" pitchFamily="34" charset="-122"/>
              <a:ea typeface="微软雅黑" panose="020B0503020204020204" pitchFamily="34" charset="-122"/>
            </a:endParaRPr>
          </a:p>
        </p:txBody>
      </p:sp>
      <p:graphicFrame>
        <p:nvGraphicFramePr>
          <p:cNvPr id="4" name="对象 3">
            <a:extLst>
              <a:ext uri="{FF2B5EF4-FFF2-40B4-BE49-F238E27FC236}">
                <a16:creationId xmlns:a16="http://schemas.microsoft.com/office/drawing/2014/main" id="{9C4F058D-0259-7E16-10AF-9D1804FF6B19}"/>
              </a:ext>
            </a:extLst>
          </p:cNvPr>
          <p:cNvGraphicFramePr>
            <a:graphicFrameLocks noChangeAspect="1"/>
          </p:cNvGraphicFramePr>
          <p:nvPr>
            <p:extLst>
              <p:ext uri="{D42A27DB-BD31-4B8C-83A1-F6EECF244321}">
                <p14:modId xmlns:p14="http://schemas.microsoft.com/office/powerpoint/2010/main" val="1604158269"/>
              </p:ext>
            </p:extLst>
          </p:nvPr>
        </p:nvGraphicFramePr>
        <p:xfrm>
          <a:off x="6715125" y="2849563"/>
          <a:ext cx="4556125" cy="2095500"/>
        </p:xfrm>
        <a:graphic>
          <a:graphicData uri="http://schemas.openxmlformats.org/presentationml/2006/ole">
            <mc:AlternateContent xmlns:mc="http://schemas.openxmlformats.org/markup-compatibility/2006">
              <mc:Choice xmlns:v="urn:schemas-microsoft-com:vml" Requires="v">
                <p:oleObj name="Visio" r:id="rId3" imgW="4564345" imgH="2095154" progId="Visio.Drawing.15">
                  <p:embed/>
                </p:oleObj>
              </mc:Choice>
              <mc:Fallback>
                <p:oleObj name="Visio" r:id="rId3" imgW="4564345" imgH="2095154" progId="Visio.Drawing.15">
                  <p:embed/>
                  <p:pic>
                    <p:nvPicPr>
                      <p:cNvPr id="4" name="对象 3">
                        <a:extLst>
                          <a:ext uri="{FF2B5EF4-FFF2-40B4-BE49-F238E27FC236}">
                            <a16:creationId xmlns:a16="http://schemas.microsoft.com/office/drawing/2014/main" id="{9C4F058D-0259-7E16-10AF-9D1804FF6B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5125" y="2849563"/>
                        <a:ext cx="4556125" cy="209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文本框 6">
            <a:extLst>
              <a:ext uri="{FF2B5EF4-FFF2-40B4-BE49-F238E27FC236}">
                <a16:creationId xmlns:a16="http://schemas.microsoft.com/office/drawing/2014/main" id="{506AE883-2A4E-1791-7888-B967AA3580DE}"/>
              </a:ext>
            </a:extLst>
          </p:cNvPr>
          <p:cNvSpPr txBox="1"/>
          <p:nvPr/>
        </p:nvSpPr>
        <p:spPr>
          <a:xfrm>
            <a:off x="920750" y="2005865"/>
            <a:ext cx="5257799" cy="3782895"/>
          </a:xfrm>
          <a:prstGeom prst="rect">
            <a:avLst/>
          </a:prstGeom>
          <a:noFill/>
        </p:spPr>
        <p:txBody>
          <a:bodyPr wrap="square">
            <a:spAutoFit/>
          </a:bodyPr>
          <a:lstStyle/>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针对分布式线控底盘电动汽车稳定性协调控制策略的试验验证，确定了研究方案：</a:t>
            </a:r>
          </a:p>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第一部分，驾驶模拟器验证。使用主控计算机、控制器硬件、驾驶员操作台等搭建驾驶模拟器，通过驾驶模拟器完成分布式线控底盘电动汽车</a:t>
            </a:r>
            <a:r>
              <a:rPr lang="zh-CN" altLang="en-US" sz="1800" dirty="0">
                <a:effectLst/>
                <a:latin typeface="微软雅黑" panose="020B0503020204020204" pitchFamily="34" charset="-122"/>
                <a:ea typeface="微软雅黑" panose="020B0503020204020204" pitchFamily="34" charset="-122"/>
              </a:rPr>
              <a:t>运动规划与控制算法</a:t>
            </a:r>
            <a:r>
              <a:rPr lang="zh-CN" altLang="zh-CN" sz="1800" dirty="0">
                <a:effectLst/>
                <a:latin typeface="微软雅黑" panose="020B0503020204020204" pitchFamily="34" charset="-122"/>
                <a:ea typeface="微软雅黑" panose="020B0503020204020204" pitchFamily="34" charset="-122"/>
              </a:rPr>
              <a:t>的硬件在环试验验证。</a:t>
            </a:r>
          </a:p>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rPr>
              <a:t>第二部分，实车验证。基于分布式线控底盘电动汽车试验平台</a:t>
            </a:r>
            <a:r>
              <a:rPr lang="zh-CN" altLang="en-US" sz="1800" dirty="0">
                <a:effectLst/>
                <a:latin typeface="微软雅黑" panose="020B0503020204020204" pitchFamily="34" charset="-122"/>
                <a:ea typeface="微软雅黑" panose="020B0503020204020204" pitchFamily="34" charset="-122"/>
              </a:rPr>
              <a:t>在紧急避障场景下</a:t>
            </a:r>
            <a:r>
              <a:rPr lang="zh-CN" altLang="zh-CN" sz="1800" dirty="0">
                <a:effectLst/>
                <a:latin typeface="微软雅黑" panose="020B0503020204020204" pitchFamily="34" charset="-122"/>
                <a:ea typeface="微软雅黑" panose="020B0503020204020204" pitchFamily="34" charset="-122"/>
              </a:rPr>
              <a:t>对</a:t>
            </a:r>
            <a:r>
              <a:rPr lang="zh-CN" altLang="en-US" sz="1800" dirty="0">
                <a:effectLst/>
                <a:latin typeface="微软雅黑" panose="020B0503020204020204" pitchFamily="34" charset="-122"/>
                <a:ea typeface="微软雅黑" panose="020B0503020204020204" pitchFamily="34" charset="-122"/>
              </a:rPr>
              <a:t>运动规划与控制算法</a:t>
            </a:r>
            <a:r>
              <a:rPr lang="zh-CN" altLang="zh-CN" sz="1800" dirty="0">
                <a:effectLst/>
                <a:latin typeface="微软雅黑" panose="020B0503020204020204" pitchFamily="34" charset="-122"/>
                <a:ea typeface="微软雅黑" panose="020B0503020204020204" pitchFamily="34" charset="-122"/>
              </a:rPr>
              <a:t>进行实车试验，验证</a:t>
            </a:r>
            <a:r>
              <a:rPr lang="zh-CN" altLang="en-US" sz="1800" dirty="0">
                <a:effectLst/>
                <a:latin typeface="微软雅黑" panose="020B0503020204020204" pitchFamily="34" charset="-122"/>
                <a:ea typeface="微软雅黑" panose="020B0503020204020204" pitchFamily="34" charset="-122"/>
              </a:rPr>
              <a:t>算法</a:t>
            </a:r>
            <a:r>
              <a:rPr lang="zh-CN" altLang="zh-CN" sz="1800" dirty="0">
                <a:effectLst/>
                <a:latin typeface="微软雅黑" panose="020B0503020204020204" pitchFamily="34" charset="-122"/>
                <a:ea typeface="微软雅黑" panose="020B0503020204020204" pitchFamily="34" charset="-122"/>
              </a:rPr>
              <a:t>的有效性。</a:t>
            </a:r>
          </a:p>
        </p:txBody>
      </p:sp>
    </p:spTree>
    <p:extLst>
      <p:ext uri="{BB962C8B-B14F-4D97-AF65-F5344CB8AC3E}">
        <p14:creationId xmlns:p14="http://schemas.microsoft.com/office/powerpoint/2010/main" val="202136271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A35345F-CEDB-3E8E-2782-2F5315D8B0E4}"/>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18</a:t>
            </a:fld>
            <a:endParaRPr lang="zh-HK" altLang="en-US">
              <a:solidFill>
                <a:prstClr val="black">
                  <a:tint val="75000"/>
                </a:prstClr>
              </a:solidFill>
            </a:endParaRPr>
          </a:p>
        </p:txBody>
      </p:sp>
      <p:pic>
        <p:nvPicPr>
          <p:cNvPr id="4" name="图片 3">
            <a:extLst>
              <a:ext uri="{FF2B5EF4-FFF2-40B4-BE49-F238E27FC236}">
                <a16:creationId xmlns:a16="http://schemas.microsoft.com/office/drawing/2014/main" id="{B739BA95-F69E-A139-CA4A-5CACAA807627}"/>
              </a:ext>
            </a:extLst>
          </p:cNvPr>
          <p:cNvPicPr>
            <a:picLocks noChangeAspect="1"/>
          </p:cNvPicPr>
          <p:nvPr/>
        </p:nvPicPr>
        <p:blipFill>
          <a:blip r:embed="rId2"/>
          <a:stretch>
            <a:fillRect/>
          </a:stretch>
        </p:blipFill>
        <p:spPr>
          <a:xfrm>
            <a:off x="271669" y="1054227"/>
            <a:ext cx="11648661" cy="5027841"/>
          </a:xfrm>
          <a:prstGeom prst="rect">
            <a:avLst/>
          </a:prstGeom>
        </p:spPr>
      </p:pic>
    </p:spTree>
    <p:extLst>
      <p:ext uri="{BB962C8B-B14F-4D97-AF65-F5344CB8AC3E}">
        <p14:creationId xmlns:p14="http://schemas.microsoft.com/office/powerpoint/2010/main" val="304338697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5A8B61DC-75C8-16BD-CBFF-1CAFB8C8E9C7}"/>
              </a:ext>
            </a:extLst>
          </p:cNvPr>
          <p:cNvGrpSpPr/>
          <p:nvPr/>
        </p:nvGrpSpPr>
        <p:grpSpPr>
          <a:xfrm>
            <a:off x="1842266" y="2783283"/>
            <a:ext cx="11041608" cy="1720850"/>
            <a:chOff x="1184275" y="2717410"/>
            <a:chExt cx="11041027" cy="1720986"/>
          </a:xfrm>
        </p:grpSpPr>
        <p:grpSp>
          <p:nvGrpSpPr>
            <p:cNvPr id="21" name="Group 4">
              <a:extLst>
                <a:ext uri="{FF2B5EF4-FFF2-40B4-BE49-F238E27FC236}">
                  <a16:creationId xmlns:a16="http://schemas.microsoft.com/office/drawing/2014/main" id="{6D2EA53C-4710-C10B-E481-1F1BDA7CF89C}"/>
                </a:ext>
              </a:extLst>
            </p:cNvPr>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23" name="Freeform 6">
                <a:extLst>
                  <a:ext uri="{FF2B5EF4-FFF2-40B4-BE49-F238E27FC236}">
                    <a16:creationId xmlns:a16="http://schemas.microsoft.com/office/drawing/2014/main" id="{CFEC55CC-F890-DD02-6C97-AEDCF6415341}"/>
                  </a:ext>
                </a:extLst>
              </p:cNvPr>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24" name="Freeform 7">
                <a:extLst>
                  <a:ext uri="{FF2B5EF4-FFF2-40B4-BE49-F238E27FC236}">
                    <a16:creationId xmlns:a16="http://schemas.microsoft.com/office/drawing/2014/main" id="{2EFFA23E-FDD6-3BCE-946C-1CA31452670B}"/>
                  </a:ext>
                </a:extLst>
              </p:cNvPr>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22" name="文本框 21">
              <a:extLst>
                <a:ext uri="{FF2B5EF4-FFF2-40B4-BE49-F238E27FC236}">
                  <a16:creationId xmlns:a16="http://schemas.microsoft.com/office/drawing/2014/main" id="{FD18BFEF-0124-B1BA-69E0-29F501B829C8}"/>
                </a:ext>
              </a:extLst>
            </p:cNvPr>
            <p:cNvSpPr txBox="1"/>
            <p:nvPr/>
          </p:nvSpPr>
          <p:spPr>
            <a:xfrm>
              <a:off x="3187698" y="2847430"/>
              <a:ext cx="9037604" cy="1108084"/>
            </a:xfrm>
            <a:prstGeom prst="rect">
              <a:avLst/>
            </a:prstGeom>
            <a:noFill/>
          </p:spPr>
          <p:txBody>
            <a:bodyPr wrap="square" rtlCol="0">
              <a:spAutoFit/>
            </a:bodyPr>
            <a:lstStyle/>
            <a:p>
              <a:r>
                <a:rPr lang="zh-CN" altLang="en-US" sz="6600" b="1" spc="300" dirty="0">
                  <a:solidFill>
                    <a:schemeClr val="bg1"/>
                  </a:solidFill>
                  <a:latin typeface="微软雅黑" panose="020B0503020204020204" pitchFamily="34" charset="-122"/>
                  <a:ea typeface="微软雅黑" panose="020B0503020204020204" pitchFamily="34" charset="-122"/>
                </a:rPr>
                <a:t>阶段性研究成果</a:t>
              </a:r>
            </a:p>
          </p:txBody>
        </p:sp>
      </p:gr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20</a:t>
            </a:fld>
            <a:endParaRPr lang="zh-HK" altLang="en-US" dirty="0">
              <a:solidFill>
                <a:prstClr val="black">
                  <a:tint val="75000"/>
                </a:prstClr>
              </a:solidFill>
            </a:endParaRPr>
          </a:p>
        </p:txBody>
      </p:sp>
      <p:sp>
        <p:nvSpPr>
          <p:cNvPr id="3" name="矩形 3">
            <a:extLst>
              <a:ext uri="{FF2B5EF4-FFF2-40B4-BE49-F238E27FC236}">
                <a16:creationId xmlns:a16="http://schemas.microsoft.com/office/drawing/2014/main" id="{94D98629-3559-CC30-2625-DFF2547770A8}"/>
              </a:ext>
            </a:extLst>
          </p:cNvPr>
          <p:cNvSpPr/>
          <p:nvPr/>
        </p:nvSpPr>
        <p:spPr>
          <a:xfrm>
            <a:off x="849713" y="2731577"/>
            <a:ext cx="2571571"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A2B7B"/>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TextBox 74">
            <a:extLst>
              <a:ext uri="{FF2B5EF4-FFF2-40B4-BE49-F238E27FC236}">
                <a16:creationId xmlns:a16="http://schemas.microsoft.com/office/drawing/2014/main" id="{FE1F2EEC-7B0A-745C-B2F9-E4286DFF3F32}"/>
              </a:ext>
            </a:extLst>
          </p:cNvPr>
          <p:cNvSpPr txBox="1"/>
          <p:nvPr/>
        </p:nvSpPr>
        <p:spPr>
          <a:xfrm>
            <a:off x="3517802" y="5677022"/>
            <a:ext cx="8266656" cy="49244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通过阅读大量文献，对不同的稳定性控制算法有所了解，掌握了模型预测控制算法的设计方法并在</a:t>
            </a:r>
            <a:r>
              <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MATLAB</a:t>
            </a: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中实现。</a:t>
            </a:r>
          </a:p>
        </p:txBody>
      </p:sp>
      <p:sp>
        <p:nvSpPr>
          <p:cNvPr id="6" name="矩形 3">
            <a:extLst>
              <a:ext uri="{FF2B5EF4-FFF2-40B4-BE49-F238E27FC236}">
                <a16:creationId xmlns:a16="http://schemas.microsoft.com/office/drawing/2014/main" id="{1610EDA5-5615-0995-0E11-87A4E25E7BCA}"/>
              </a:ext>
            </a:extLst>
          </p:cNvPr>
          <p:cNvSpPr/>
          <p:nvPr/>
        </p:nvSpPr>
        <p:spPr>
          <a:xfrm>
            <a:off x="849714" y="1405918"/>
            <a:ext cx="2571571"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A2B7B"/>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7" name="组合 6">
            <a:extLst>
              <a:ext uri="{FF2B5EF4-FFF2-40B4-BE49-F238E27FC236}">
                <a16:creationId xmlns:a16="http://schemas.microsoft.com/office/drawing/2014/main" id="{F0B31D53-FDD9-48F1-2D26-92871793E890}"/>
              </a:ext>
            </a:extLst>
          </p:cNvPr>
          <p:cNvGrpSpPr/>
          <p:nvPr/>
        </p:nvGrpSpPr>
        <p:grpSpPr>
          <a:xfrm>
            <a:off x="544648" y="1520806"/>
            <a:ext cx="672074" cy="672075"/>
            <a:chOff x="2769119" y="1848492"/>
            <a:chExt cx="504056" cy="504056"/>
          </a:xfrm>
        </p:grpSpPr>
        <p:sp>
          <p:nvSpPr>
            <p:cNvPr id="8" name="椭圆 7">
              <a:extLst>
                <a:ext uri="{FF2B5EF4-FFF2-40B4-BE49-F238E27FC236}">
                  <a16:creationId xmlns:a16="http://schemas.microsoft.com/office/drawing/2014/main" id="{F7C9B77D-E208-2A20-F7B9-ED4B144189FB}"/>
                </a:ext>
              </a:extLst>
            </p:cNvPr>
            <p:cNvSpPr/>
            <p:nvPr/>
          </p:nvSpPr>
          <p:spPr>
            <a:xfrm>
              <a:off x="2769119" y="1848492"/>
              <a:ext cx="504056" cy="504056"/>
            </a:xfrm>
            <a:prstGeom prst="ellipse">
              <a:avLst/>
            </a:prstGeom>
            <a:solidFill>
              <a:srgbClr val="28384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TextBox 66">
              <a:extLst>
                <a:ext uri="{FF2B5EF4-FFF2-40B4-BE49-F238E27FC236}">
                  <a16:creationId xmlns:a16="http://schemas.microsoft.com/office/drawing/2014/main" id="{3EA8C87A-012B-DAFF-07FB-5DEA6B21A874}"/>
                </a:ext>
              </a:extLst>
            </p:cNvPr>
            <p:cNvSpPr txBox="1"/>
            <p:nvPr/>
          </p:nvSpPr>
          <p:spPr>
            <a:xfrm>
              <a:off x="2808589" y="1931243"/>
              <a:ext cx="372939" cy="315423"/>
            </a:xfrm>
            <a:prstGeom prst="rect">
              <a:avLst/>
            </a:prstGeom>
            <a:noFill/>
          </p:spPr>
          <p:txBody>
            <a:bodyPr wrap="none" rtlCol="0">
              <a:spAutoFit/>
            </a:bodyPr>
            <a:lstStyle/>
            <a:p>
              <a:r>
                <a:rPr lang="en-US" altLang="zh-CN"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lang="zh-CN" altLang="en-US"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0" name="矩形 3">
            <a:extLst>
              <a:ext uri="{FF2B5EF4-FFF2-40B4-BE49-F238E27FC236}">
                <a16:creationId xmlns:a16="http://schemas.microsoft.com/office/drawing/2014/main" id="{78BFA278-D254-63E8-A68A-42F3B0C785CB}"/>
              </a:ext>
            </a:extLst>
          </p:cNvPr>
          <p:cNvSpPr/>
          <p:nvPr/>
        </p:nvSpPr>
        <p:spPr>
          <a:xfrm>
            <a:off x="847692" y="4057236"/>
            <a:ext cx="2533359"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A2B7B"/>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1" name="组合 10">
            <a:extLst>
              <a:ext uri="{FF2B5EF4-FFF2-40B4-BE49-F238E27FC236}">
                <a16:creationId xmlns:a16="http://schemas.microsoft.com/office/drawing/2014/main" id="{E9DFACFD-7BDC-617A-F9C2-D84F935A625F}"/>
              </a:ext>
            </a:extLst>
          </p:cNvPr>
          <p:cNvGrpSpPr/>
          <p:nvPr/>
        </p:nvGrpSpPr>
        <p:grpSpPr>
          <a:xfrm>
            <a:off x="536097" y="2830369"/>
            <a:ext cx="672074" cy="672075"/>
            <a:chOff x="2471142" y="2586760"/>
            <a:chExt cx="504056" cy="504056"/>
          </a:xfrm>
        </p:grpSpPr>
        <p:sp>
          <p:nvSpPr>
            <p:cNvPr id="12" name="椭圆 11">
              <a:extLst>
                <a:ext uri="{FF2B5EF4-FFF2-40B4-BE49-F238E27FC236}">
                  <a16:creationId xmlns:a16="http://schemas.microsoft.com/office/drawing/2014/main" id="{ED0B3229-E8A6-5D67-5940-32B16C2F81AD}"/>
                </a:ext>
              </a:extLst>
            </p:cNvPr>
            <p:cNvSpPr/>
            <p:nvPr/>
          </p:nvSpPr>
          <p:spPr>
            <a:xfrm>
              <a:off x="2471142" y="2586760"/>
              <a:ext cx="504056" cy="504056"/>
            </a:xfrm>
            <a:prstGeom prst="ellipse">
              <a:avLst/>
            </a:prstGeom>
            <a:solidFill>
              <a:srgbClr val="28384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TextBox 69">
              <a:extLst>
                <a:ext uri="{FF2B5EF4-FFF2-40B4-BE49-F238E27FC236}">
                  <a16:creationId xmlns:a16="http://schemas.microsoft.com/office/drawing/2014/main" id="{124264F4-410D-F614-E201-2C92D867A7DC}"/>
                </a:ext>
              </a:extLst>
            </p:cNvPr>
            <p:cNvSpPr txBox="1"/>
            <p:nvPr/>
          </p:nvSpPr>
          <p:spPr>
            <a:xfrm>
              <a:off x="2510612" y="2669511"/>
              <a:ext cx="372939" cy="315423"/>
            </a:xfrm>
            <a:prstGeom prst="rect">
              <a:avLst/>
            </a:prstGeom>
            <a:noFill/>
          </p:spPr>
          <p:txBody>
            <a:bodyPr wrap="none" rtlCol="0">
              <a:spAutoFit/>
            </a:bodyPr>
            <a:lstStyle/>
            <a:p>
              <a:r>
                <a:rPr lang="en-US" altLang="zh-CN"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lang="zh-CN" altLang="en-US"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14" name="组合 13">
            <a:extLst>
              <a:ext uri="{FF2B5EF4-FFF2-40B4-BE49-F238E27FC236}">
                <a16:creationId xmlns:a16="http://schemas.microsoft.com/office/drawing/2014/main" id="{CAB959C7-B871-55D0-9382-990441A12EDF}"/>
              </a:ext>
            </a:extLst>
          </p:cNvPr>
          <p:cNvGrpSpPr/>
          <p:nvPr/>
        </p:nvGrpSpPr>
        <p:grpSpPr>
          <a:xfrm>
            <a:off x="574524" y="4156028"/>
            <a:ext cx="672074" cy="672075"/>
            <a:chOff x="2769119" y="3325028"/>
            <a:chExt cx="504056" cy="504056"/>
          </a:xfrm>
        </p:grpSpPr>
        <p:sp>
          <p:nvSpPr>
            <p:cNvPr id="15" name="椭圆 14">
              <a:extLst>
                <a:ext uri="{FF2B5EF4-FFF2-40B4-BE49-F238E27FC236}">
                  <a16:creationId xmlns:a16="http://schemas.microsoft.com/office/drawing/2014/main" id="{CA3CE594-3389-F201-A506-5E5618B2CB46}"/>
                </a:ext>
              </a:extLst>
            </p:cNvPr>
            <p:cNvSpPr/>
            <p:nvPr/>
          </p:nvSpPr>
          <p:spPr>
            <a:xfrm>
              <a:off x="2769119" y="3325028"/>
              <a:ext cx="504056" cy="504056"/>
            </a:xfrm>
            <a:prstGeom prst="ellipse">
              <a:avLst/>
            </a:prstGeom>
            <a:solidFill>
              <a:srgbClr val="28384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TextBox 72">
              <a:extLst>
                <a:ext uri="{FF2B5EF4-FFF2-40B4-BE49-F238E27FC236}">
                  <a16:creationId xmlns:a16="http://schemas.microsoft.com/office/drawing/2014/main" id="{17729B06-5E16-4A09-8C18-CECF956218F1}"/>
                </a:ext>
              </a:extLst>
            </p:cNvPr>
            <p:cNvSpPr txBox="1"/>
            <p:nvPr/>
          </p:nvSpPr>
          <p:spPr>
            <a:xfrm>
              <a:off x="2808589" y="3407779"/>
              <a:ext cx="370535" cy="315423"/>
            </a:xfrm>
            <a:prstGeom prst="rect">
              <a:avLst/>
            </a:prstGeom>
            <a:noFill/>
          </p:spPr>
          <p:txBody>
            <a:bodyPr wrap="none" rtlCol="0">
              <a:spAutoFit/>
            </a:bodyPr>
            <a:lstStyle/>
            <a:p>
              <a:r>
                <a:rPr lang="en-US" altLang="zh-CN"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lang="zh-CN" altLang="en-US"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7" name="TextBox 82">
            <a:extLst>
              <a:ext uri="{FF2B5EF4-FFF2-40B4-BE49-F238E27FC236}">
                <a16:creationId xmlns:a16="http://schemas.microsoft.com/office/drawing/2014/main" id="{3BD7202E-F4F1-11A5-A8C5-2BF54A9D9BDD}"/>
              </a:ext>
            </a:extLst>
          </p:cNvPr>
          <p:cNvSpPr txBox="1"/>
          <p:nvPr/>
        </p:nvSpPr>
        <p:spPr>
          <a:xfrm>
            <a:off x="974793" y="1631141"/>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r>
              <a:rPr lang="zh-CN" altLang="en-US" sz="2933"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发明专利</a:t>
            </a:r>
          </a:p>
        </p:txBody>
      </p:sp>
      <p:sp>
        <p:nvSpPr>
          <p:cNvPr id="18" name="TextBox 83">
            <a:extLst>
              <a:ext uri="{FF2B5EF4-FFF2-40B4-BE49-F238E27FC236}">
                <a16:creationId xmlns:a16="http://schemas.microsoft.com/office/drawing/2014/main" id="{E55E425A-E07F-9AED-835A-3E48D46A02F3}"/>
              </a:ext>
            </a:extLst>
          </p:cNvPr>
          <p:cNvSpPr txBox="1"/>
          <p:nvPr/>
        </p:nvSpPr>
        <p:spPr>
          <a:xfrm>
            <a:off x="1123218" y="2930027"/>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r>
              <a:rPr lang="zh-CN" altLang="en-US" sz="2933"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软件著作权</a:t>
            </a:r>
          </a:p>
        </p:txBody>
      </p:sp>
      <p:sp>
        <p:nvSpPr>
          <p:cNvPr id="19" name="TextBox 84">
            <a:extLst>
              <a:ext uri="{FF2B5EF4-FFF2-40B4-BE49-F238E27FC236}">
                <a16:creationId xmlns:a16="http://schemas.microsoft.com/office/drawing/2014/main" id="{2C789F1D-5C40-9A29-E42F-7B5B9F624CFF}"/>
              </a:ext>
            </a:extLst>
          </p:cNvPr>
          <p:cNvSpPr txBox="1"/>
          <p:nvPr/>
        </p:nvSpPr>
        <p:spPr>
          <a:xfrm>
            <a:off x="984443" y="4266363"/>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r>
              <a:rPr lang="zh-CN" altLang="en-US" sz="2933"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模型搭建</a:t>
            </a:r>
          </a:p>
        </p:txBody>
      </p:sp>
      <p:sp>
        <p:nvSpPr>
          <p:cNvPr id="21" name="矩形 3">
            <a:extLst>
              <a:ext uri="{FF2B5EF4-FFF2-40B4-BE49-F238E27FC236}">
                <a16:creationId xmlns:a16="http://schemas.microsoft.com/office/drawing/2014/main" id="{9FFFDED0-DE8E-F9C6-9475-E14AD7BE42B8}"/>
              </a:ext>
            </a:extLst>
          </p:cNvPr>
          <p:cNvSpPr/>
          <p:nvPr/>
        </p:nvSpPr>
        <p:spPr>
          <a:xfrm>
            <a:off x="847692" y="5382895"/>
            <a:ext cx="2533359"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A2B7B"/>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2" name="组合 21">
            <a:extLst>
              <a:ext uri="{FF2B5EF4-FFF2-40B4-BE49-F238E27FC236}">
                <a16:creationId xmlns:a16="http://schemas.microsoft.com/office/drawing/2014/main" id="{E69AC4C0-9D3D-B6F4-A88C-04DEC2B3E676}"/>
              </a:ext>
            </a:extLst>
          </p:cNvPr>
          <p:cNvGrpSpPr/>
          <p:nvPr/>
        </p:nvGrpSpPr>
        <p:grpSpPr>
          <a:xfrm>
            <a:off x="574524" y="5481687"/>
            <a:ext cx="672074" cy="672075"/>
            <a:chOff x="2769119" y="3325028"/>
            <a:chExt cx="504056" cy="504056"/>
          </a:xfrm>
        </p:grpSpPr>
        <p:sp>
          <p:nvSpPr>
            <p:cNvPr id="23" name="椭圆 22">
              <a:extLst>
                <a:ext uri="{FF2B5EF4-FFF2-40B4-BE49-F238E27FC236}">
                  <a16:creationId xmlns:a16="http://schemas.microsoft.com/office/drawing/2014/main" id="{C5B5C404-A883-75F9-9B94-64BB6FEBB44E}"/>
                </a:ext>
              </a:extLst>
            </p:cNvPr>
            <p:cNvSpPr/>
            <p:nvPr/>
          </p:nvSpPr>
          <p:spPr>
            <a:xfrm>
              <a:off x="2769119" y="3325028"/>
              <a:ext cx="504056" cy="504056"/>
            </a:xfrm>
            <a:prstGeom prst="ellipse">
              <a:avLst/>
            </a:prstGeom>
            <a:solidFill>
              <a:srgbClr val="28384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TextBox 72">
              <a:extLst>
                <a:ext uri="{FF2B5EF4-FFF2-40B4-BE49-F238E27FC236}">
                  <a16:creationId xmlns:a16="http://schemas.microsoft.com/office/drawing/2014/main" id="{84E7BECD-E31F-920F-D8BE-99E70860DD21}"/>
                </a:ext>
              </a:extLst>
            </p:cNvPr>
            <p:cNvSpPr txBox="1"/>
            <p:nvPr/>
          </p:nvSpPr>
          <p:spPr>
            <a:xfrm>
              <a:off x="2808589" y="3407779"/>
              <a:ext cx="390973" cy="315423"/>
            </a:xfrm>
            <a:prstGeom prst="rect">
              <a:avLst/>
            </a:prstGeom>
            <a:noFill/>
          </p:spPr>
          <p:txBody>
            <a:bodyPr wrap="none" rtlCol="0">
              <a:spAutoFit/>
            </a:bodyPr>
            <a:lstStyle/>
            <a:p>
              <a:r>
                <a:rPr lang="en-US" altLang="zh-CN"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04</a:t>
              </a:r>
              <a:endParaRPr lang="zh-CN" altLang="en-US" sz="2133"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5" name="TextBox 84">
            <a:extLst>
              <a:ext uri="{FF2B5EF4-FFF2-40B4-BE49-F238E27FC236}">
                <a16:creationId xmlns:a16="http://schemas.microsoft.com/office/drawing/2014/main" id="{9D6CE128-3CFF-ADBA-768A-67C6ED0F52CD}"/>
              </a:ext>
            </a:extLst>
          </p:cNvPr>
          <p:cNvSpPr txBox="1"/>
          <p:nvPr/>
        </p:nvSpPr>
        <p:spPr>
          <a:xfrm>
            <a:off x="984443" y="5592022"/>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r>
              <a:rPr lang="zh-CN" altLang="en-US" sz="2933"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算法学习</a:t>
            </a:r>
          </a:p>
        </p:txBody>
      </p:sp>
      <p:sp>
        <p:nvSpPr>
          <p:cNvPr id="4" name="文本框 3">
            <a:extLst>
              <a:ext uri="{FF2B5EF4-FFF2-40B4-BE49-F238E27FC236}">
                <a16:creationId xmlns:a16="http://schemas.microsoft.com/office/drawing/2014/main" id="{8208FC82-17C5-13B7-BA9D-ED025DA8DE50}"/>
              </a:ext>
            </a:extLst>
          </p:cNvPr>
          <p:cNvSpPr txBox="1"/>
          <p:nvPr/>
        </p:nvSpPr>
        <p:spPr>
          <a:xfrm>
            <a:off x="3428655" y="1230876"/>
            <a:ext cx="8537915" cy="2585323"/>
          </a:xfrm>
          <a:prstGeom prst="rect">
            <a:avLst/>
          </a:prstGeom>
          <a:noFill/>
        </p:spPr>
        <p:txBody>
          <a:bodyPr wrap="none" rtlCol="0">
            <a:spAutoFit/>
          </a:bodyPr>
          <a:lstStyle/>
          <a:p>
            <a:pPr marL="285750" indent="-285750" algn="just">
              <a:lnSpc>
                <a:spcPct val="150000"/>
              </a:lnSpc>
              <a:buFont typeface="Arial" panose="020B0604020202020204" pitchFamily="34" charset="0"/>
              <a:buChar char="•"/>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已公开分布式线控底盘电动汽车运动控制相关的发明专利</a:t>
            </a:r>
            <a:r>
              <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项：</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lvl="1">
              <a:lnSpc>
                <a:spcPct val="150000"/>
              </a:lnSpc>
            </a:pPr>
            <a:r>
              <a:rPr lang="zh-CN" altLang="en-US" sz="1600" dirty="0">
                <a:latin typeface="微软雅黑" panose="020B0503020204020204" pitchFamily="34" charset="-122"/>
                <a:ea typeface="微软雅黑" panose="020B0503020204020204" pitchFamily="34" charset="-122"/>
              </a:rPr>
              <a:t>一种四轮主动转向控制模式切换系统（公开号：</a:t>
            </a:r>
            <a:r>
              <a:rPr lang="en-US" altLang="zh-CN" sz="1600" dirty="0">
                <a:latin typeface="微软雅黑" panose="020B0503020204020204" pitchFamily="34" charset="-122"/>
                <a:ea typeface="微软雅黑" panose="020B0503020204020204" pitchFamily="34" charset="-122"/>
              </a:rPr>
              <a:t>CN117341812A</a:t>
            </a:r>
            <a:r>
              <a:rPr lang="zh-CN" altLang="en-US" sz="1600" dirty="0">
                <a:latin typeface="微软雅黑" panose="020B0503020204020204" pitchFamily="34" charset="-122"/>
                <a:ea typeface="微软雅黑" panose="020B0503020204020204" pitchFamily="34" charset="-122"/>
              </a:rPr>
              <a:t>）</a:t>
            </a:r>
          </a:p>
          <a:p>
            <a:pPr lvl="1">
              <a:lnSpc>
                <a:spcPct val="150000"/>
              </a:lnSpc>
            </a:pPr>
            <a:r>
              <a:rPr lang="zh-CN" altLang="en-US" sz="1600" dirty="0">
                <a:latin typeface="微软雅黑" panose="020B0503020204020204" pitchFamily="34" charset="-122"/>
                <a:ea typeface="微软雅黑" panose="020B0503020204020204" pitchFamily="34" charset="-122"/>
              </a:rPr>
              <a:t>一种四轮转向模式动态切换控制系统（公开号：</a:t>
            </a:r>
            <a:r>
              <a:rPr lang="en-US" altLang="zh-CN" sz="1600" dirty="0">
                <a:latin typeface="微软雅黑" panose="020B0503020204020204" pitchFamily="34" charset="-122"/>
                <a:ea typeface="微软雅黑" panose="020B0503020204020204" pitchFamily="34" charset="-122"/>
              </a:rPr>
              <a:t>CN117584940A</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已公开轨迹规划相关的发明专利</a:t>
            </a:r>
            <a:r>
              <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2</a:t>
            </a: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项：</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lvl="1">
              <a:lnSpc>
                <a:spcPct val="150000"/>
              </a:lnSpc>
            </a:pPr>
            <a:r>
              <a:rPr lang="zh-CN" altLang="en-US" sz="1600" dirty="0">
                <a:latin typeface="微软雅黑" panose="020B0503020204020204" pitchFamily="34" charset="-122"/>
                <a:ea typeface="微软雅黑" panose="020B0503020204020204" pitchFamily="34" charset="-122"/>
              </a:rPr>
              <a:t>基于车联网通信的四轮转向智能汽车超车轨迹规划方法（公开号：</a:t>
            </a:r>
            <a:r>
              <a:rPr lang="en-US" altLang="zh-CN" sz="1600" dirty="0">
                <a:latin typeface="微软雅黑" panose="020B0503020204020204" pitchFamily="34" charset="-122"/>
                <a:ea typeface="微软雅黑" panose="020B0503020204020204" pitchFamily="34" charset="-122"/>
              </a:rPr>
              <a:t>CN117962893A</a:t>
            </a:r>
            <a:r>
              <a:rPr lang="zh-CN" altLang="en-US" sz="1600" dirty="0">
                <a:latin typeface="微软雅黑" panose="020B0503020204020204" pitchFamily="34" charset="-122"/>
                <a:ea typeface="微软雅黑" panose="020B0503020204020204" pitchFamily="34" charset="-122"/>
              </a:rPr>
              <a:t>）</a:t>
            </a:r>
          </a:p>
          <a:p>
            <a:pPr lvl="1">
              <a:lnSpc>
                <a:spcPct val="150000"/>
              </a:lnSpc>
            </a:pPr>
            <a:r>
              <a:rPr lang="zh-CN" altLang="en-US" sz="1600" dirty="0">
                <a:latin typeface="微软雅黑" panose="020B0503020204020204" pitchFamily="34" charset="-122"/>
                <a:ea typeface="微软雅黑" panose="020B0503020204020204" pitchFamily="34" charset="-122"/>
              </a:rPr>
              <a:t>一种基于驾驶意图预测模型的智能汽车行驶轨迹规划方法（公开号：</a:t>
            </a:r>
            <a:r>
              <a:rPr lang="en-US" altLang="zh-CN" sz="1600" dirty="0">
                <a:latin typeface="微软雅黑" panose="020B0503020204020204" pitchFamily="34" charset="-122"/>
                <a:ea typeface="微软雅黑" panose="020B0503020204020204" pitchFamily="34" charset="-122"/>
              </a:rPr>
              <a:t>CN118665532A</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endParaRPr lang="zh-CN" altLang="en-US" dirty="0"/>
          </a:p>
        </p:txBody>
      </p:sp>
      <p:sp>
        <p:nvSpPr>
          <p:cNvPr id="20" name="文本框 19">
            <a:extLst>
              <a:ext uri="{FF2B5EF4-FFF2-40B4-BE49-F238E27FC236}">
                <a16:creationId xmlns:a16="http://schemas.microsoft.com/office/drawing/2014/main" id="{EA6F1606-EBB3-C849-CFEC-65EC8061F93B}"/>
              </a:ext>
            </a:extLst>
          </p:cNvPr>
          <p:cNvSpPr txBox="1"/>
          <p:nvPr/>
        </p:nvSpPr>
        <p:spPr>
          <a:xfrm>
            <a:off x="3419261" y="3601236"/>
            <a:ext cx="7967246" cy="1477328"/>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已登记分布式线控底盘电动汽车运动控制相关的软件著作权两项：</a:t>
            </a:r>
          </a:p>
          <a:p>
            <a:pPr lvl="1">
              <a:lnSpc>
                <a:spcPct val="150000"/>
              </a:lnSpc>
            </a:pPr>
            <a:r>
              <a:rPr lang="zh-CN" altLang="en-US" sz="1600" dirty="0">
                <a:latin typeface="微软雅黑" panose="020B0503020204020204" pitchFamily="34" charset="-122"/>
                <a:ea typeface="微软雅黑" panose="020B0503020204020204" pitchFamily="34" charset="-122"/>
              </a:rPr>
              <a:t>智能电动四轮转向汽车主动后轮转角控制软件（登记号：</a:t>
            </a:r>
            <a:r>
              <a:rPr lang="en-US" altLang="zh-CN" sz="1600" dirty="0">
                <a:latin typeface="微软雅黑" panose="020B0503020204020204" pitchFamily="34" charset="-122"/>
                <a:ea typeface="微软雅黑" panose="020B0503020204020204" pitchFamily="34" charset="-122"/>
              </a:rPr>
              <a:t>2024SR1240567</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lvl="1">
              <a:lnSpc>
                <a:spcPct val="150000"/>
              </a:lnSpc>
            </a:pPr>
            <a:r>
              <a:rPr lang="zh-CN" altLang="en-US" sz="1600" dirty="0">
                <a:latin typeface="微软雅黑" panose="020B0503020204020204" pitchFamily="34" charset="-122"/>
                <a:ea typeface="微软雅黑" panose="020B0503020204020204" pitchFamily="34" charset="-122"/>
              </a:rPr>
              <a:t>四轮转向智能电动汽车后轮主动转向转角计算软件（登记号：</a:t>
            </a:r>
            <a:r>
              <a:rPr lang="en-US" altLang="zh-CN" sz="1600" dirty="0">
                <a:latin typeface="微软雅黑" panose="020B0503020204020204" pitchFamily="34" charset="-122"/>
                <a:ea typeface="微软雅黑" panose="020B0503020204020204" pitchFamily="34" charset="-122"/>
              </a:rPr>
              <a:t>2024SR1240555</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endParaRPr lang="zh-CN" altLang="en-US" dirty="0"/>
          </a:p>
        </p:txBody>
      </p:sp>
      <p:sp>
        <p:nvSpPr>
          <p:cNvPr id="26" name="文本框 25">
            <a:extLst>
              <a:ext uri="{FF2B5EF4-FFF2-40B4-BE49-F238E27FC236}">
                <a16:creationId xmlns:a16="http://schemas.microsoft.com/office/drawing/2014/main" id="{95BD39AE-0E6E-52B9-2A98-C136B70AB129}"/>
              </a:ext>
            </a:extLst>
          </p:cNvPr>
          <p:cNvSpPr txBox="1"/>
          <p:nvPr/>
        </p:nvSpPr>
        <p:spPr>
          <a:xfrm>
            <a:off x="3419260" y="4926895"/>
            <a:ext cx="8365198" cy="584775"/>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已经搭建了四轮独立驱动</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转向</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制动的分布式线控底盘电动汽车动力学模型，后续基于该模型进行规划算法以及运动控制策略的设计。</a:t>
            </a:r>
          </a:p>
        </p:txBody>
      </p:sp>
    </p:spTree>
    <p:extLst>
      <p:ext uri="{BB962C8B-B14F-4D97-AF65-F5344CB8AC3E}">
        <p14:creationId xmlns:p14="http://schemas.microsoft.com/office/powerpoint/2010/main" val="420642867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176019" y="2754072"/>
            <a:ext cx="8662085" cy="1720850"/>
            <a:chOff x="1184275" y="2717410"/>
            <a:chExt cx="8661629" cy="1720986"/>
          </a:xfrm>
        </p:grpSpPr>
        <p:grpSp>
          <p:nvGrpSpPr>
            <p:cNvPr id="10" name="Group 4"/>
            <p:cNvGrpSpPr>
              <a:grpSpLocks noChangeAspect="1"/>
            </p:cNvGrpSpPr>
            <p:nvPr/>
          </p:nvGrpSpPr>
          <p:grpSpPr bwMode="auto">
            <a:xfrm>
              <a:off x="1184275" y="2717410"/>
              <a:ext cx="1847850" cy="1720986"/>
              <a:chOff x="1164" y="687"/>
              <a:chExt cx="3219" cy="2998"/>
            </a:xfrm>
            <a:solidFill>
              <a:schemeClr val="bg1"/>
            </a:solidFill>
            <a:effectLst>
              <a:outerShdw blurRad="50800" dist="38100" dir="2700000" algn="tl" rotWithShape="0">
                <a:prstClr val="black">
                  <a:alpha val="40000"/>
                </a:prstClr>
              </a:outerShdw>
            </a:effectLst>
          </p:grpSpPr>
          <p:sp>
            <p:nvSpPr>
              <p:cNvPr id="11" name="Freeform 6"/>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12" name="Freeform 7"/>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13" name="文本框 12"/>
            <p:cNvSpPr txBox="1"/>
            <p:nvPr/>
          </p:nvSpPr>
          <p:spPr>
            <a:xfrm>
              <a:off x="3187699" y="2847430"/>
              <a:ext cx="6658205" cy="1108084"/>
            </a:xfrm>
            <a:prstGeom prst="rect">
              <a:avLst/>
            </a:prstGeom>
            <a:noFill/>
          </p:spPr>
          <p:txBody>
            <a:bodyPr wrap="square" rtlCol="0">
              <a:spAutoFit/>
            </a:bodyPr>
            <a:lstStyle/>
            <a:p>
              <a:r>
                <a:rPr lang="zh-CN" altLang="en-US" sz="6600" b="1" spc="300" dirty="0">
                  <a:solidFill>
                    <a:schemeClr val="bg1"/>
                  </a:solidFill>
                  <a:latin typeface="微软雅黑" panose="020B0503020204020204" pitchFamily="34" charset="-122"/>
                  <a:ea typeface="微软雅黑" panose="020B0503020204020204" pitchFamily="34" charset="-122"/>
                </a:rPr>
                <a:t>下一步工作计划</a:t>
              </a:r>
            </a:p>
          </p:txBody>
        </p:sp>
      </p:grpSp>
    </p:spTree>
    <p:extLst>
      <p:ext uri="{BB962C8B-B14F-4D97-AF65-F5344CB8AC3E}">
        <p14:creationId xmlns:p14="http://schemas.microsoft.com/office/powerpoint/2010/main" val="399225550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22</a:t>
            </a:fld>
            <a:endParaRPr lang="zh-HK" altLang="en-US">
              <a:solidFill>
                <a:prstClr val="black">
                  <a:tint val="75000"/>
                </a:prstClr>
              </a:solidFill>
            </a:endParaRPr>
          </a:p>
        </p:txBody>
      </p:sp>
      <p:graphicFrame>
        <p:nvGraphicFramePr>
          <p:cNvPr id="3" name="表格 2">
            <a:extLst>
              <a:ext uri="{FF2B5EF4-FFF2-40B4-BE49-F238E27FC236}">
                <a16:creationId xmlns:a16="http://schemas.microsoft.com/office/drawing/2014/main" id="{2CD37F92-BFBB-E237-2CB7-2316DD9EC7C4}"/>
              </a:ext>
            </a:extLst>
          </p:cNvPr>
          <p:cNvGraphicFramePr>
            <a:graphicFrameLocks noGrp="1"/>
          </p:cNvGraphicFramePr>
          <p:nvPr>
            <p:custDataLst>
              <p:tags r:id="rId1"/>
            </p:custDataLst>
            <p:extLst>
              <p:ext uri="{D42A27DB-BD31-4B8C-83A1-F6EECF244321}">
                <p14:modId xmlns:p14="http://schemas.microsoft.com/office/powerpoint/2010/main" val="3426029524"/>
              </p:ext>
            </p:extLst>
          </p:nvPr>
        </p:nvGraphicFramePr>
        <p:xfrm>
          <a:off x="746991" y="1095027"/>
          <a:ext cx="10698018" cy="5192861"/>
        </p:xfrm>
        <a:graphic>
          <a:graphicData uri="http://schemas.openxmlformats.org/drawingml/2006/table">
            <a:tbl>
              <a:tblPr firstRow="1" firstCol="1" bandRow="1">
                <a:tableStyleId>{5C22544A-7EE6-4342-B048-85BDC9FD1C3A}</a:tableStyleId>
              </a:tblPr>
              <a:tblGrid>
                <a:gridCol w="900834">
                  <a:extLst>
                    <a:ext uri="{9D8B030D-6E8A-4147-A177-3AD203B41FA5}">
                      <a16:colId xmlns:a16="http://schemas.microsoft.com/office/drawing/2014/main" val="20000"/>
                    </a:ext>
                  </a:extLst>
                </a:gridCol>
                <a:gridCol w="630555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gridCol w="1148484">
                  <a:extLst>
                    <a:ext uri="{9D8B030D-6E8A-4147-A177-3AD203B41FA5}">
                      <a16:colId xmlns:a16="http://schemas.microsoft.com/office/drawing/2014/main" val="20003"/>
                    </a:ext>
                  </a:extLst>
                </a:gridCol>
              </a:tblGrid>
              <a:tr h="628429">
                <a:tc>
                  <a:txBody>
                    <a:bodyPr/>
                    <a:lstStyle/>
                    <a:p>
                      <a:pPr algn="ctr">
                        <a:lnSpc>
                          <a:spcPct val="150000"/>
                        </a:lnSpc>
                        <a:spcAft>
                          <a:spcPts val="0"/>
                        </a:spcAft>
                      </a:pPr>
                      <a:r>
                        <a:rPr lang="zh-CN" sz="1600" kern="100" dirty="0">
                          <a:effectLst/>
                          <a:latin typeface="微软雅黑" panose="020B0503020204020204" pitchFamily="34" charset="-122"/>
                          <a:ea typeface="微软雅黑" panose="020B0503020204020204" pitchFamily="34" charset="-122"/>
                        </a:rPr>
                        <a:t>阶段</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indent="304800" algn="ctr" defTabSz="914400" rtl="0" eaLnBrk="1" latinLnBrk="0" hangingPunct="1">
                        <a:lnSpc>
                          <a:spcPct val="150000"/>
                        </a:lnSpc>
                        <a:spcAft>
                          <a:spcPts val="0"/>
                        </a:spcAft>
                      </a:pPr>
                      <a:r>
                        <a:rPr lang="zh-CN" altLang="en-US" sz="1600" b="1" kern="100" dirty="0">
                          <a:solidFill>
                            <a:schemeClr val="lt1"/>
                          </a:solidFill>
                          <a:effectLst/>
                          <a:latin typeface="微软雅黑" panose="020B0503020204020204" pitchFamily="34" charset="-122"/>
                          <a:ea typeface="微软雅黑" panose="020B0503020204020204" pitchFamily="34" charset="-122"/>
                          <a:cs typeface="+mn-cs"/>
                        </a:rPr>
                        <a:t>主要任务</a:t>
                      </a:r>
                    </a:p>
                  </a:txBody>
                  <a:tcPr marL="68580" marR="68580" marT="0" marB="0" anchor="ctr"/>
                </a:tc>
                <a:tc>
                  <a:txBody>
                    <a:bodyPr/>
                    <a:lstStyle/>
                    <a:p>
                      <a:pPr marL="0" indent="304800" algn="ctr" defTabSz="914400" rtl="0" eaLnBrk="1" latinLnBrk="0" hangingPunct="1">
                        <a:lnSpc>
                          <a:spcPct val="150000"/>
                        </a:lnSpc>
                        <a:spcAft>
                          <a:spcPts val="0"/>
                        </a:spcAft>
                      </a:pPr>
                      <a:r>
                        <a:rPr lang="zh-CN" altLang="en-US" sz="1600" b="1" kern="100" dirty="0">
                          <a:solidFill>
                            <a:schemeClr val="lt1"/>
                          </a:solidFill>
                          <a:effectLst/>
                          <a:latin typeface="微软雅黑" panose="020B0503020204020204" pitchFamily="34" charset="-122"/>
                          <a:ea typeface="微软雅黑" panose="020B0503020204020204" pitchFamily="34" charset="-122"/>
                          <a:cs typeface="+mn-cs"/>
                        </a:rPr>
                        <a:t>时间安排</a:t>
                      </a:r>
                    </a:p>
                  </a:txBody>
                  <a:tcPr marL="68580" marR="68580" marT="0" marB="0" anchor="ctr"/>
                </a:tc>
                <a:tc>
                  <a:txBody>
                    <a:bodyPr/>
                    <a:lstStyle/>
                    <a:p>
                      <a:pPr marL="0" algn="ctr" defTabSz="914400" rtl="0" eaLnBrk="1" latinLnBrk="0" hangingPunct="1">
                        <a:lnSpc>
                          <a:spcPct val="150000"/>
                        </a:lnSpc>
                        <a:spcAft>
                          <a:spcPts val="0"/>
                        </a:spcAft>
                      </a:pPr>
                      <a:r>
                        <a:rPr lang="zh-CN" altLang="en-US" sz="1600" b="1" kern="100" dirty="0">
                          <a:solidFill>
                            <a:schemeClr val="lt1"/>
                          </a:solidFill>
                          <a:effectLst/>
                          <a:latin typeface="微软雅黑" panose="020B0503020204020204" pitchFamily="34" charset="-122"/>
                          <a:ea typeface="微软雅黑" panose="020B0503020204020204" pitchFamily="34" charset="-122"/>
                          <a:cs typeface="+mn-cs"/>
                        </a:rPr>
                        <a:t>完成情况</a:t>
                      </a:r>
                    </a:p>
                  </a:txBody>
                  <a:tcPr marL="65282" marR="65282" marT="0" marB="0" anchor="ctr"/>
                </a:tc>
                <a:extLst>
                  <a:ext uri="{0D108BD9-81ED-4DB2-BD59-A6C34878D82A}">
                    <a16:rowId xmlns:a16="http://schemas.microsoft.com/office/drawing/2014/main" val="10000"/>
                  </a:ext>
                </a:extLst>
              </a:tr>
              <a:tr h="481953">
                <a:tc>
                  <a:txBody>
                    <a:bodyPr/>
                    <a:lstStyle/>
                    <a:p>
                      <a:pPr algn="ctr">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1</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查阅相关文献，调研国内外分布式线控底盘、危险工况下的运动规划、跟踪控制与运动控制的相关研究现状</a:t>
                      </a:r>
                    </a:p>
                  </a:txBody>
                  <a:tcPr marL="45720" marR="4572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a:solidFill>
                            <a:schemeClr val="dk1"/>
                          </a:solidFill>
                          <a:effectLst/>
                          <a:latin typeface="微软雅黑" panose="020B0503020204020204" pitchFamily="34" charset="-122"/>
                          <a:ea typeface="微软雅黑" panose="020B0503020204020204" pitchFamily="34" charset="-122"/>
                          <a:cs typeface="+mn-cs"/>
                        </a:rPr>
                        <a:t>2024.05</a:t>
                      </a:r>
                      <a:r>
                        <a:rPr lang="zh-CN" altLang="en-US" sz="1600" kern="100">
                          <a:solidFill>
                            <a:schemeClr val="dk1"/>
                          </a:solidFill>
                          <a:effectLst/>
                          <a:latin typeface="微软雅黑" panose="020B0503020204020204" pitchFamily="34" charset="-122"/>
                          <a:ea typeface="微软雅黑" panose="020B0503020204020204" pitchFamily="34" charset="-122"/>
                          <a:cs typeface="+mn-cs"/>
                        </a:rPr>
                        <a:t>～</a:t>
                      </a:r>
                      <a:r>
                        <a:rPr lang="en-US" sz="1600" kern="100">
                          <a:solidFill>
                            <a:schemeClr val="dk1"/>
                          </a:solidFill>
                          <a:effectLst/>
                          <a:latin typeface="微软雅黑" panose="020B0503020204020204" pitchFamily="34" charset="-122"/>
                          <a:ea typeface="微软雅黑" panose="020B0503020204020204" pitchFamily="34" charset="-122"/>
                          <a:cs typeface="+mn-cs"/>
                        </a:rPr>
                        <a:t>2024.10</a:t>
                      </a:r>
                      <a:endParaRPr lang="zh-CN" altLang="en-US" sz="1600" kern="10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完成</a:t>
                      </a:r>
                    </a:p>
                  </a:txBody>
                  <a:tcPr marL="65282" marR="65282" marT="0" marB="0" anchor="ctr"/>
                </a:tc>
                <a:extLst>
                  <a:ext uri="{0D108BD9-81ED-4DB2-BD59-A6C34878D82A}">
                    <a16:rowId xmlns:a16="http://schemas.microsoft.com/office/drawing/2014/main" val="10001"/>
                  </a:ext>
                </a:extLst>
              </a:tr>
              <a:tr h="604805">
                <a:tc>
                  <a:txBody>
                    <a:bodyPr/>
                    <a:lstStyle/>
                    <a:p>
                      <a:pPr algn="ctr">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2</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四轮独立驱动</a:t>
                      </a:r>
                      <a:r>
                        <a:rPr lang="en-US" sz="1600" kern="100" dirty="0">
                          <a:solidFill>
                            <a:schemeClr val="dk1"/>
                          </a:solidFill>
                          <a:effectLst/>
                          <a:latin typeface="微软雅黑" panose="020B0503020204020204" pitchFamily="34" charset="-122"/>
                          <a:ea typeface="微软雅黑" panose="020B0503020204020204" pitchFamily="34" charset="-122"/>
                          <a:cs typeface="+mn-cs"/>
                        </a:rPr>
                        <a:t>/</a:t>
                      </a: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转向的分布式线控底盘电动汽车动力学模型搭建及模型精度验证</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a:solidFill>
                            <a:schemeClr val="dk1"/>
                          </a:solidFill>
                          <a:effectLst/>
                          <a:latin typeface="微软雅黑" panose="020B0503020204020204" pitchFamily="34" charset="-122"/>
                          <a:ea typeface="微软雅黑" panose="020B0503020204020204" pitchFamily="34" charset="-122"/>
                          <a:cs typeface="+mn-cs"/>
                        </a:rPr>
                        <a:t>2024.10</a:t>
                      </a:r>
                      <a:r>
                        <a:rPr lang="zh-CN" altLang="en-US" sz="1600" kern="100">
                          <a:solidFill>
                            <a:schemeClr val="dk1"/>
                          </a:solidFill>
                          <a:effectLst/>
                          <a:latin typeface="微软雅黑" panose="020B0503020204020204" pitchFamily="34" charset="-122"/>
                          <a:ea typeface="微软雅黑" panose="020B0503020204020204" pitchFamily="34" charset="-122"/>
                          <a:cs typeface="+mn-cs"/>
                        </a:rPr>
                        <a:t>～</a:t>
                      </a:r>
                      <a:r>
                        <a:rPr lang="en-US" sz="1600" kern="100">
                          <a:solidFill>
                            <a:schemeClr val="dk1"/>
                          </a:solidFill>
                          <a:effectLst/>
                          <a:latin typeface="微软雅黑" panose="020B0503020204020204" pitchFamily="34" charset="-122"/>
                          <a:ea typeface="微软雅黑" panose="020B0503020204020204" pitchFamily="34" charset="-122"/>
                          <a:cs typeface="+mn-cs"/>
                        </a:rPr>
                        <a:t>2024.11</a:t>
                      </a:r>
                      <a:endParaRPr lang="zh-CN" altLang="en-US" sz="1600" kern="10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完成</a:t>
                      </a:r>
                    </a:p>
                  </a:txBody>
                  <a:tcPr marL="65282" marR="65282" marT="0" marB="0" anchor="ctr"/>
                </a:tc>
                <a:extLst>
                  <a:ext uri="{0D108BD9-81ED-4DB2-BD59-A6C34878D82A}">
                    <a16:rowId xmlns:a16="http://schemas.microsoft.com/office/drawing/2014/main" val="10002"/>
                  </a:ext>
                </a:extLst>
              </a:tr>
              <a:tr h="521329">
                <a:tc>
                  <a:txBody>
                    <a:bodyPr/>
                    <a:lstStyle/>
                    <a:p>
                      <a:pPr algn="ctr">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3</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基于改进混合</a:t>
                      </a:r>
                      <a:r>
                        <a:rPr lang="en-US" sz="1600" kern="100" dirty="0">
                          <a:solidFill>
                            <a:schemeClr val="dk1"/>
                          </a:solidFill>
                          <a:effectLst/>
                          <a:latin typeface="微软雅黑" panose="020B0503020204020204" pitchFamily="34" charset="-122"/>
                          <a:ea typeface="微软雅黑" panose="020B0503020204020204" pitchFamily="34" charset="-122"/>
                          <a:cs typeface="+mn-cs"/>
                        </a:rPr>
                        <a:t>A*</a:t>
                      </a: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的粗轨迹搜索算法设计</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a:solidFill>
                            <a:schemeClr val="dk1"/>
                          </a:solidFill>
                          <a:effectLst/>
                          <a:latin typeface="微软雅黑" panose="020B0503020204020204" pitchFamily="34" charset="-122"/>
                          <a:ea typeface="微软雅黑" panose="020B0503020204020204" pitchFamily="34" charset="-122"/>
                          <a:cs typeface="+mn-cs"/>
                        </a:rPr>
                        <a:t>2024.11</a:t>
                      </a:r>
                      <a:r>
                        <a:rPr lang="zh-CN" altLang="en-US" sz="1600" kern="100">
                          <a:solidFill>
                            <a:schemeClr val="dk1"/>
                          </a:solidFill>
                          <a:effectLst/>
                          <a:latin typeface="微软雅黑" panose="020B0503020204020204" pitchFamily="34" charset="-122"/>
                          <a:ea typeface="微软雅黑" panose="020B0503020204020204" pitchFamily="34" charset="-122"/>
                          <a:cs typeface="+mn-cs"/>
                        </a:rPr>
                        <a:t>～</a:t>
                      </a:r>
                      <a:r>
                        <a:rPr lang="en-US" sz="1600" kern="100">
                          <a:solidFill>
                            <a:schemeClr val="dk1"/>
                          </a:solidFill>
                          <a:effectLst/>
                          <a:latin typeface="微软雅黑" panose="020B0503020204020204" pitchFamily="34" charset="-122"/>
                          <a:ea typeface="微软雅黑" panose="020B0503020204020204" pitchFamily="34" charset="-122"/>
                          <a:cs typeface="+mn-cs"/>
                        </a:rPr>
                        <a:t>2025.01</a:t>
                      </a:r>
                      <a:endParaRPr lang="zh-CN" altLang="en-US" sz="1600" kern="10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未完成</a:t>
                      </a:r>
                    </a:p>
                  </a:txBody>
                  <a:tcPr marL="65282" marR="65282" marT="0" marB="0" anchor="ctr"/>
                </a:tc>
                <a:extLst>
                  <a:ext uri="{0D108BD9-81ED-4DB2-BD59-A6C34878D82A}">
                    <a16:rowId xmlns:a16="http://schemas.microsoft.com/office/drawing/2014/main" val="10003"/>
                  </a:ext>
                </a:extLst>
              </a:tr>
              <a:tr h="233136">
                <a:tc>
                  <a:txBody>
                    <a:bodyPr/>
                    <a:lstStyle/>
                    <a:p>
                      <a:pPr algn="ctr">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4</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基于搜索粗轨迹的安全走廊区域生成、基于模型预测控制的紧急避障轨迹生成</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dirty="0">
                          <a:solidFill>
                            <a:schemeClr val="dk1"/>
                          </a:solidFill>
                          <a:effectLst/>
                          <a:latin typeface="微软雅黑" panose="020B0503020204020204" pitchFamily="34" charset="-122"/>
                          <a:ea typeface="微软雅黑" panose="020B0503020204020204" pitchFamily="34" charset="-122"/>
                          <a:cs typeface="+mn-cs"/>
                        </a:rPr>
                        <a:t>2025.01</a:t>
                      </a: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a:t>
                      </a:r>
                      <a:r>
                        <a:rPr lang="en-US" sz="1600" kern="100" dirty="0">
                          <a:solidFill>
                            <a:schemeClr val="dk1"/>
                          </a:solidFill>
                          <a:effectLst/>
                          <a:latin typeface="微软雅黑" panose="020B0503020204020204" pitchFamily="34" charset="-122"/>
                          <a:ea typeface="微软雅黑" panose="020B0503020204020204" pitchFamily="34" charset="-122"/>
                          <a:cs typeface="+mn-cs"/>
                        </a:rPr>
                        <a:t>2025.05</a:t>
                      </a:r>
                      <a:endParaRPr lang="zh-CN" altLang="en-US"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未完成</a:t>
                      </a:r>
                    </a:p>
                  </a:txBody>
                  <a:tcPr marL="65282" marR="65282" marT="0" marB="0" anchor="ctr"/>
                </a:tc>
                <a:extLst>
                  <a:ext uri="{0D108BD9-81ED-4DB2-BD59-A6C34878D82A}">
                    <a16:rowId xmlns:a16="http://schemas.microsoft.com/office/drawing/2014/main" val="10004"/>
                  </a:ext>
                </a:extLst>
              </a:tr>
              <a:tr h="399265">
                <a:tc>
                  <a:txBody>
                    <a:bodyPr/>
                    <a:lstStyle/>
                    <a:p>
                      <a:pPr algn="ctr">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6</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基于可变步长离散线性时变的运动跟踪层设计、基于二次规划算法的控制分配层设计</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dirty="0">
                          <a:solidFill>
                            <a:schemeClr val="dk1"/>
                          </a:solidFill>
                          <a:effectLst/>
                          <a:latin typeface="微软雅黑" panose="020B0503020204020204" pitchFamily="34" charset="-122"/>
                          <a:ea typeface="微软雅黑" panose="020B0503020204020204" pitchFamily="34" charset="-122"/>
                          <a:cs typeface="+mn-cs"/>
                        </a:rPr>
                        <a:t>2025.05</a:t>
                      </a: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a:t>
                      </a:r>
                      <a:r>
                        <a:rPr lang="en-US" sz="1600" kern="100" dirty="0">
                          <a:solidFill>
                            <a:schemeClr val="dk1"/>
                          </a:solidFill>
                          <a:effectLst/>
                          <a:latin typeface="微软雅黑" panose="020B0503020204020204" pitchFamily="34" charset="-122"/>
                          <a:ea typeface="微软雅黑" panose="020B0503020204020204" pitchFamily="34" charset="-122"/>
                          <a:cs typeface="+mn-cs"/>
                        </a:rPr>
                        <a:t>2025.09</a:t>
                      </a:r>
                      <a:endParaRPr lang="zh-CN" altLang="en-US"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未完成</a:t>
                      </a:r>
                    </a:p>
                  </a:txBody>
                  <a:tcPr marL="65282" marR="65282" marT="0" marB="0" anchor="ctr"/>
                </a:tc>
                <a:extLst>
                  <a:ext uri="{0D108BD9-81ED-4DB2-BD59-A6C34878D82A}">
                    <a16:rowId xmlns:a16="http://schemas.microsoft.com/office/drawing/2014/main" val="10006"/>
                  </a:ext>
                </a:extLst>
              </a:tr>
              <a:tr h="399265">
                <a:tc>
                  <a:txBody>
                    <a:bodyPr/>
                    <a:lstStyle/>
                    <a:p>
                      <a:pPr algn="ctr">
                        <a:lnSpc>
                          <a:spcPct val="150000"/>
                        </a:lnSpc>
                        <a:spcAft>
                          <a:spcPts val="0"/>
                        </a:spcAft>
                      </a:pPr>
                      <a:r>
                        <a:rPr lang="en-US" sz="1600" kern="100" dirty="0">
                          <a:effectLst/>
                          <a:latin typeface="微软雅黑" panose="020B0503020204020204" pitchFamily="34" charset="-122"/>
                          <a:ea typeface="微软雅黑" panose="020B0503020204020204" pitchFamily="34" charset="-122"/>
                        </a:rPr>
                        <a:t>8</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基于</a:t>
                      </a:r>
                      <a:r>
                        <a:rPr lang="en-US" sz="1600" kern="100" dirty="0" err="1">
                          <a:solidFill>
                            <a:schemeClr val="dk1"/>
                          </a:solidFill>
                          <a:effectLst/>
                          <a:latin typeface="微软雅黑" panose="020B0503020204020204" pitchFamily="34" charset="-122"/>
                          <a:ea typeface="微软雅黑" panose="020B0503020204020204" pitchFamily="34" charset="-122"/>
                          <a:cs typeface="+mn-cs"/>
                        </a:rPr>
                        <a:t>CarSim</a:t>
                      </a: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和</a:t>
                      </a:r>
                      <a:r>
                        <a:rPr lang="en-US" sz="1600" kern="100" dirty="0">
                          <a:solidFill>
                            <a:schemeClr val="dk1"/>
                          </a:solidFill>
                          <a:effectLst/>
                          <a:latin typeface="微软雅黑" panose="020B0503020204020204" pitchFamily="34" charset="-122"/>
                          <a:ea typeface="微软雅黑" panose="020B0503020204020204" pitchFamily="34" charset="-122"/>
                          <a:cs typeface="+mn-cs"/>
                        </a:rPr>
                        <a:t>MATLAB/Simulink</a:t>
                      </a: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的联合仿真验证</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dirty="0">
                          <a:solidFill>
                            <a:schemeClr val="dk1"/>
                          </a:solidFill>
                          <a:effectLst/>
                          <a:latin typeface="微软雅黑" panose="020B0503020204020204" pitchFamily="34" charset="-122"/>
                          <a:ea typeface="微软雅黑" panose="020B0503020204020204" pitchFamily="34" charset="-122"/>
                          <a:cs typeface="+mn-cs"/>
                        </a:rPr>
                        <a:t>2025.09~2025.10</a:t>
                      </a:r>
                      <a:endParaRPr lang="zh-CN" altLang="en-US"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未完成</a:t>
                      </a:r>
                    </a:p>
                  </a:txBody>
                  <a:tcPr marL="65282" marR="65282" marT="0" marB="0" anchor="ctr"/>
                </a:tc>
                <a:extLst>
                  <a:ext uri="{0D108BD9-81ED-4DB2-BD59-A6C34878D82A}">
                    <a16:rowId xmlns:a16="http://schemas.microsoft.com/office/drawing/2014/main" val="10008"/>
                  </a:ext>
                </a:extLst>
              </a:tr>
              <a:tr h="399265">
                <a:tc>
                  <a:txBody>
                    <a:bodyPr/>
                    <a:lstStyle/>
                    <a:p>
                      <a:pPr algn="ctr">
                        <a:lnSpc>
                          <a:spcPct val="150000"/>
                        </a:lnSpc>
                        <a:spcAft>
                          <a:spcPts val="0"/>
                        </a:spcAft>
                      </a:pPr>
                      <a:r>
                        <a:rPr lang="en-US"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9</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驾驶模拟器和实车试验验证</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dirty="0">
                          <a:solidFill>
                            <a:schemeClr val="dk1"/>
                          </a:solidFill>
                          <a:effectLst/>
                          <a:latin typeface="微软雅黑" panose="020B0503020204020204" pitchFamily="34" charset="-122"/>
                          <a:ea typeface="微软雅黑" panose="020B0503020204020204" pitchFamily="34" charset="-122"/>
                          <a:cs typeface="+mn-cs"/>
                        </a:rPr>
                        <a:t>2025.10~2025.11</a:t>
                      </a:r>
                      <a:endParaRPr lang="zh-CN" altLang="en-US"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zh-CN" sz="1600" kern="100" dirty="0">
                          <a:solidFill>
                            <a:schemeClr val="dk1"/>
                          </a:solidFill>
                          <a:effectLst/>
                          <a:latin typeface="微软雅黑" panose="020B0503020204020204" pitchFamily="34" charset="-122"/>
                          <a:ea typeface="微软雅黑" panose="020B0503020204020204" pitchFamily="34" charset="-122"/>
                          <a:cs typeface="+mn-cs"/>
                        </a:rPr>
                        <a:t>未完成</a:t>
                      </a:r>
                    </a:p>
                  </a:txBody>
                  <a:tcPr marL="65282" marR="65282" marT="0" marB="0" anchor="ctr"/>
                </a:tc>
                <a:extLst>
                  <a:ext uri="{0D108BD9-81ED-4DB2-BD59-A6C34878D82A}">
                    <a16:rowId xmlns:a16="http://schemas.microsoft.com/office/drawing/2014/main" val="2930500252"/>
                  </a:ext>
                </a:extLst>
              </a:tr>
              <a:tr h="399265">
                <a:tc>
                  <a:txBody>
                    <a:bodyPr/>
                    <a:lstStyle/>
                    <a:p>
                      <a:pPr algn="ctr">
                        <a:lnSpc>
                          <a:spcPct val="150000"/>
                        </a:lnSpc>
                        <a:spcAft>
                          <a:spcPts val="0"/>
                        </a:spcAft>
                      </a:pPr>
                      <a:r>
                        <a:rPr lang="en-US"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10</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282" marR="65282"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kern="100" dirty="0">
                          <a:solidFill>
                            <a:schemeClr val="dk1"/>
                          </a:solidFill>
                          <a:effectLst/>
                          <a:latin typeface="微软雅黑" panose="020B0503020204020204" pitchFamily="34" charset="-122"/>
                          <a:ea typeface="微软雅黑" panose="020B0503020204020204" pitchFamily="34" charset="-122"/>
                          <a:cs typeface="+mn-cs"/>
                        </a:rPr>
                        <a:t>撰写毕业论文</a:t>
                      </a: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kern="100" dirty="0">
                          <a:solidFill>
                            <a:schemeClr val="dk1"/>
                          </a:solidFill>
                          <a:effectLst/>
                          <a:latin typeface="微软雅黑" panose="020B0503020204020204" pitchFamily="34" charset="-122"/>
                          <a:ea typeface="微软雅黑" panose="020B0503020204020204" pitchFamily="34" charset="-122"/>
                          <a:cs typeface="+mn-cs"/>
                        </a:rPr>
                        <a:t>2025.12~2026.04</a:t>
                      </a:r>
                      <a:endParaRPr lang="zh-CN" altLang="en-US" sz="1600" kern="100" dirty="0">
                        <a:solidFill>
                          <a:schemeClr val="dk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zh-CN" sz="1600" kern="100" dirty="0">
                          <a:solidFill>
                            <a:schemeClr val="dk1"/>
                          </a:solidFill>
                          <a:effectLst/>
                          <a:latin typeface="微软雅黑" panose="020B0503020204020204" pitchFamily="34" charset="-122"/>
                          <a:ea typeface="微软雅黑" panose="020B0503020204020204" pitchFamily="34" charset="-122"/>
                          <a:cs typeface="+mn-cs"/>
                        </a:rPr>
                        <a:t>未完成</a:t>
                      </a:r>
                    </a:p>
                  </a:txBody>
                  <a:tcPr marL="65282" marR="65282" marT="0" marB="0" anchor="ctr"/>
                </a:tc>
                <a:extLst>
                  <a:ext uri="{0D108BD9-81ED-4DB2-BD59-A6C34878D82A}">
                    <a16:rowId xmlns:a16="http://schemas.microsoft.com/office/drawing/2014/main" val="1184560793"/>
                  </a:ext>
                </a:extLst>
              </a:tr>
            </a:tbl>
          </a:graphicData>
        </a:graphic>
      </p:graphicFrame>
    </p:spTree>
    <p:extLst>
      <p:ext uri="{BB962C8B-B14F-4D97-AF65-F5344CB8AC3E}">
        <p14:creationId xmlns:p14="http://schemas.microsoft.com/office/powerpoint/2010/main" val="117285037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2453006"/>
            <a:ext cx="12191999" cy="2376805"/>
          </a:xfrm>
          <a:prstGeom prst="rect">
            <a:avLst/>
          </a:prstGeom>
          <a:gradFill>
            <a:gsLst>
              <a:gs pos="0">
                <a:srgbClr val="012D86"/>
              </a:gs>
              <a:gs pos="100000">
                <a:srgbClr val="0E2557"/>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tLang="zh-CN" sz="6600" b="1" spc="300" dirty="0">
              <a:latin typeface="微软雅黑" panose="020B0503020204020204" pitchFamily="34" charset="-122"/>
              <a:ea typeface="微软雅黑" panose="020B0503020204020204" pitchFamily="34" charset="-122"/>
            </a:endParaRPr>
          </a:p>
        </p:txBody>
      </p:sp>
      <p:grpSp>
        <p:nvGrpSpPr>
          <p:cNvPr id="7" name="Group 4"/>
          <p:cNvGrpSpPr>
            <a:grpSpLocks noChangeAspect="1"/>
          </p:cNvGrpSpPr>
          <p:nvPr/>
        </p:nvGrpSpPr>
        <p:grpSpPr bwMode="auto">
          <a:xfrm>
            <a:off x="5125332" y="386646"/>
            <a:ext cx="1847850" cy="1720986"/>
            <a:chOff x="1164" y="687"/>
            <a:chExt cx="3219" cy="2998"/>
          </a:xfrm>
          <a:gradFill>
            <a:gsLst>
              <a:gs pos="0">
                <a:srgbClr val="012D86"/>
              </a:gs>
              <a:gs pos="100000">
                <a:srgbClr val="0E2557"/>
              </a:gs>
            </a:gsLst>
            <a:lin scaled="0"/>
          </a:gradFill>
        </p:grpSpPr>
        <p:sp>
          <p:nvSpPr>
            <p:cNvPr id="10" name="Freeform 6"/>
            <p:cNvSpPr/>
            <p:nvPr/>
          </p:nvSpPr>
          <p:spPr bwMode="auto">
            <a:xfrm>
              <a:off x="1164" y="687"/>
              <a:ext cx="3219" cy="2998"/>
            </a:xfrm>
            <a:custGeom>
              <a:avLst/>
              <a:gdLst>
                <a:gd name="T0" fmla="*/ 96 w 1360"/>
                <a:gd name="T1" fmla="*/ 404 h 1266"/>
                <a:gd name="T2" fmla="*/ 96 w 1360"/>
                <a:gd name="T3" fmla="*/ 527 h 1266"/>
                <a:gd name="T4" fmla="*/ 105 w 1360"/>
                <a:gd name="T5" fmla="*/ 537 h 1266"/>
                <a:gd name="T6" fmla="*/ 123 w 1360"/>
                <a:gd name="T7" fmla="*/ 616 h 1266"/>
                <a:gd name="T8" fmla="*/ 119 w 1360"/>
                <a:gd name="T9" fmla="*/ 629 h 1266"/>
                <a:gd name="T10" fmla="*/ 147 w 1360"/>
                <a:gd name="T11" fmla="*/ 940 h 1266"/>
                <a:gd name="T12" fmla="*/ 169 w 1360"/>
                <a:gd name="T13" fmla="*/ 1194 h 1266"/>
                <a:gd name="T14" fmla="*/ 175 w 1360"/>
                <a:gd name="T15" fmla="*/ 1266 h 1266"/>
                <a:gd name="T16" fmla="*/ 0 w 1360"/>
                <a:gd name="T17" fmla="*/ 1266 h 1266"/>
                <a:gd name="T18" fmla="*/ 6 w 1360"/>
                <a:gd name="T19" fmla="*/ 1197 h 1266"/>
                <a:gd name="T20" fmla="*/ 38 w 1360"/>
                <a:gd name="T21" fmla="*/ 811 h 1266"/>
                <a:gd name="T22" fmla="*/ 54 w 1360"/>
                <a:gd name="T23" fmla="*/ 629 h 1266"/>
                <a:gd name="T24" fmla="*/ 50 w 1360"/>
                <a:gd name="T25" fmla="*/ 613 h 1266"/>
                <a:gd name="T26" fmla="*/ 71 w 1360"/>
                <a:gd name="T27" fmla="*/ 537 h 1266"/>
                <a:gd name="T28" fmla="*/ 79 w 1360"/>
                <a:gd name="T29" fmla="*/ 525 h 1266"/>
                <a:gd name="T30" fmla="*/ 79 w 1360"/>
                <a:gd name="T31" fmla="*/ 407 h 1266"/>
                <a:gd name="T32" fmla="*/ 70 w 1360"/>
                <a:gd name="T33" fmla="*/ 392 h 1266"/>
                <a:gd name="T34" fmla="*/ 31 w 1360"/>
                <a:gd name="T35" fmla="*/ 374 h 1266"/>
                <a:gd name="T36" fmla="*/ 44 w 1360"/>
                <a:gd name="T37" fmla="*/ 366 h 1266"/>
                <a:gd name="T38" fmla="*/ 624 w 1360"/>
                <a:gd name="T39" fmla="*/ 44 h 1266"/>
                <a:gd name="T40" fmla="*/ 692 w 1360"/>
                <a:gd name="T41" fmla="*/ 5 h 1266"/>
                <a:gd name="T42" fmla="*/ 718 w 1360"/>
                <a:gd name="T43" fmla="*/ 5 h 1266"/>
                <a:gd name="T44" fmla="*/ 1255 w 1360"/>
                <a:gd name="T45" fmla="*/ 275 h 1266"/>
                <a:gd name="T46" fmla="*/ 1360 w 1360"/>
                <a:gd name="T47" fmla="*/ 328 h 1266"/>
                <a:gd name="T48" fmla="*/ 1302 w 1360"/>
                <a:gd name="T49" fmla="*/ 360 h 1266"/>
                <a:gd name="T50" fmla="*/ 723 w 1360"/>
                <a:gd name="T51" fmla="*/ 666 h 1266"/>
                <a:gd name="T52" fmla="*/ 688 w 1360"/>
                <a:gd name="T53" fmla="*/ 668 h 1266"/>
                <a:gd name="T54" fmla="*/ 112 w 1360"/>
                <a:gd name="T55" fmla="*/ 411 h 1266"/>
                <a:gd name="T56" fmla="*/ 96 w 1360"/>
                <a:gd name="T57" fmla="*/ 404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60" h="1266">
                  <a:moveTo>
                    <a:pt x="96" y="404"/>
                  </a:moveTo>
                  <a:cubicBezTo>
                    <a:pt x="96" y="447"/>
                    <a:pt x="96" y="487"/>
                    <a:pt x="96" y="527"/>
                  </a:cubicBezTo>
                  <a:cubicBezTo>
                    <a:pt x="96" y="531"/>
                    <a:pt x="101" y="535"/>
                    <a:pt x="105" y="537"/>
                  </a:cubicBezTo>
                  <a:cubicBezTo>
                    <a:pt x="136" y="555"/>
                    <a:pt x="144" y="585"/>
                    <a:pt x="123" y="616"/>
                  </a:cubicBezTo>
                  <a:cubicBezTo>
                    <a:pt x="121" y="620"/>
                    <a:pt x="119" y="625"/>
                    <a:pt x="119" y="629"/>
                  </a:cubicBezTo>
                  <a:cubicBezTo>
                    <a:pt x="128" y="733"/>
                    <a:pt x="138" y="836"/>
                    <a:pt x="147" y="940"/>
                  </a:cubicBezTo>
                  <a:cubicBezTo>
                    <a:pt x="154" y="1024"/>
                    <a:pt x="162" y="1109"/>
                    <a:pt x="169" y="1194"/>
                  </a:cubicBezTo>
                  <a:cubicBezTo>
                    <a:pt x="171" y="1217"/>
                    <a:pt x="173" y="1239"/>
                    <a:pt x="175" y="1266"/>
                  </a:cubicBezTo>
                  <a:cubicBezTo>
                    <a:pt x="117" y="1266"/>
                    <a:pt x="60" y="1266"/>
                    <a:pt x="0" y="1266"/>
                  </a:cubicBezTo>
                  <a:cubicBezTo>
                    <a:pt x="2" y="1244"/>
                    <a:pt x="4" y="1220"/>
                    <a:pt x="6" y="1197"/>
                  </a:cubicBezTo>
                  <a:cubicBezTo>
                    <a:pt x="16" y="1068"/>
                    <a:pt x="27" y="940"/>
                    <a:pt x="38" y="811"/>
                  </a:cubicBezTo>
                  <a:cubicBezTo>
                    <a:pt x="43" y="750"/>
                    <a:pt x="49" y="690"/>
                    <a:pt x="54" y="629"/>
                  </a:cubicBezTo>
                  <a:cubicBezTo>
                    <a:pt x="54" y="624"/>
                    <a:pt x="52" y="617"/>
                    <a:pt x="50" y="613"/>
                  </a:cubicBezTo>
                  <a:cubicBezTo>
                    <a:pt x="32" y="583"/>
                    <a:pt x="40" y="553"/>
                    <a:pt x="71" y="537"/>
                  </a:cubicBezTo>
                  <a:cubicBezTo>
                    <a:pt x="75" y="535"/>
                    <a:pt x="79" y="529"/>
                    <a:pt x="79" y="525"/>
                  </a:cubicBezTo>
                  <a:cubicBezTo>
                    <a:pt x="79" y="486"/>
                    <a:pt x="80" y="446"/>
                    <a:pt x="79" y="407"/>
                  </a:cubicBezTo>
                  <a:cubicBezTo>
                    <a:pt x="79" y="402"/>
                    <a:pt x="74" y="395"/>
                    <a:pt x="70" y="392"/>
                  </a:cubicBezTo>
                  <a:cubicBezTo>
                    <a:pt x="58" y="386"/>
                    <a:pt x="45" y="381"/>
                    <a:pt x="31" y="374"/>
                  </a:cubicBezTo>
                  <a:cubicBezTo>
                    <a:pt x="36" y="371"/>
                    <a:pt x="40" y="368"/>
                    <a:pt x="44" y="366"/>
                  </a:cubicBezTo>
                  <a:cubicBezTo>
                    <a:pt x="237" y="259"/>
                    <a:pt x="431" y="151"/>
                    <a:pt x="624" y="44"/>
                  </a:cubicBezTo>
                  <a:cubicBezTo>
                    <a:pt x="647" y="31"/>
                    <a:pt x="670" y="19"/>
                    <a:pt x="692" y="5"/>
                  </a:cubicBezTo>
                  <a:cubicBezTo>
                    <a:pt x="702" y="0"/>
                    <a:pt x="709" y="1"/>
                    <a:pt x="718" y="5"/>
                  </a:cubicBezTo>
                  <a:cubicBezTo>
                    <a:pt x="897" y="96"/>
                    <a:pt x="1076" y="185"/>
                    <a:pt x="1255" y="275"/>
                  </a:cubicBezTo>
                  <a:cubicBezTo>
                    <a:pt x="1289" y="293"/>
                    <a:pt x="1324" y="310"/>
                    <a:pt x="1360" y="328"/>
                  </a:cubicBezTo>
                  <a:cubicBezTo>
                    <a:pt x="1339" y="340"/>
                    <a:pt x="1320" y="350"/>
                    <a:pt x="1302" y="360"/>
                  </a:cubicBezTo>
                  <a:cubicBezTo>
                    <a:pt x="1109" y="462"/>
                    <a:pt x="916" y="564"/>
                    <a:pt x="723" y="666"/>
                  </a:cubicBezTo>
                  <a:cubicBezTo>
                    <a:pt x="711" y="672"/>
                    <a:pt x="701" y="674"/>
                    <a:pt x="688" y="668"/>
                  </a:cubicBezTo>
                  <a:cubicBezTo>
                    <a:pt x="496" y="582"/>
                    <a:pt x="304" y="496"/>
                    <a:pt x="112" y="411"/>
                  </a:cubicBezTo>
                  <a:cubicBezTo>
                    <a:pt x="108" y="409"/>
                    <a:pt x="103" y="407"/>
                    <a:pt x="96" y="4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sp>
          <p:nvSpPr>
            <p:cNvPr id="11" name="Freeform 7"/>
            <p:cNvSpPr/>
            <p:nvPr/>
          </p:nvSpPr>
          <p:spPr bwMode="auto">
            <a:xfrm>
              <a:off x="1829" y="1959"/>
              <a:ext cx="2000" cy="947"/>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HK" altLang="en-US"/>
            </a:p>
          </p:txBody>
        </p:sp>
      </p:grpSp>
      <p:sp>
        <p:nvSpPr>
          <p:cNvPr id="5" name="文本框 4">
            <a:extLst>
              <a:ext uri="{FF2B5EF4-FFF2-40B4-BE49-F238E27FC236}">
                <a16:creationId xmlns:a16="http://schemas.microsoft.com/office/drawing/2014/main" id="{FD691DC4-6BB6-7E9E-466F-AE239F230EC1}"/>
              </a:ext>
            </a:extLst>
          </p:cNvPr>
          <p:cNvSpPr txBox="1"/>
          <p:nvPr/>
        </p:nvSpPr>
        <p:spPr>
          <a:xfrm>
            <a:off x="2576944" y="2948910"/>
            <a:ext cx="9615055" cy="1384995"/>
          </a:xfrm>
          <a:prstGeom prst="rect">
            <a:avLst/>
          </a:prstGeom>
          <a:noFill/>
        </p:spPr>
        <p:txBody>
          <a:bodyPr wrap="square" rtlCol="0">
            <a:spAutoFit/>
          </a:bodyPr>
          <a:lstStyle/>
          <a:p>
            <a:r>
              <a:rPr lang="zh-CN" altLang="en-US" sz="6600" b="1" spc="300" dirty="0">
                <a:solidFill>
                  <a:schemeClr val="lt1"/>
                </a:solidFill>
                <a:latin typeface="微软雅黑" panose="020B0503020204020204" pitchFamily="34" charset="-122"/>
                <a:ea typeface="微软雅黑" panose="020B0503020204020204" pitchFamily="34" charset="-122"/>
              </a:rPr>
              <a:t>感谢各位老师指导</a:t>
            </a:r>
            <a:endParaRPr lang="en-US" altLang="zh-CN" sz="6600" b="1" spc="300" dirty="0">
              <a:solidFill>
                <a:schemeClr val="lt1"/>
              </a:solidFill>
              <a:latin typeface="微软雅黑" panose="020B0503020204020204" pitchFamily="34" charset="-122"/>
              <a:ea typeface="微软雅黑" panose="020B0503020204020204" pitchFamily="34" charset="-122"/>
            </a:endParaRPr>
          </a:p>
          <a:p>
            <a:endParaRPr lang="zh-CN" altLang="en-US" dirty="0"/>
          </a:p>
        </p:txBody>
      </p:sp>
      <p:sp>
        <p:nvSpPr>
          <p:cNvPr id="3" name="矩形 2">
            <a:extLst>
              <a:ext uri="{FF2B5EF4-FFF2-40B4-BE49-F238E27FC236}">
                <a16:creationId xmlns:a16="http://schemas.microsoft.com/office/drawing/2014/main" id="{578DBF44-EB12-3803-FD5A-1715DCE45F6F}"/>
              </a:ext>
            </a:extLst>
          </p:cNvPr>
          <p:cNvSpPr/>
          <p:nvPr/>
        </p:nvSpPr>
        <p:spPr>
          <a:xfrm>
            <a:off x="6619759" y="5187046"/>
            <a:ext cx="3312000"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学号：</a:t>
            </a:r>
            <a:r>
              <a:rPr lang="en-US" altLang="zh-CN" sz="2000" b="1" dirty="0">
                <a:solidFill>
                  <a:schemeClr val="bg1"/>
                </a:solidFill>
                <a:latin typeface="微软雅黑" panose="020B0503020204020204" pitchFamily="34" charset="-122"/>
                <a:ea typeface="微软雅黑" panose="020B0503020204020204" pitchFamily="34" charset="-122"/>
              </a:rPr>
              <a:t>2023424062</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A9B670CB-44FA-49B5-A208-99C4219C5369}"/>
              </a:ext>
            </a:extLst>
          </p:cNvPr>
          <p:cNvSpPr/>
          <p:nvPr/>
        </p:nvSpPr>
        <p:spPr>
          <a:xfrm>
            <a:off x="1989736" y="5170292"/>
            <a:ext cx="3313786"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汇报人：张毅</a:t>
            </a:r>
          </a:p>
        </p:txBody>
      </p:sp>
      <p:sp>
        <p:nvSpPr>
          <p:cNvPr id="9" name="矩形 8">
            <a:extLst>
              <a:ext uri="{FF2B5EF4-FFF2-40B4-BE49-F238E27FC236}">
                <a16:creationId xmlns:a16="http://schemas.microsoft.com/office/drawing/2014/main" id="{D06C2585-5611-2933-E992-431B0E77F284}"/>
              </a:ext>
            </a:extLst>
          </p:cNvPr>
          <p:cNvSpPr/>
          <p:nvPr/>
        </p:nvSpPr>
        <p:spPr>
          <a:xfrm>
            <a:off x="6619760" y="6000422"/>
            <a:ext cx="3312000"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E0C9D230-84E1-4F2B-990A-9E9CD7B7D2F6}" type="datetime2">
              <a:rPr lang="zh-CN" altLang="en-US" sz="2000" b="1">
                <a:solidFill>
                  <a:schemeClr val="bg1"/>
                </a:solidFill>
                <a:latin typeface="微软雅黑" panose="020B0503020204020204" pitchFamily="34" charset="-122"/>
                <a:ea typeface="微软雅黑" panose="020B0503020204020204" pitchFamily="34" charset="-122"/>
              </a:rPr>
              <a:t>2025年5月31日</a:t>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8567A025-1B5E-2FDC-A669-D3902AE192B7}"/>
              </a:ext>
            </a:extLst>
          </p:cNvPr>
          <p:cNvSpPr/>
          <p:nvPr/>
        </p:nvSpPr>
        <p:spPr>
          <a:xfrm>
            <a:off x="1989736" y="6000422"/>
            <a:ext cx="3313786" cy="400050"/>
          </a:xfrm>
          <a:prstGeom prst="rect">
            <a:avLst/>
          </a:prstGeom>
          <a:solidFill>
            <a:srgbClr val="92D14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导师：宗长富 教授</a:t>
            </a:r>
          </a:p>
        </p:txBody>
      </p:sp>
    </p:spTree>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JiZTFiZGRmMWZkMjg4MDVhZmFkMWY1OTU2YWUyZjY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6336da60-f06b-4155-9f7f-70822a286663}"/>
  <p:tag name="TABLE_ENDDRAG_ORIGIN_RECT" val="663*284"/>
  <p:tag name="TABLE_ENDDRAG_RECT" val="10*58*663*284"/>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1001</TotalTime>
  <Words>2499</Words>
  <Application>Microsoft Office PowerPoint</Application>
  <PresentationFormat>宽屏</PresentationFormat>
  <Paragraphs>206</Paragraphs>
  <Slides>23</Slides>
  <Notes>14</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23</vt:i4>
      </vt:variant>
    </vt:vector>
  </HeadingPairs>
  <TitlesOfParts>
    <vt:vector size="34" baseType="lpstr">
      <vt:lpstr>微软雅黑</vt:lpstr>
      <vt:lpstr>Calibri Light</vt:lpstr>
      <vt:lpstr>Arial</vt:lpstr>
      <vt:lpstr>Times New Roman</vt:lpstr>
      <vt:lpstr>Calibri</vt:lpstr>
      <vt:lpstr>楷体</vt:lpstr>
      <vt:lpstr>字魂105号-简雅黑</vt:lpstr>
      <vt:lpstr>Wingdings</vt:lpstr>
      <vt:lpstr>Office 主题​​</vt:lpstr>
      <vt:lpstr>1_Office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zhangyi</dc:creator>
  <cp:lastModifiedBy>张毅</cp:lastModifiedBy>
  <cp:revision>173</cp:revision>
  <dcterms:created xsi:type="dcterms:W3CDTF">2021-05-07T15:41:00Z</dcterms:created>
  <dcterms:modified xsi:type="dcterms:W3CDTF">2025-05-31T08:55:20Z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2052-12.1.0.16910</vt:lpwstr>
  </property>
  <property fmtid="{D5CDD505-2E9C-101B-9397-08002B2CF9AE}" pid="3" name="ICV">
    <vt:lpwstr>DDEF25C0FA02431A82108160349A6248</vt:lpwstr>
  </property>
</Properties>
</file>